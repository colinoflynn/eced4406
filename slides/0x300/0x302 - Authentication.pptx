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8" r:id="rId3"/>
    <p:sldId id="299" r:id="rId4"/>
    <p:sldId id="296" r:id="rId5"/>
    <p:sldId id="297" r:id="rId6"/>
    <p:sldId id="300" r:id="rId7"/>
    <p:sldId id="303" r:id="rId8"/>
    <p:sldId id="301" r:id="rId9"/>
    <p:sldId id="304" r:id="rId10"/>
    <p:sldId id="302" r:id="rId11"/>
    <p:sldId id="305" r:id="rId12"/>
    <p:sldId id="306" r:id="rId13"/>
    <p:sldId id="307" r:id="rId14"/>
    <p:sldId id="309" r:id="rId15"/>
    <p:sldId id="308" r:id="rId16"/>
    <p:sldId id="275" r:id="rId17"/>
    <p:sldId id="282" r:id="rId18"/>
    <p:sldId id="281" r:id="rId19"/>
    <p:sldId id="276" r:id="rId20"/>
    <p:sldId id="277" r:id="rId21"/>
    <p:sldId id="285" r:id="rId22"/>
    <p:sldId id="287" r:id="rId23"/>
    <p:sldId id="286" r:id="rId24"/>
    <p:sldId id="289" r:id="rId25"/>
    <p:sldId id="290" r:id="rId26"/>
    <p:sldId id="291" r:id="rId27"/>
    <p:sldId id="288" r:id="rId28"/>
    <p:sldId id="292" r:id="rId29"/>
    <p:sldId id="293" r:id="rId30"/>
    <p:sldId id="294" r:id="rId31"/>
    <p:sldId id="295" r:id="rId32"/>
    <p:sldId id="279" r:id="rId33"/>
    <p:sldId id="28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82" y="1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220A-DA9B-4BBC-9C75-C66D46F53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D5431-D5FF-44BE-B0B0-08FB98FE7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05585-26EB-401F-A580-C4F7CFA4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0C38E-E9B1-4C96-BCC8-D99371EE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FE22-3A5F-4449-8898-C66D8358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485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5B47-2EC6-48BC-8DD6-BE05C4B2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6669D-0B7F-4A86-AD0D-C7F8D519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4E3D-C639-4A52-BBD4-457536FB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56922-F240-4EF3-905E-B9DFB257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5727-CADB-4DD6-9046-F1100897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28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3CCD-9691-4A96-A2D6-D1F53F47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3C4D3-7251-48A1-AEDE-AEBC7EF1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3DB80-1867-4ABC-85FB-CF546D13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0258E-3BB7-41C5-B0BC-F8716E7B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ADF5B-5B74-46CE-A56F-B633CC5A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26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1F6C-47D6-4523-87B1-1626B966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1AB54-B5F7-4311-8217-7E3769EF6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E7B8C-B146-4CDF-B078-67A0EE6B5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80579-953F-4F41-9BCB-8913DA94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92BE6-7135-4CB5-89D6-9D9981B1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242C2-51E3-4A35-BCB5-C5A81A8C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180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D11A-42A7-412D-87FB-8315E9A5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968DD-1E3F-4BDF-BCA1-21F3F3974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78E27-D17C-4926-901B-318C040F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90821-6708-4581-975E-3C87A0BA4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D402B-EF6B-4F04-AE9E-58C2D99BA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E8121-22E9-4C44-AF20-BE1527F9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DF95B-32D7-4CA8-8D6A-2442FE5B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E430E-0801-4874-BE8C-20D10F99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7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5966-06AD-400E-803A-2830E651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EF1C0-915C-4F9F-B6F8-34FCB214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5FAA9-7427-4017-B7F1-61B7297C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16EB0-0C9E-48B1-A388-ABAF8F8E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885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D9000-27FD-4772-AF4D-93E6A138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BBA7F-CEF3-4200-9B6F-C133A8B7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EDEE6-91DB-4D62-A790-7E8D5FE2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80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A595-FB8D-48BF-85CD-0BED13D3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4A508-8447-429A-8E55-874ACAB9C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A9D00-96A5-496F-95ED-A1A592E0E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EBFD5-86B6-46A2-81D4-A588B9FB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3C5D8-6C81-46B1-A974-BD2FD2E6E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50BC5-C9A0-434E-9706-6FD8EF18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46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36A5-2E6F-451C-BD8A-BBCB3B1F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05540-3B4E-4D31-B0A6-4FC713EE4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EB517-C45B-4940-9B06-4E1F55F5D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53D7-E620-495E-8001-F6989DD3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68ACD-B2F0-476E-BD8F-8EB76C9B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C4F2B-D316-4097-AE06-FA388F80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64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4F19-5B91-4971-9D24-A632D22A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F3CFF-4A4B-43E2-BFF5-AE6529185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52F4D-E9D6-4D7B-ABCA-577B628F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7111-CDAF-464F-BD09-99452F60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CE59C-78F6-4935-AE8B-E3198D8C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429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04A56-5CB4-4BC7-BA72-37EC50C12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7CFD4-6E1D-4973-B922-472C9FB23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01650-46DF-43FB-9A3B-A5CD84F4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020A-FC80-49E5-9363-F5144731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B1F3C-7EF7-4710-84AF-B799B3DD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795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802F1-E657-4CF1-BD6A-4EFC93A2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7A822-0EBA-48C7-A780-CD8AE4CE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F5F9-0F07-4041-936C-F6A72F130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D57D4-96EB-485F-885D-A03F9F5EA4CF}" type="datetimeFigureOut">
              <a:rPr lang="en-CA" smtClean="0"/>
              <a:t>2026-02-09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60C3-4B15-4785-B413-CFEA33C50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811E-C073-4268-BAEF-6F604A18A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3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haveibeenpwned.com/Password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lTBrFC4JzItIIqCrVEvpVjlDIDsp6GU7?usp=sharing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EF55-43E3-4350-BE63-9CB115E94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0x302 – Authentication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939F-753C-45A0-BC3A-73D8DCDC6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ECED4406 – Computer Security</a:t>
            </a:r>
          </a:p>
          <a:p>
            <a:endParaRPr lang="en-US" sz="2400" b="1" dirty="0"/>
          </a:p>
          <a:p>
            <a:r>
              <a:rPr lang="en-US" sz="2400" b="1" dirty="0"/>
              <a:t>Dr. Colin O’Flynn</a:t>
            </a:r>
          </a:p>
          <a:p>
            <a:r>
              <a:rPr lang="en-US" sz="2400" b="1" dirty="0"/>
              <a:t>Dalhousie University.</a:t>
            </a:r>
            <a:endParaRPr lang="en-CA" sz="2400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611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5E98-7B56-F7D8-F75E-6199B494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are we authenticating?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70D5D-953F-8627-7407-6440BC58B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Authenticating is proving who “someone” is:</a:t>
            </a:r>
          </a:p>
          <a:p>
            <a:endParaRPr lang="en-CA" dirty="0"/>
          </a:p>
          <a:p>
            <a:r>
              <a:rPr lang="en-CA" dirty="0"/>
              <a:t>Someone can be:</a:t>
            </a:r>
          </a:p>
          <a:p>
            <a:pPr lvl="1"/>
            <a:r>
              <a:rPr lang="en-CA" dirty="0"/>
              <a:t>Human</a:t>
            </a:r>
          </a:p>
          <a:p>
            <a:pPr lvl="1"/>
            <a:r>
              <a:rPr lang="en-CA" dirty="0"/>
              <a:t>Device</a:t>
            </a:r>
          </a:p>
          <a:p>
            <a:pPr lvl="1"/>
            <a:r>
              <a:rPr lang="en-CA" dirty="0"/>
              <a:t>File</a:t>
            </a:r>
          </a:p>
          <a:p>
            <a:pPr lvl="1"/>
            <a:r>
              <a:rPr lang="en-CA" dirty="0"/>
              <a:t>Firmware / Operating System</a:t>
            </a:r>
          </a:p>
          <a:p>
            <a:pPr lvl="1"/>
            <a:r>
              <a:rPr lang="en-CA" dirty="0"/>
              <a:t>Update Data</a:t>
            </a:r>
          </a:p>
        </p:txBody>
      </p:sp>
    </p:spTree>
    <p:extLst>
      <p:ext uri="{BB962C8B-B14F-4D97-AF65-F5344CB8AC3E}">
        <p14:creationId xmlns:p14="http://schemas.microsoft.com/office/powerpoint/2010/main" val="180304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AB205-A218-8DAB-82D0-A55029CEB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44BD5-CF74-EF9A-99FB-467F55E6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are we authenticating?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99E0AB-E92C-FF2F-62E6-CACAD3946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024185"/>
              </p:ext>
            </p:extLst>
          </p:nvPr>
        </p:nvGraphicFramePr>
        <p:xfrm>
          <a:off x="1453099" y="2601093"/>
          <a:ext cx="812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33931665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601635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2400" dirty="0"/>
                        <a:t>Thing we are authenticating: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dirty="0"/>
                        <a:t>Authentication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729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400" dirty="0"/>
                        <a:t>Human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dirty="0"/>
                        <a:t>Password / Secret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35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400" dirty="0"/>
                        <a:t>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dirty="0"/>
                        <a:t>Certificate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7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400" dirty="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dirty="0"/>
                        <a:t>Signature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79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400" dirty="0"/>
                        <a:t>Firmware/OS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dirty="0"/>
                        <a:t>Secure boot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284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400" dirty="0"/>
                        <a:t>Update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dirty="0"/>
                        <a:t>Signature Package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232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997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C6B07-4AF2-5CD7-ECB1-8D6F53E00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Human Authentication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A1FAA-1A83-7100-28C5-0D9426E20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For </a:t>
            </a:r>
            <a:r>
              <a:rPr lang="en-CA" u="sng" dirty="0"/>
              <a:t>humans</a:t>
            </a:r>
            <a:r>
              <a:rPr lang="en-CA" dirty="0"/>
              <a:t> we often consider different factors:</a:t>
            </a:r>
          </a:p>
          <a:p>
            <a:pPr marL="0" indent="0">
              <a:buNone/>
            </a:pPr>
            <a:endParaRPr lang="en-CA" sz="3200" dirty="0"/>
          </a:p>
          <a:p>
            <a:pPr lvl="1"/>
            <a:r>
              <a:rPr lang="en-CA" sz="2800" dirty="0"/>
              <a:t>Something you </a:t>
            </a:r>
            <a:r>
              <a:rPr lang="en-CA" sz="2800" b="1" dirty="0"/>
              <a:t>know</a:t>
            </a:r>
            <a:r>
              <a:rPr lang="en-CA" sz="2800" dirty="0"/>
              <a:t> (passwords, PINs)</a:t>
            </a:r>
          </a:p>
          <a:p>
            <a:pPr lvl="1"/>
            <a:r>
              <a:rPr lang="en-CA" sz="2800" dirty="0"/>
              <a:t>Something you </a:t>
            </a:r>
            <a:r>
              <a:rPr lang="en-CA" sz="2800" b="1" dirty="0"/>
              <a:t>have</a:t>
            </a:r>
            <a:r>
              <a:rPr lang="en-CA" sz="2800" dirty="0"/>
              <a:t> (smart card, phone)</a:t>
            </a:r>
          </a:p>
          <a:p>
            <a:pPr lvl="1"/>
            <a:r>
              <a:rPr lang="en-CA" sz="2800" dirty="0"/>
              <a:t>Something you </a:t>
            </a:r>
            <a:r>
              <a:rPr lang="en-CA" sz="2800" b="1" dirty="0"/>
              <a:t>are</a:t>
            </a:r>
            <a:r>
              <a:rPr lang="en-CA" sz="2800" dirty="0"/>
              <a:t> (fingerprint, retinal scan)</a:t>
            </a:r>
          </a:p>
        </p:txBody>
      </p:sp>
    </p:spTree>
    <p:extLst>
      <p:ext uri="{BB962C8B-B14F-4D97-AF65-F5344CB8AC3E}">
        <p14:creationId xmlns:p14="http://schemas.microsoft.com/office/powerpoint/2010/main" val="127374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7FD77-F2F1-05FA-8A9F-68FBCABE8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Password Based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BCA8A-7D8C-F546-1018-079C5684B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15793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E628A-3B7C-5C06-B7A2-DDC9E8F8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Password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C995D-4D45-B02B-EF80-64E79CF7F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897086" cy="4351338"/>
          </a:xfrm>
        </p:spPr>
        <p:txBody>
          <a:bodyPr/>
          <a:lstStyle/>
          <a:p>
            <a:r>
              <a:rPr lang="en-CA" dirty="0"/>
              <a:t>Passwords incorrectly stored are vulnerable to be </a:t>
            </a:r>
            <a:r>
              <a:rPr lang="en-CA" i="1" dirty="0"/>
              <a:t>leaked</a:t>
            </a:r>
            <a:endParaRPr lang="en-CA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569951-6C61-865D-566D-A5A70D060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729" y="1286781"/>
            <a:ext cx="6282009" cy="50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74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60EE-18EE-7631-88F1-975E4918E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Checking Passwords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EFFC61-BF81-488B-8CBF-F8E403586718}"/>
              </a:ext>
            </a:extLst>
          </p:cNvPr>
          <p:cNvSpPr txBox="1"/>
          <p:nvPr/>
        </p:nvSpPr>
        <p:spPr>
          <a:xfrm>
            <a:off x="2284222" y="5717643"/>
            <a:ext cx="55769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hlinkClick r:id="rId2"/>
              </a:rPr>
              <a:t>https://haveibeenpwned.com/Passwords</a:t>
            </a:r>
            <a:r>
              <a:rPr lang="en-CA" sz="2400" dirty="0"/>
              <a:t> 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4D1C42-7D6A-6A59-1710-5CA3CF3B8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499" y="1559263"/>
            <a:ext cx="6033700" cy="395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89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899AE-344F-FCD5-3E29-0FDF634A8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338773" cy="1325563"/>
          </a:xfrm>
        </p:spPr>
        <p:txBody>
          <a:bodyPr/>
          <a:lstStyle/>
          <a:p>
            <a:r>
              <a:rPr lang="en-CA" dirty="0"/>
              <a:t>Password Storage Attempt #1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CBB705-904E-755D-C3B1-1788E7B792E7}"/>
              </a:ext>
            </a:extLst>
          </p:cNvPr>
          <p:cNvSpPr/>
          <p:nvPr/>
        </p:nvSpPr>
        <p:spPr>
          <a:xfrm>
            <a:off x="1098595" y="1914319"/>
            <a:ext cx="2282711" cy="644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“password”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6EF672-58CE-02D8-C106-FEE0172664DF}"/>
              </a:ext>
            </a:extLst>
          </p:cNvPr>
          <p:cNvSpPr/>
          <p:nvPr/>
        </p:nvSpPr>
        <p:spPr>
          <a:xfrm>
            <a:off x="2731141" y="3226715"/>
            <a:ext cx="2090840" cy="139791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Hash Algorithm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F62053A-EF87-20D0-5771-356A52D762B0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3381306" y="2236662"/>
            <a:ext cx="395255" cy="990053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40D66B84-7D1B-89C3-6C53-EDBD5125473A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4170991" y="4230196"/>
            <a:ext cx="855195" cy="1644055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D9FDD42-8689-8D39-CADF-0D5AFC84B8CA}"/>
              </a:ext>
            </a:extLst>
          </p:cNvPr>
          <p:cNvSpPr/>
          <p:nvPr/>
        </p:nvSpPr>
        <p:spPr>
          <a:xfrm>
            <a:off x="5421714" y="5157478"/>
            <a:ext cx="5044548" cy="644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5baa61e4c9b93f3f0682250b6cf8331b7ee68fd8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B3CA1F-FE59-6638-5AA1-D0AF0D000B90}"/>
              </a:ext>
            </a:extLst>
          </p:cNvPr>
          <p:cNvSpPr txBox="1"/>
          <p:nvPr/>
        </p:nvSpPr>
        <p:spPr>
          <a:xfrm>
            <a:off x="2882992" y="5975986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https://emn178.github.io/online-tools/sha1.html</a:t>
            </a:r>
          </a:p>
        </p:txBody>
      </p:sp>
    </p:spTree>
    <p:extLst>
      <p:ext uri="{BB962C8B-B14F-4D97-AF65-F5344CB8AC3E}">
        <p14:creationId xmlns:p14="http://schemas.microsoft.com/office/powerpoint/2010/main" val="2166415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05E55-1FC3-3D89-6AEC-6F23E1A50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Sidenotes: HEX / Base64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1A68D-AEB5-7C51-9240-A8C4CB298246}"/>
              </a:ext>
            </a:extLst>
          </p:cNvPr>
          <p:cNvSpPr txBox="1"/>
          <p:nvPr/>
        </p:nvSpPr>
        <p:spPr>
          <a:xfrm>
            <a:off x="2755534" y="2545024"/>
            <a:ext cx="629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5baa61e4c9b93f3f0682250b6cf8331b7ee68fd8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B13E1-5B91-E03E-E6AB-7984FFD841C1}"/>
              </a:ext>
            </a:extLst>
          </p:cNvPr>
          <p:cNvSpPr txBox="1"/>
          <p:nvPr/>
        </p:nvSpPr>
        <p:spPr>
          <a:xfrm>
            <a:off x="4380403" y="2083359"/>
            <a:ext cx="3312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Hex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B1128-EB40-4936-2ADF-C15AAE5E0D38}"/>
              </a:ext>
            </a:extLst>
          </p:cNvPr>
          <p:cNvSpPr txBox="1"/>
          <p:nvPr/>
        </p:nvSpPr>
        <p:spPr>
          <a:xfrm>
            <a:off x="2755534" y="4578969"/>
            <a:ext cx="4645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W6ph5Mm5Pz8GgiULbPgzG37mj9g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C268E-1A15-CF99-476B-FCF22D5BC540}"/>
              </a:ext>
            </a:extLst>
          </p:cNvPr>
          <p:cNvSpPr txBox="1"/>
          <p:nvPr/>
        </p:nvSpPr>
        <p:spPr>
          <a:xfrm>
            <a:off x="4439609" y="4055749"/>
            <a:ext cx="3312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Base64</a:t>
            </a:r>
          </a:p>
        </p:txBody>
      </p:sp>
    </p:spTree>
    <p:extLst>
      <p:ext uri="{BB962C8B-B14F-4D97-AF65-F5344CB8AC3E}">
        <p14:creationId xmlns:p14="http://schemas.microsoft.com/office/powerpoint/2010/main" val="1180225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E3A66-41E4-8170-B946-8796391B9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Password Checking with Hashes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BC8C4F-12F0-3F91-54FC-9EE8A60D1DC1}"/>
              </a:ext>
            </a:extLst>
          </p:cNvPr>
          <p:cNvSpPr/>
          <p:nvPr/>
        </p:nvSpPr>
        <p:spPr>
          <a:xfrm>
            <a:off x="940713" y="2091936"/>
            <a:ext cx="2282711" cy="644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password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EC7221-9F19-2F74-2712-3DA2D771D3EB}"/>
              </a:ext>
            </a:extLst>
          </p:cNvPr>
          <p:cNvSpPr/>
          <p:nvPr/>
        </p:nvSpPr>
        <p:spPr>
          <a:xfrm>
            <a:off x="940712" y="3137869"/>
            <a:ext cx="2282711" cy="69734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Hash Algorithm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08516B-F853-8215-5285-B7FB4C3A4DE2}"/>
              </a:ext>
            </a:extLst>
          </p:cNvPr>
          <p:cNvSpPr/>
          <p:nvPr/>
        </p:nvSpPr>
        <p:spPr>
          <a:xfrm>
            <a:off x="940712" y="4236465"/>
            <a:ext cx="2282711" cy="64468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Password hash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47D979-6DEE-5A1D-057E-CDDF7FE67390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2082068" y="2736621"/>
            <a:ext cx="1" cy="401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4FCD55-7E35-BCA4-D309-7B00B291B208}"/>
              </a:ext>
            </a:extLst>
          </p:cNvPr>
          <p:cNvCxnSpPr/>
          <p:nvPr/>
        </p:nvCxnSpPr>
        <p:spPr>
          <a:xfrm flipH="1">
            <a:off x="2082066" y="3835217"/>
            <a:ext cx="1" cy="401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D9633F5-BB93-240E-FA9E-C992C554E1C2}"/>
              </a:ext>
            </a:extLst>
          </p:cNvPr>
          <p:cNvSpPr/>
          <p:nvPr/>
        </p:nvSpPr>
        <p:spPr>
          <a:xfrm>
            <a:off x="302608" y="1631447"/>
            <a:ext cx="3710228" cy="42891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EE08B0-4DD0-C286-7A7D-83A6CD071694}"/>
              </a:ext>
            </a:extLst>
          </p:cNvPr>
          <p:cNvSpPr txBox="1"/>
          <p:nvPr/>
        </p:nvSpPr>
        <p:spPr>
          <a:xfrm>
            <a:off x="1356798" y="5502787"/>
            <a:ext cx="207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User Computer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085800-070B-B9C1-E490-BE57191B2A12}"/>
              </a:ext>
            </a:extLst>
          </p:cNvPr>
          <p:cNvSpPr/>
          <p:nvPr/>
        </p:nvSpPr>
        <p:spPr>
          <a:xfrm>
            <a:off x="6399704" y="1631447"/>
            <a:ext cx="3710228" cy="42891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D8597E-F2BE-9450-FD3F-81D214152186}"/>
              </a:ext>
            </a:extLst>
          </p:cNvPr>
          <p:cNvSpPr txBox="1"/>
          <p:nvPr/>
        </p:nvSpPr>
        <p:spPr>
          <a:xfrm>
            <a:off x="7778705" y="5502787"/>
            <a:ext cx="952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Server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80864B-00F1-4EF9-701A-D936A317961C}"/>
              </a:ext>
            </a:extLst>
          </p:cNvPr>
          <p:cNvSpPr/>
          <p:nvPr/>
        </p:nvSpPr>
        <p:spPr>
          <a:xfrm>
            <a:off x="7113461" y="2414278"/>
            <a:ext cx="2282711" cy="64468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Stored password hash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75B38B-F63A-AE29-466D-BA9271826FAC}"/>
              </a:ext>
            </a:extLst>
          </p:cNvPr>
          <p:cNvSpPr/>
          <p:nvPr/>
        </p:nvSpPr>
        <p:spPr>
          <a:xfrm>
            <a:off x="7505974" y="3973364"/>
            <a:ext cx="1657761" cy="7367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Comparison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3BF1CD2-32A7-A08E-50DE-D7BF577F86A4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3223424" y="4341756"/>
            <a:ext cx="4282550" cy="217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2F422FC-E970-8899-C1A7-D8517011374F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8254817" y="3058963"/>
            <a:ext cx="80038" cy="914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293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F3D13-F9CF-4F12-FA8C-72DECF4B4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Attacks on Hashes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620AB-4D6E-3A41-022F-A0EDFFC7C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Calculating a password from a hash </a:t>
            </a:r>
            <a:r>
              <a:rPr lang="en-CA" u="sng" dirty="0"/>
              <a:t>requires</a:t>
            </a:r>
            <a:r>
              <a:rPr lang="en-CA" dirty="0"/>
              <a:t> a brute force check.</a:t>
            </a:r>
          </a:p>
          <a:p>
            <a:r>
              <a:rPr lang="en-CA" dirty="0"/>
              <a:t>This is </a:t>
            </a:r>
            <a:r>
              <a:rPr lang="en-CA" u="sng" dirty="0"/>
              <a:t>difficult</a:t>
            </a:r>
            <a:r>
              <a:rPr lang="en-CA" dirty="0"/>
              <a:t> but not </a:t>
            </a:r>
            <a:r>
              <a:rPr lang="en-CA" u="sng" dirty="0"/>
              <a:t>impossible</a:t>
            </a:r>
            <a:r>
              <a:rPr lang="en-CA" dirty="0"/>
              <a:t> for most peoples password complexity levels</a:t>
            </a:r>
          </a:p>
          <a:p>
            <a:endParaRPr lang="en-CA" dirty="0"/>
          </a:p>
          <a:p>
            <a:r>
              <a:rPr lang="en-CA" dirty="0"/>
              <a:t>We can speed this up with a </a:t>
            </a:r>
            <a:r>
              <a:rPr lang="en-CA" i="1" dirty="0"/>
              <a:t>Rainbow Table</a:t>
            </a:r>
            <a:r>
              <a:rPr lang="en-CA" dirty="0"/>
              <a:t> – a precalculated table of passwords that are hashed with the known algorithm.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23712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2DCF-A4CC-E355-2B38-0F3CADE77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Preventing Rainbow Table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A07CD-C972-3DF4-7735-2BAF83101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91154"/>
          </a:xfrm>
        </p:spPr>
        <p:txBody>
          <a:bodyPr/>
          <a:lstStyle/>
          <a:p>
            <a:r>
              <a:rPr lang="en-CA" dirty="0"/>
              <a:t>(Almost) all modern systems storing passwords used </a:t>
            </a:r>
            <a:r>
              <a:rPr lang="en-CA" u="sng" dirty="0"/>
              <a:t>salts</a:t>
            </a:r>
            <a:r>
              <a:rPr lang="en-CA" dirty="0"/>
              <a:t> with the hashes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3E2828A-B8E0-3241-FE5A-FF75ADCF5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467" y="3353482"/>
            <a:ext cx="10932445" cy="1953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241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B4EF-9B90-6BE1-6309-9372D6364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Salt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B9E62-A5CA-16F1-683B-955726297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71405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sha1(“password”) = W6ph5Mm5Pz8GgiULbPgzG37mj9g=</a:t>
            </a:r>
          </a:p>
          <a:p>
            <a:pPr marL="0" indent="0">
              <a:buNone/>
            </a:pPr>
            <a:r>
              <a:rPr lang="en-CA" dirty="0"/>
              <a:t>sha1(“password+89273”) = 4hPn0mFSLzypoXYRZtexpGh15DY=</a:t>
            </a:r>
          </a:p>
          <a:p>
            <a:pPr marL="0" indent="0">
              <a:buNone/>
            </a:pPr>
            <a:r>
              <a:rPr lang="en-CA" dirty="0"/>
              <a:t>sha1(“password+93838”) = </a:t>
            </a:r>
            <a:r>
              <a:rPr lang="en-CA" dirty="0" err="1"/>
              <a:t>gti</a:t>
            </a:r>
            <a:r>
              <a:rPr lang="en-CA" dirty="0"/>
              <a:t>/NjLaiHF0IPMat/WB9qAmpPg=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065A9-B8C8-5F36-C93A-F9C876B1D453}"/>
              </a:ext>
            </a:extLst>
          </p:cNvPr>
          <p:cNvSpPr txBox="1"/>
          <p:nvPr/>
        </p:nvSpPr>
        <p:spPr>
          <a:xfrm>
            <a:off x="2968511" y="4430093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https://emn178.github.io/online-tools/sha1.html</a:t>
            </a:r>
          </a:p>
        </p:txBody>
      </p:sp>
    </p:spTree>
    <p:extLst>
      <p:ext uri="{BB962C8B-B14F-4D97-AF65-F5344CB8AC3E}">
        <p14:creationId xmlns:p14="http://schemas.microsoft.com/office/powerpoint/2010/main" val="3142999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EE4FA-89A2-7344-362A-B2A3378D5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BDD56-FABA-5A58-DF7E-C1E731BF3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Password Checking with </a:t>
            </a:r>
            <a:r>
              <a:rPr lang="en-CA" dirty="0" err="1"/>
              <a:t>Salt+Hashes</a:t>
            </a: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D2DA34-12C6-F776-0CCC-23BAF692B3D7}"/>
              </a:ext>
            </a:extLst>
          </p:cNvPr>
          <p:cNvSpPr/>
          <p:nvPr/>
        </p:nvSpPr>
        <p:spPr>
          <a:xfrm>
            <a:off x="940713" y="2091936"/>
            <a:ext cx="2282711" cy="644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password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E01515-5DEE-ED2D-C576-0C05BB18A3D2}"/>
              </a:ext>
            </a:extLst>
          </p:cNvPr>
          <p:cNvSpPr/>
          <p:nvPr/>
        </p:nvSpPr>
        <p:spPr>
          <a:xfrm>
            <a:off x="940712" y="3137869"/>
            <a:ext cx="2282711" cy="69734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Hash Algorithm with Salt 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82405B-EC9E-27C1-F327-D81326A301B3}"/>
              </a:ext>
            </a:extLst>
          </p:cNvPr>
          <p:cNvSpPr/>
          <p:nvPr/>
        </p:nvSpPr>
        <p:spPr>
          <a:xfrm>
            <a:off x="940712" y="4236465"/>
            <a:ext cx="2282711" cy="64468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Password hash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405993-DE27-485E-2E65-2BE14AA8B746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2082068" y="2736621"/>
            <a:ext cx="1" cy="401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27181F-AD47-EC3A-9DF4-6115C0D6DA63}"/>
              </a:ext>
            </a:extLst>
          </p:cNvPr>
          <p:cNvCxnSpPr/>
          <p:nvPr/>
        </p:nvCxnSpPr>
        <p:spPr>
          <a:xfrm flipH="1">
            <a:off x="2082066" y="3835217"/>
            <a:ext cx="1" cy="401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BC7A628-A483-D484-73BE-EC258B9456A5}"/>
              </a:ext>
            </a:extLst>
          </p:cNvPr>
          <p:cNvSpPr/>
          <p:nvPr/>
        </p:nvSpPr>
        <p:spPr>
          <a:xfrm>
            <a:off x="302608" y="1631447"/>
            <a:ext cx="3710228" cy="42891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1726B9-4DAA-704A-ACA9-35B7F0D8BB87}"/>
              </a:ext>
            </a:extLst>
          </p:cNvPr>
          <p:cNvSpPr txBox="1"/>
          <p:nvPr/>
        </p:nvSpPr>
        <p:spPr>
          <a:xfrm>
            <a:off x="1356798" y="5502787"/>
            <a:ext cx="207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User Computer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A11882-8CD0-AFAE-B995-48B115F721A3}"/>
              </a:ext>
            </a:extLst>
          </p:cNvPr>
          <p:cNvSpPr/>
          <p:nvPr/>
        </p:nvSpPr>
        <p:spPr>
          <a:xfrm>
            <a:off x="6399704" y="1631447"/>
            <a:ext cx="3710228" cy="42891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878C8D-7B82-5B7F-0F2B-B5A6373E6E39}"/>
              </a:ext>
            </a:extLst>
          </p:cNvPr>
          <p:cNvSpPr txBox="1"/>
          <p:nvPr/>
        </p:nvSpPr>
        <p:spPr>
          <a:xfrm>
            <a:off x="7778705" y="5502787"/>
            <a:ext cx="952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Server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8C3990-633B-A0A3-0CBC-CBB3B3CCABC9}"/>
              </a:ext>
            </a:extLst>
          </p:cNvPr>
          <p:cNvSpPr/>
          <p:nvPr/>
        </p:nvSpPr>
        <p:spPr>
          <a:xfrm>
            <a:off x="7113461" y="1996549"/>
            <a:ext cx="2282711" cy="64468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Stored password salt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19EC1-0604-170A-D063-0A50B902558B}"/>
              </a:ext>
            </a:extLst>
          </p:cNvPr>
          <p:cNvSpPr/>
          <p:nvPr/>
        </p:nvSpPr>
        <p:spPr>
          <a:xfrm>
            <a:off x="7505974" y="3973364"/>
            <a:ext cx="1657761" cy="7367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Comparison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745678-6E43-A388-EE11-FCB91D7AB896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3223424" y="4341756"/>
            <a:ext cx="4282550" cy="217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D7AEDA-5FEF-129B-59D6-B939B11823C8}"/>
              </a:ext>
            </a:extLst>
          </p:cNvPr>
          <p:cNvCxnSpPr>
            <a:cxnSpLocks/>
            <a:stCxn id="22" idx="2"/>
            <a:endCxn id="18" idx="0"/>
          </p:cNvCxnSpPr>
          <p:nvPr/>
        </p:nvCxnSpPr>
        <p:spPr>
          <a:xfrm>
            <a:off x="8251977" y="3302329"/>
            <a:ext cx="82878" cy="671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B20A15E-F854-627D-12D6-FEFF85B50C01}"/>
              </a:ext>
            </a:extLst>
          </p:cNvPr>
          <p:cNvCxnSpPr>
            <a:cxnSpLocks/>
            <a:stCxn id="17" idx="1"/>
            <a:endCxn id="7" idx="3"/>
          </p:cNvCxnSpPr>
          <p:nvPr/>
        </p:nvCxnSpPr>
        <p:spPr>
          <a:xfrm flipH="1">
            <a:off x="3223423" y="2318892"/>
            <a:ext cx="3890038" cy="1167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825604F-DD98-B5F8-02F0-C434FBA78592}"/>
              </a:ext>
            </a:extLst>
          </p:cNvPr>
          <p:cNvSpPr/>
          <p:nvPr/>
        </p:nvSpPr>
        <p:spPr>
          <a:xfrm>
            <a:off x="7110621" y="2657644"/>
            <a:ext cx="2282711" cy="64468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Stored password hash</a:t>
            </a:r>
          </a:p>
        </p:txBody>
      </p:sp>
    </p:spTree>
    <p:extLst>
      <p:ext uri="{BB962C8B-B14F-4D97-AF65-F5344CB8AC3E}">
        <p14:creationId xmlns:p14="http://schemas.microsoft.com/office/powerpoint/2010/main" val="4239562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0723-742E-A146-15CA-BD3E89F3C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Salt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94C57-3497-C8B8-14DB-2F2E3E40C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salt does </a:t>
            </a:r>
            <a:r>
              <a:rPr lang="en-CA" u="sng" dirty="0"/>
              <a:t>not</a:t>
            </a:r>
            <a:r>
              <a:rPr lang="en-CA" dirty="0"/>
              <a:t> provide additional bits of security.</a:t>
            </a:r>
          </a:p>
          <a:p>
            <a:r>
              <a:rPr lang="en-CA" dirty="0"/>
              <a:t>The salt does </a:t>
            </a:r>
            <a:r>
              <a:rPr lang="en-CA" u="sng" dirty="0"/>
              <a:t>not</a:t>
            </a:r>
            <a:r>
              <a:rPr lang="en-CA" dirty="0"/>
              <a:t> prevent someone from brute-forcing your specific password.</a:t>
            </a:r>
          </a:p>
          <a:p>
            <a:r>
              <a:rPr lang="en-CA" dirty="0"/>
              <a:t>The salt </a:t>
            </a:r>
            <a:r>
              <a:rPr lang="en-CA" u="sng" dirty="0"/>
              <a:t>does</a:t>
            </a:r>
            <a:r>
              <a:rPr lang="en-CA" dirty="0"/>
              <a:t> prevent pre-calculation of your password from a leaked hash.</a:t>
            </a:r>
          </a:p>
          <a:p>
            <a:r>
              <a:rPr lang="en-CA" dirty="0"/>
              <a:t>The salt </a:t>
            </a:r>
            <a:r>
              <a:rPr lang="en-CA" u="sng" dirty="0"/>
              <a:t>is not</a:t>
            </a:r>
            <a:r>
              <a:rPr lang="en-CA" dirty="0"/>
              <a:t> a secret.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95260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A000-F9D1-4514-A11E-42DDAD342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Cryptographic Authentication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38F85-D0A5-4208-8CF2-68064E6A6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cryptographic authentication, we will normally want to force knowledge of a </a:t>
            </a:r>
            <a:r>
              <a:rPr lang="en-US" b="1" i="1" dirty="0"/>
              <a:t>secret key </a:t>
            </a:r>
            <a:r>
              <a:rPr lang="en-US" dirty="0"/>
              <a:t>or</a:t>
            </a:r>
            <a:r>
              <a:rPr lang="en-US" i="1" dirty="0"/>
              <a:t> </a:t>
            </a:r>
            <a:r>
              <a:rPr lang="en-US" b="1" i="1" dirty="0"/>
              <a:t>shared secret</a:t>
            </a:r>
            <a:r>
              <a:rPr lang="en-US" i="1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There are several ways to force such knowledge.</a:t>
            </a:r>
          </a:p>
          <a:p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21370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B6893-A976-E0B1-01E5-440412076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7B70C-F4AA-16BE-5D6B-2B88B606F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Shared Key Example – Checking Random #</a:t>
            </a:r>
          </a:p>
        </p:txBody>
      </p:sp>
    </p:spTree>
    <p:extLst>
      <p:ext uri="{BB962C8B-B14F-4D97-AF65-F5344CB8AC3E}">
        <p14:creationId xmlns:p14="http://schemas.microsoft.com/office/powerpoint/2010/main" val="2955094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FC74E-57DA-B743-08B3-37C6B9252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Shared Key Example – 2-Way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852771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C738-5C64-4C92-97AA-01C257D7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Authentication Code</a:t>
            </a:r>
            <a:endParaRPr lang="en-C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A6860CD-E1A3-4606-A18E-78929704DC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353" y="1520823"/>
            <a:ext cx="7598476" cy="4701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5EE809-A5EF-4C01-BDDB-9DD480B93CA9}"/>
              </a:ext>
            </a:extLst>
          </p:cNvPr>
          <p:cNvSpPr txBox="1"/>
          <p:nvPr/>
        </p:nvSpPr>
        <p:spPr>
          <a:xfrm>
            <a:off x="1694986" y="6315527"/>
            <a:ext cx="8653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https://en.wikipedia.org/wiki/Message_authentication_code#/media/File:MAC.svg</a:t>
            </a:r>
          </a:p>
        </p:txBody>
      </p:sp>
    </p:spTree>
    <p:extLst>
      <p:ext uri="{BB962C8B-B14F-4D97-AF65-F5344CB8AC3E}">
        <p14:creationId xmlns:p14="http://schemas.microsoft.com/office/powerpoint/2010/main" val="929727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23A1F-201D-4710-9AD7-142FF4D4F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/ Private Key Pairs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9C9C8-86F3-4C1F-ACB9-F28D758FC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We’ll discuss some of these algorithms later, but for now:</a:t>
            </a:r>
          </a:p>
          <a:p>
            <a:endParaRPr lang="en-US" dirty="0"/>
          </a:p>
          <a:p>
            <a:r>
              <a:rPr lang="en-US" dirty="0"/>
              <a:t>Public key cryptography allows us to design algorithms with </a:t>
            </a:r>
            <a:r>
              <a:rPr lang="en-US" i="1" dirty="0"/>
              <a:t>two</a:t>
            </a:r>
            <a:r>
              <a:rPr lang="en-US" dirty="0"/>
              <a:t> keys:</a:t>
            </a:r>
          </a:p>
          <a:p>
            <a:pPr lvl="1"/>
            <a:r>
              <a:rPr lang="en-US" dirty="0"/>
              <a:t>One key is “private” and performs one operation (such as decryption).</a:t>
            </a:r>
          </a:p>
          <a:p>
            <a:pPr lvl="1"/>
            <a:r>
              <a:rPr lang="en-US" dirty="0"/>
              <a:t>The other key is “public” and performs another operation (such as encryption).</a:t>
            </a:r>
          </a:p>
          <a:p>
            <a:pPr lvl="1"/>
            <a:r>
              <a:rPr lang="en-US" dirty="0"/>
              <a:t>Knowing only the “public” key you </a:t>
            </a:r>
            <a:r>
              <a:rPr lang="en-US" u="sng" dirty="0"/>
              <a:t>cannot perform both operations</a:t>
            </a:r>
            <a:r>
              <a:rPr lang="en-US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14745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A81BE-3483-FC1D-366F-81566DDA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Normal Public / Private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318E2-3AED-FB5D-8579-404E9C4D2EBF}"/>
              </a:ext>
            </a:extLst>
          </p:cNvPr>
          <p:cNvSpPr/>
          <p:nvPr/>
        </p:nvSpPr>
        <p:spPr>
          <a:xfrm>
            <a:off x="1731145" y="2290439"/>
            <a:ext cx="2036457" cy="11385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Encrypt Operation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95F1B8-9ECA-4FC8-B20B-C87BB2DEDD9B}"/>
              </a:ext>
            </a:extLst>
          </p:cNvPr>
          <p:cNvSpPr/>
          <p:nvPr/>
        </p:nvSpPr>
        <p:spPr>
          <a:xfrm>
            <a:off x="6387943" y="2290439"/>
            <a:ext cx="2036457" cy="113856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Decrypt Operation</a:t>
            </a:r>
          </a:p>
        </p:txBody>
      </p:sp>
      <p:sp>
        <p:nvSpPr>
          <p:cNvPr id="6" name="Flowchart: Document 5">
            <a:extLst>
              <a:ext uri="{FF2B5EF4-FFF2-40B4-BE49-F238E27FC236}">
                <a16:creationId xmlns:a16="http://schemas.microsoft.com/office/drawing/2014/main" id="{2EE51DFF-E70A-B067-531F-38DA4FC80D36}"/>
              </a:ext>
            </a:extLst>
          </p:cNvPr>
          <p:cNvSpPr/>
          <p:nvPr/>
        </p:nvSpPr>
        <p:spPr>
          <a:xfrm>
            <a:off x="2185608" y="4028750"/>
            <a:ext cx="1127530" cy="749395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Public Key</a:t>
            </a:r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D2153A54-92AF-78F5-C3CD-13ED25BC909E}"/>
              </a:ext>
            </a:extLst>
          </p:cNvPr>
          <p:cNvSpPr/>
          <p:nvPr/>
        </p:nvSpPr>
        <p:spPr>
          <a:xfrm>
            <a:off x="6842406" y="4028750"/>
            <a:ext cx="1127530" cy="749395"/>
          </a:xfrm>
          <a:prstGeom prst="flowChartDocumen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Private Key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BD93EC-858B-DC35-209C-2162D7875902}"/>
              </a:ext>
            </a:extLst>
          </p:cNvPr>
          <p:cNvCxnSpPr>
            <a:endCxn id="4" idx="1"/>
          </p:cNvCxnSpPr>
          <p:nvPr/>
        </p:nvCxnSpPr>
        <p:spPr>
          <a:xfrm>
            <a:off x="556890" y="2859719"/>
            <a:ext cx="1174255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20A48C-7CFC-BBFE-F169-D7667F94BEDA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767602" y="2859718"/>
            <a:ext cx="2620341" cy="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C85272-2B04-C3CD-F1C0-72CBD83B035E}"/>
              </a:ext>
            </a:extLst>
          </p:cNvPr>
          <p:cNvCxnSpPr/>
          <p:nvPr/>
        </p:nvCxnSpPr>
        <p:spPr>
          <a:xfrm>
            <a:off x="8424400" y="2859718"/>
            <a:ext cx="1174255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AD3FBC-0843-F5D2-6DFE-1EE26981B1CE}"/>
              </a:ext>
            </a:extLst>
          </p:cNvPr>
          <p:cNvSpPr txBox="1"/>
          <p:nvPr/>
        </p:nvSpPr>
        <p:spPr>
          <a:xfrm>
            <a:off x="618065" y="2441476"/>
            <a:ext cx="1051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1238907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793835-65BB-C5DD-9B61-AF7EAA3A77AB}"/>
              </a:ext>
            </a:extLst>
          </p:cNvPr>
          <p:cNvSpPr txBox="1"/>
          <p:nvPr/>
        </p:nvSpPr>
        <p:spPr>
          <a:xfrm>
            <a:off x="8546751" y="2441476"/>
            <a:ext cx="1051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1238907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BD093D-EC6F-40B7-7029-35A47E5E64ED}"/>
              </a:ext>
            </a:extLst>
          </p:cNvPr>
          <p:cNvSpPr txBox="1"/>
          <p:nvPr/>
        </p:nvSpPr>
        <p:spPr>
          <a:xfrm>
            <a:off x="4184983" y="2490386"/>
            <a:ext cx="1513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0xF00DBABE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696F423-8EA3-74AD-C8E9-17584B00B13B}"/>
              </a:ext>
            </a:extLst>
          </p:cNvPr>
          <p:cNvCxnSpPr>
            <a:cxnSpLocks/>
          </p:cNvCxnSpPr>
          <p:nvPr/>
        </p:nvCxnSpPr>
        <p:spPr>
          <a:xfrm flipV="1">
            <a:off x="7392863" y="3429000"/>
            <a:ext cx="1" cy="59975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7ADF67-D376-ED96-F471-1ABB333E9369}"/>
              </a:ext>
            </a:extLst>
          </p:cNvPr>
          <p:cNvCxnSpPr>
            <a:cxnSpLocks/>
          </p:cNvCxnSpPr>
          <p:nvPr/>
        </p:nvCxnSpPr>
        <p:spPr>
          <a:xfrm flipV="1">
            <a:off x="2749373" y="3429000"/>
            <a:ext cx="1" cy="5997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58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4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D1AB2-6213-D3ED-A1BB-311EDFE9A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C8512-5425-0994-A0F7-E39FAA06F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Simple Public / Private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078FB8-7C66-C5E7-1ADC-32897B96201B}"/>
              </a:ext>
            </a:extLst>
          </p:cNvPr>
          <p:cNvSpPr/>
          <p:nvPr/>
        </p:nvSpPr>
        <p:spPr>
          <a:xfrm>
            <a:off x="1731145" y="2290439"/>
            <a:ext cx="2036457" cy="113856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Decrypt Operation</a:t>
            </a:r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CB3DF96C-A1B5-22D9-EC6C-6EE0E8259136}"/>
              </a:ext>
            </a:extLst>
          </p:cNvPr>
          <p:cNvSpPr/>
          <p:nvPr/>
        </p:nvSpPr>
        <p:spPr>
          <a:xfrm>
            <a:off x="2185608" y="4028750"/>
            <a:ext cx="1127530" cy="749395"/>
          </a:xfrm>
          <a:prstGeom prst="flowChartDocumen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Public Key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C7367C2-4FDA-58C7-CBD0-29C040C9FEDB}"/>
              </a:ext>
            </a:extLst>
          </p:cNvPr>
          <p:cNvCxnSpPr>
            <a:endCxn id="4" idx="1"/>
          </p:cNvCxnSpPr>
          <p:nvPr/>
        </p:nvCxnSpPr>
        <p:spPr>
          <a:xfrm>
            <a:off x="556890" y="2859719"/>
            <a:ext cx="1174255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9691305-5B48-C440-3CCC-42C4F6C508C3}"/>
              </a:ext>
            </a:extLst>
          </p:cNvPr>
          <p:cNvSpPr txBox="1"/>
          <p:nvPr/>
        </p:nvSpPr>
        <p:spPr>
          <a:xfrm>
            <a:off x="192505" y="2441476"/>
            <a:ext cx="1477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0xF00DBABE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AF76E99-DF46-D545-9607-B8C7FB45B04A}"/>
              </a:ext>
            </a:extLst>
          </p:cNvPr>
          <p:cNvCxnSpPr>
            <a:cxnSpLocks/>
          </p:cNvCxnSpPr>
          <p:nvPr/>
        </p:nvCxnSpPr>
        <p:spPr>
          <a:xfrm flipV="1">
            <a:off x="2749373" y="3429000"/>
            <a:ext cx="1" cy="5997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xplosion: 14 Points 7">
            <a:extLst>
              <a:ext uri="{FF2B5EF4-FFF2-40B4-BE49-F238E27FC236}">
                <a16:creationId xmlns:a16="http://schemas.microsoft.com/office/drawing/2014/main" id="{AC812718-2CA8-6E5D-45D5-DF955AB702C7}"/>
              </a:ext>
            </a:extLst>
          </p:cNvPr>
          <p:cNvSpPr/>
          <p:nvPr/>
        </p:nvSpPr>
        <p:spPr>
          <a:xfrm>
            <a:off x="2185608" y="1795314"/>
            <a:ext cx="4023387" cy="2736322"/>
          </a:xfrm>
          <a:prstGeom prst="irregularSeal2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105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CCB8A-0897-D89E-E260-6D658183C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49EE0-2647-8770-538A-C0C89087C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Less Useful Public/Private Key Operation?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743B23-A2A0-E7A3-27FD-A8B28BF0540F}"/>
              </a:ext>
            </a:extLst>
          </p:cNvPr>
          <p:cNvSpPr/>
          <p:nvPr/>
        </p:nvSpPr>
        <p:spPr>
          <a:xfrm>
            <a:off x="1731145" y="2290439"/>
            <a:ext cx="2036457" cy="11385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Encrypt Operation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57167F-6A63-F982-0FFF-98D6886ED4A9}"/>
              </a:ext>
            </a:extLst>
          </p:cNvPr>
          <p:cNvSpPr/>
          <p:nvPr/>
        </p:nvSpPr>
        <p:spPr>
          <a:xfrm>
            <a:off x="6387943" y="2290439"/>
            <a:ext cx="2036457" cy="113856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Decrypt Operation</a:t>
            </a:r>
          </a:p>
        </p:txBody>
      </p:sp>
      <p:sp>
        <p:nvSpPr>
          <p:cNvPr id="6" name="Flowchart: Document 5">
            <a:extLst>
              <a:ext uri="{FF2B5EF4-FFF2-40B4-BE49-F238E27FC236}">
                <a16:creationId xmlns:a16="http://schemas.microsoft.com/office/drawing/2014/main" id="{29978A1D-F7DB-F94A-0C49-7C781E3104BB}"/>
              </a:ext>
            </a:extLst>
          </p:cNvPr>
          <p:cNvSpPr/>
          <p:nvPr/>
        </p:nvSpPr>
        <p:spPr>
          <a:xfrm>
            <a:off x="2185608" y="4028750"/>
            <a:ext cx="1127530" cy="749395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Private Key</a:t>
            </a:r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9A4F6C4D-6FFC-3034-D8EC-2B2EFB7A963E}"/>
              </a:ext>
            </a:extLst>
          </p:cNvPr>
          <p:cNvSpPr/>
          <p:nvPr/>
        </p:nvSpPr>
        <p:spPr>
          <a:xfrm>
            <a:off x="6842406" y="4028750"/>
            <a:ext cx="1127530" cy="749395"/>
          </a:xfrm>
          <a:prstGeom prst="flowChartDocumen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Public Key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BE5842-3FF9-EE5B-49A9-C3C05A0EF233}"/>
              </a:ext>
            </a:extLst>
          </p:cNvPr>
          <p:cNvCxnSpPr>
            <a:endCxn id="4" idx="1"/>
          </p:cNvCxnSpPr>
          <p:nvPr/>
        </p:nvCxnSpPr>
        <p:spPr>
          <a:xfrm>
            <a:off x="556890" y="2859719"/>
            <a:ext cx="1174255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937464-051C-3E43-C04E-7DDD82AE319C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767602" y="2859718"/>
            <a:ext cx="2620341" cy="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015295-53D8-6F80-4DD7-6018044F34B5}"/>
              </a:ext>
            </a:extLst>
          </p:cNvPr>
          <p:cNvCxnSpPr/>
          <p:nvPr/>
        </p:nvCxnSpPr>
        <p:spPr>
          <a:xfrm>
            <a:off x="8424400" y="2859718"/>
            <a:ext cx="1174255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0BC456F-094F-F539-0F37-E46A00E48D6B}"/>
              </a:ext>
            </a:extLst>
          </p:cNvPr>
          <p:cNvSpPr txBox="1"/>
          <p:nvPr/>
        </p:nvSpPr>
        <p:spPr>
          <a:xfrm>
            <a:off x="618065" y="2441476"/>
            <a:ext cx="1051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1238907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6803FE-1179-8E3A-6B83-5F1F32EE6950}"/>
              </a:ext>
            </a:extLst>
          </p:cNvPr>
          <p:cNvSpPr txBox="1"/>
          <p:nvPr/>
        </p:nvSpPr>
        <p:spPr>
          <a:xfrm>
            <a:off x="8546751" y="2441476"/>
            <a:ext cx="1051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1238907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6A6188-4CD0-A69F-6182-4EF030210534}"/>
              </a:ext>
            </a:extLst>
          </p:cNvPr>
          <p:cNvSpPr txBox="1"/>
          <p:nvPr/>
        </p:nvSpPr>
        <p:spPr>
          <a:xfrm>
            <a:off x="4184983" y="2490386"/>
            <a:ext cx="1513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0xF00DBABE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16F19E6-9648-946D-8609-8249044930F5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2749373" y="3429000"/>
            <a:ext cx="1" cy="5997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EE7ACC-9B50-5C5F-275A-532316AE61CA}"/>
              </a:ext>
            </a:extLst>
          </p:cNvPr>
          <p:cNvCxnSpPr>
            <a:cxnSpLocks/>
          </p:cNvCxnSpPr>
          <p:nvPr/>
        </p:nvCxnSpPr>
        <p:spPr>
          <a:xfrm flipV="1">
            <a:off x="7392863" y="3429000"/>
            <a:ext cx="1" cy="59975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27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F155B-3924-A4CC-7212-6FC6F3BC6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D270C-802D-164A-6AFF-686FC50DD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Public / Private Key for Signing</a:t>
            </a:r>
          </a:p>
        </p:txBody>
      </p:sp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E0FA8A17-9D1D-19E2-474B-E961E696752B}"/>
              </a:ext>
            </a:extLst>
          </p:cNvPr>
          <p:cNvSpPr/>
          <p:nvPr/>
        </p:nvSpPr>
        <p:spPr>
          <a:xfrm>
            <a:off x="838199" y="2093654"/>
            <a:ext cx="1519989" cy="132556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Firmware File (500MB)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7FB3061D-3C9B-A3F5-1A67-A0E5EDDD1DBA}"/>
              </a:ext>
            </a:extLst>
          </p:cNvPr>
          <p:cNvSpPr/>
          <p:nvPr/>
        </p:nvSpPr>
        <p:spPr>
          <a:xfrm>
            <a:off x="3980734" y="3071120"/>
            <a:ext cx="2571320" cy="2083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Internet (bad?)</a:t>
            </a:r>
          </a:p>
        </p:txBody>
      </p:sp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8D2A174F-1AB0-196E-24B3-CF1A2ACFE061}"/>
              </a:ext>
            </a:extLst>
          </p:cNvPr>
          <p:cNvSpPr/>
          <p:nvPr/>
        </p:nvSpPr>
        <p:spPr>
          <a:xfrm>
            <a:off x="8649558" y="5085507"/>
            <a:ext cx="1519989" cy="132556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Firmware File?</a:t>
            </a:r>
          </a:p>
        </p:txBody>
      </p:sp>
    </p:spTree>
    <p:extLst>
      <p:ext uri="{BB962C8B-B14F-4D97-AF65-F5344CB8AC3E}">
        <p14:creationId xmlns:p14="http://schemas.microsoft.com/office/powerpoint/2010/main" val="401284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C30CD-A55C-9C8B-BCBD-52F58F5C4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0DB23-720D-1211-A2EB-A884051C3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Public / Private Key for Signing</a:t>
            </a:r>
          </a:p>
        </p:txBody>
      </p:sp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83248CA3-B221-986C-0815-8FD992EAE6F4}"/>
              </a:ext>
            </a:extLst>
          </p:cNvPr>
          <p:cNvSpPr/>
          <p:nvPr/>
        </p:nvSpPr>
        <p:spPr>
          <a:xfrm>
            <a:off x="838199" y="2093654"/>
            <a:ext cx="1519989" cy="132556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Firmware File (500MB)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13908A-DE5C-9666-8DD8-97E410292C39}"/>
              </a:ext>
            </a:extLst>
          </p:cNvPr>
          <p:cNvSpPr/>
          <p:nvPr/>
        </p:nvSpPr>
        <p:spPr>
          <a:xfrm>
            <a:off x="838199" y="3961867"/>
            <a:ext cx="1458310" cy="86938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Hash Function</a:t>
            </a:r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630E7F2A-993A-760B-32D4-6BA9E2F49B88}"/>
              </a:ext>
            </a:extLst>
          </p:cNvPr>
          <p:cNvSpPr/>
          <p:nvPr/>
        </p:nvSpPr>
        <p:spPr>
          <a:xfrm>
            <a:off x="3163609" y="3961866"/>
            <a:ext cx="1458310" cy="869385"/>
          </a:xfrm>
          <a:prstGeom prst="flowChartDocumen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Hash (2048 Bytes)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5FA936-531D-41D2-7322-DA47DB5C8F4D}"/>
              </a:ext>
            </a:extLst>
          </p:cNvPr>
          <p:cNvSpPr/>
          <p:nvPr/>
        </p:nvSpPr>
        <p:spPr>
          <a:xfrm>
            <a:off x="5284074" y="3827279"/>
            <a:ext cx="2036457" cy="11385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Encrypt Operation</a:t>
            </a:r>
          </a:p>
        </p:txBody>
      </p:sp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536996BA-668F-FCE8-3E7E-6DE409DE28C2}"/>
              </a:ext>
            </a:extLst>
          </p:cNvPr>
          <p:cNvSpPr/>
          <p:nvPr/>
        </p:nvSpPr>
        <p:spPr>
          <a:xfrm>
            <a:off x="5738538" y="5336169"/>
            <a:ext cx="1127530" cy="749395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Private Key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AC3EC7-3397-C8CC-F7EE-2FB1FB5F45D4}"/>
              </a:ext>
            </a:extLst>
          </p:cNvPr>
          <p:cNvCxnSpPr>
            <a:cxnSpLocks/>
            <a:stCxn id="10" idx="0"/>
            <a:endCxn id="9" idx="2"/>
          </p:cNvCxnSpPr>
          <p:nvPr/>
        </p:nvCxnSpPr>
        <p:spPr>
          <a:xfrm flipV="1">
            <a:off x="6302303" y="4965840"/>
            <a:ext cx="0" cy="3703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Document 13">
            <a:extLst>
              <a:ext uri="{FF2B5EF4-FFF2-40B4-BE49-F238E27FC236}">
                <a16:creationId xmlns:a16="http://schemas.microsoft.com/office/drawing/2014/main" id="{6677A5FF-298D-0C00-CFA3-BB78454A2B69}"/>
              </a:ext>
            </a:extLst>
          </p:cNvPr>
          <p:cNvSpPr/>
          <p:nvPr/>
        </p:nvSpPr>
        <p:spPr>
          <a:xfrm>
            <a:off x="7982686" y="3961865"/>
            <a:ext cx="1519989" cy="869385"/>
          </a:xfrm>
          <a:prstGeom prst="flowChartDocumen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 Encrypted Hash (2048 Bytes)</a:t>
            </a:r>
          </a:p>
        </p:txBody>
      </p:sp>
    </p:spTree>
    <p:extLst>
      <p:ext uri="{BB962C8B-B14F-4D97-AF65-F5344CB8AC3E}">
        <p14:creationId xmlns:p14="http://schemas.microsoft.com/office/powerpoint/2010/main" val="375153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0" grpId="0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47592-93DE-4BCD-2D3B-D1F061E34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C6FC5-A059-6222-5165-2CE7B6C7E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Public / Private Key for Signing</a:t>
            </a:r>
          </a:p>
        </p:txBody>
      </p:sp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07BEA283-56CB-1F5D-18F5-9951AB1FA5D0}"/>
              </a:ext>
            </a:extLst>
          </p:cNvPr>
          <p:cNvSpPr/>
          <p:nvPr/>
        </p:nvSpPr>
        <p:spPr>
          <a:xfrm>
            <a:off x="838199" y="1690688"/>
            <a:ext cx="1519989" cy="132556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Firmware File (500MB)</a:t>
            </a:r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1507EF9F-372D-FBBE-0AC7-1475F352D5F9}"/>
              </a:ext>
            </a:extLst>
          </p:cNvPr>
          <p:cNvSpPr/>
          <p:nvPr/>
        </p:nvSpPr>
        <p:spPr>
          <a:xfrm>
            <a:off x="838199" y="3173445"/>
            <a:ext cx="1519989" cy="1168369"/>
          </a:xfrm>
          <a:prstGeom prst="flowChartDocumen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Encrypted Hash (2048 Bytes)</a:t>
            </a:r>
          </a:p>
        </p:txBody>
      </p:sp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75770476-1516-E031-5026-5F40051346CB}"/>
              </a:ext>
            </a:extLst>
          </p:cNvPr>
          <p:cNvSpPr/>
          <p:nvPr/>
        </p:nvSpPr>
        <p:spPr>
          <a:xfrm>
            <a:off x="838199" y="4499008"/>
            <a:ext cx="1519988" cy="853385"/>
          </a:xfrm>
          <a:prstGeom prst="flowChartDocumen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Private Key</a:t>
            </a:r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DC1F7517-C5F5-944F-544B-34215121F19E}"/>
              </a:ext>
            </a:extLst>
          </p:cNvPr>
          <p:cNvSpPr/>
          <p:nvPr/>
        </p:nvSpPr>
        <p:spPr>
          <a:xfrm>
            <a:off x="3665424" y="1801432"/>
            <a:ext cx="2571320" cy="2083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Internet (bad?)</a:t>
            </a:r>
          </a:p>
        </p:txBody>
      </p:sp>
      <p:sp>
        <p:nvSpPr>
          <p:cNvPr id="17" name="Flowchart: Document 16">
            <a:extLst>
              <a:ext uri="{FF2B5EF4-FFF2-40B4-BE49-F238E27FC236}">
                <a16:creationId xmlns:a16="http://schemas.microsoft.com/office/drawing/2014/main" id="{D064121C-68D8-93F0-3DDF-5B44AE81D33B}"/>
              </a:ext>
            </a:extLst>
          </p:cNvPr>
          <p:cNvSpPr/>
          <p:nvPr/>
        </p:nvSpPr>
        <p:spPr>
          <a:xfrm>
            <a:off x="8231772" y="1690688"/>
            <a:ext cx="1519989" cy="132556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Firmware File?</a:t>
            </a:r>
          </a:p>
        </p:txBody>
      </p:sp>
      <p:sp>
        <p:nvSpPr>
          <p:cNvPr id="18" name="Cloud 17">
            <a:extLst>
              <a:ext uri="{FF2B5EF4-FFF2-40B4-BE49-F238E27FC236}">
                <a16:creationId xmlns:a16="http://schemas.microsoft.com/office/drawing/2014/main" id="{851EE052-A729-E78F-F675-A04EC02F1C6F}"/>
              </a:ext>
            </a:extLst>
          </p:cNvPr>
          <p:cNvSpPr/>
          <p:nvPr/>
        </p:nvSpPr>
        <p:spPr>
          <a:xfrm>
            <a:off x="3665423" y="4193628"/>
            <a:ext cx="2571320" cy="143570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Internet (better?)</a:t>
            </a:r>
          </a:p>
        </p:txBody>
      </p:sp>
    </p:spTree>
    <p:extLst>
      <p:ext uri="{BB962C8B-B14F-4D97-AF65-F5344CB8AC3E}">
        <p14:creationId xmlns:p14="http://schemas.microsoft.com/office/powerpoint/2010/main" val="413242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25450-13A3-12C5-9D35-BBD8D3B37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2602-5B82-0289-EFB7-E486F48C2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Less Useful Public/Private Key Operation?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A69F2D-0EBE-64CE-0487-58022B363EBB}"/>
              </a:ext>
            </a:extLst>
          </p:cNvPr>
          <p:cNvSpPr/>
          <p:nvPr/>
        </p:nvSpPr>
        <p:spPr>
          <a:xfrm>
            <a:off x="1731145" y="2290439"/>
            <a:ext cx="2036457" cy="11385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Encrypt Operation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76C68D-9717-F981-4089-F0FD083EDDA7}"/>
              </a:ext>
            </a:extLst>
          </p:cNvPr>
          <p:cNvSpPr/>
          <p:nvPr/>
        </p:nvSpPr>
        <p:spPr>
          <a:xfrm>
            <a:off x="6387943" y="2290439"/>
            <a:ext cx="2036457" cy="113856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Decrypt Operation</a:t>
            </a:r>
          </a:p>
        </p:txBody>
      </p:sp>
      <p:sp>
        <p:nvSpPr>
          <p:cNvPr id="6" name="Flowchart: Document 5">
            <a:extLst>
              <a:ext uri="{FF2B5EF4-FFF2-40B4-BE49-F238E27FC236}">
                <a16:creationId xmlns:a16="http://schemas.microsoft.com/office/drawing/2014/main" id="{15E095BA-134D-625A-3587-0CF468641BCF}"/>
              </a:ext>
            </a:extLst>
          </p:cNvPr>
          <p:cNvSpPr/>
          <p:nvPr/>
        </p:nvSpPr>
        <p:spPr>
          <a:xfrm>
            <a:off x="2185608" y="4028750"/>
            <a:ext cx="1127530" cy="749395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Private Key</a:t>
            </a:r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968A6585-0942-E0B5-5850-B91B6406C602}"/>
              </a:ext>
            </a:extLst>
          </p:cNvPr>
          <p:cNvSpPr/>
          <p:nvPr/>
        </p:nvSpPr>
        <p:spPr>
          <a:xfrm>
            <a:off x="6842406" y="4028750"/>
            <a:ext cx="1127530" cy="749395"/>
          </a:xfrm>
          <a:prstGeom prst="flowChartDocumen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Public Key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4743B66-C09F-1F4F-7531-9ECD17EE0D4B}"/>
              </a:ext>
            </a:extLst>
          </p:cNvPr>
          <p:cNvCxnSpPr>
            <a:endCxn id="4" idx="1"/>
          </p:cNvCxnSpPr>
          <p:nvPr/>
        </p:nvCxnSpPr>
        <p:spPr>
          <a:xfrm>
            <a:off x="556890" y="2859719"/>
            <a:ext cx="1174255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AF9DF0-DB59-B682-C38C-033A3599B168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767602" y="2859718"/>
            <a:ext cx="2620341" cy="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090205E-8190-7A03-FBD4-9070BE1E5CE1}"/>
              </a:ext>
            </a:extLst>
          </p:cNvPr>
          <p:cNvCxnSpPr/>
          <p:nvPr/>
        </p:nvCxnSpPr>
        <p:spPr>
          <a:xfrm>
            <a:off x="8424400" y="2859718"/>
            <a:ext cx="1174255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94160E1-F78C-2DFB-D099-8ED291FC788E}"/>
              </a:ext>
            </a:extLst>
          </p:cNvPr>
          <p:cNvSpPr txBox="1"/>
          <p:nvPr/>
        </p:nvSpPr>
        <p:spPr>
          <a:xfrm>
            <a:off x="618065" y="2441476"/>
            <a:ext cx="1051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1238907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65A631-0A85-4007-5B8B-E56E18A8D65D}"/>
              </a:ext>
            </a:extLst>
          </p:cNvPr>
          <p:cNvSpPr txBox="1"/>
          <p:nvPr/>
        </p:nvSpPr>
        <p:spPr>
          <a:xfrm>
            <a:off x="8546751" y="2441476"/>
            <a:ext cx="1051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1238907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D5C86A-9D37-30B7-F17D-57C634A57600}"/>
              </a:ext>
            </a:extLst>
          </p:cNvPr>
          <p:cNvSpPr txBox="1"/>
          <p:nvPr/>
        </p:nvSpPr>
        <p:spPr>
          <a:xfrm>
            <a:off x="4184983" y="2490386"/>
            <a:ext cx="1513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0xF00DBABE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7AF788-FAEF-0C18-FA5A-344319B319A0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2749373" y="3429000"/>
            <a:ext cx="1" cy="5997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427DBE-23E0-C6B9-ECD8-C43F7DBF5ED8}"/>
              </a:ext>
            </a:extLst>
          </p:cNvPr>
          <p:cNvCxnSpPr>
            <a:cxnSpLocks/>
          </p:cNvCxnSpPr>
          <p:nvPr/>
        </p:nvCxnSpPr>
        <p:spPr>
          <a:xfrm flipV="1">
            <a:off x="7392863" y="3429000"/>
            <a:ext cx="1" cy="59975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903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0ADCA-9B92-DE5C-34C1-C8142611B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B4A5C-5DA7-49E7-59A4-A93040749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Public / Private Key for Signing</a:t>
            </a:r>
          </a:p>
        </p:txBody>
      </p:sp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D0057B79-05F8-1B0D-D027-16157FC03258}"/>
              </a:ext>
            </a:extLst>
          </p:cNvPr>
          <p:cNvSpPr/>
          <p:nvPr/>
        </p:nvSpPr>
        <p:spPr>
          <a:xfrm>
            <a:off x="838199" y="1690688"/>
            <a:ext cx="1519989" cy="132556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Firmware File (500MB)</a:t>
            </a:r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9FFAA986-944F-FC29-DC78-BE6493790915}"/>
              </a:ext>
            </a:extLst>
          </p:cNvPr>
          <p:cNvSpPr/>
          <p:nvPr/>
        </p:nvSpPr>
        <p:spPr>
          <a:xfrm>
            <a:off x="838199" y="3173445"/>
            <a:ext cx="1519989" cy="1168369"/>
          </a:xfrm>
          <a:prstGeom prst="flowChartDocumen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Encrypted Hash (2048 Bytes)</a:t>
            </a:r>
          </a:p>
        </p:txBody>
      </p:sp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0FC4B974-970B-F0A2-A117-4A42BA1C6548}"/>
              </a:ext>
            </a:extLst>
          </p:cNvPr>
          <p:cNvSpPr/>
          <p:nvPr/>
        </p:nvSpPr>
        <p:spPr>
          <a:xfrm>
            <a:off x="838199" y="4499008"/>
            <a:ext cx="1519988" cy="853385"/>
          </a:xfrm>
          <a:prstGeom prst="flowChartDocumen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Private Key</a:t>
            </a:r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086AFFC7-0329-91B9-8C33-923ABF7DE641}"/>
              </a:ext>
            </a:extLst>
          </p:cNvPr>
          <p:cNvSpPr/>
          <p:nvPr/>
        </p:nvSpPr>
        <p:spPr>
          <a:xfrm>
            <a:off x="3665424" y="1801432"/>
            <a:ext cx="2571320" cy="2083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Internet (bad?)</a:t>
            </a:r>
          </a:p>
        </p:txBody>
      </p:sp>
      <p:sp>
        <p:nvSpPr>
          <p:cNvPr id="17" name="Flowchart: Document 16">
            <a:extLst>
              <a:ext uri="{FF2B5EF4-FFF2-40B4-BE49-F238E27FC236}">
                <a16:creationId xmlns:a16="http://schemas.microsoft.com/office/drawing/2014/main" id="{86F71685-07F2-B7A7-853C-6D6A4C0E81D9}"/>
              </a:ext>
            </a:extLst>
          </p:cNvPr>
          <p:cNvSpPr/>
          <p:nvPr/>
        </p:nvSpPr>
        <p:spPr>
          <a:xfrm>
            <a:off x="7471777" y="1690688"/>
            <a:ext cx="1519989" cy="132556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Firmware File?</a:t>
            </a:r>
          </a:p>
        </p:txBody>
      </p:sp>
      <p:sp>
        <p:nvSpPr>
          <p:cNvPr id="18" name="Cloud 17">
            <a:extLst>
              <a:ext uri="{FF2B5EF4-FFF2-40B4-BE49-F238E27FC236}">
                <a16:creationId xmlns:a16="http://schemas.microsoft.com/office/drawing/2014/main" id="{ADCBC2B5-48CB-B77B-F650-042743F48DE5}"/>
              </a:ext>
            </a:extLst>
          </p:cNvPr>
          <p:cNvSpPr/>
          <p:nvPr/>
        </p:nvSpPr>
        <p:spPr>
          <a:xfrm>
            <a:off x="3665423" y="4193628"/>
            <a:ext cx="2571320" cy="143570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Internet (better?)</a:t>
            </a:r>
          </a:p>
        </p:txBody>
      </p:sp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670185FA-5711-8F2B-152D-ECF441051225}"/>
              </a:ext>
            </a:extLst>
          </p:cNvPr>
          <p:cNvSpPr/>
          <p:nvPr/>
        </p:nvSpPr>
        <p:spPr>
          <a:xfrm>
            <a:off x="7471777" y="3360584"/>
            <a:ext cx="1519989" cy="1168369"/>
          </a:xfrm>
          <a:prstGeom prst="flowChartDocumen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Encrypted Hash ? (2048 Bytes)</a:t>
            </a:r>
          </a:p>
        </p:txBody>
      </p:sp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9016AB55-5A62-F0B6-36D1-94254FE98AA8}"/>
              </a:ext>
            </a:extLst>
          </p:cNvPr>
          <p:cNvSpPr/>
          <p:nvPr/>
        </p:nvSpPr>
        <p:spPr>
          <a:xfrm>
            <a:off x="7471777" y="4775947"/>
            <a:ext cx="1519988" cy="853385"/>
          </a:xfrm>
          <a:prstGeom prst="flowChartDocumen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Public Key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89AAE2-9AF8-97B0-E8A0-6265D01E52F5}"/>
              </a:ext>
            </a:extLst>
          </p:cNvPr>
          <p:cNvSpPr/>
          <p:nvPr/>
        </p:nvSpPr>
        <p:spPr>
          <a:xfrm>
            <a:off x="9745998" y="3315333"/>
            <a:ext cx="2036457" cy="113856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Decrypt Operation</a:t>
            </a:r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1216969C-877B-B23A-41AE-DCD6544DDAE3}"/>
              </a:ext>
            </a:extLst>
          </p:cNvPr>
          <p:cNvSpPr/>
          <p:nvPr/>
        </p:nvSpPr>
        <p:spPr>
          <a:xfrm>
            <a:off x="10035071" y="5075473"/>
            <a:ext cx="1458310" cy="1003066"/>
          </a:xfrm>
          <a:prstGeom prst="flowChartDocumen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Decrypted Hash (2048 Bytes)</a:t>
            </a:r>
          </a:p>
        </p:txBody>
      </p:sp>
    </p:spTree>
    <p:extLst>
      <p:ext uri="{BB962C8B-B14F-4D97-AF65-F5344CB8AC3E}">
        <p14:creationId xmlns:p14="http://schemas.microsoft.com/office/powerpoint/2010/main" val="2346785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AAD2E-25FF-B324-433F-123EF41B1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524DB-F737-F77B-F0C9-DDB6B705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Public / Private Key for Signing</a:t>
            </a:r>
          </a:p>
        </p:txBody>
      </p:sp>
      <p:sp>
        <p:nvSpPr>
          <p:cNvPr id="17" name="Flowchart: Document 16">
            <a:extLst>
              <a:ext uri="{FF2B5EF4-FFF2-40B4-BE49-F238E27FC236}">
                <a16:creationId xmlns:a16="http://schemas.microsoft.com/office/drawing/2014/main" id="{1F446C3D-58C9-D421-1448-72D054F753C6}"/>
              </a:ext>
            </a:extLst>
          </p:cNvPr>
          <p:cNvSpPr/>
          <p:nvPr/>
        </p:nvSpPr>
        <p:spPr>
          <a:xfrm>
            <a:off x="1394170" y="2103437"/>
            <a:ext cx="1519989" cy="132556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Firmware File?</a:t>
            </a:r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A0F1D684-2956-F1F3-FE15-BE7A891096A6}"/>
              </a:ext>
            </a:extLst>
          </p:cNvPr>
          <p:cNvSpPr/>
          <p:nvPr/>
        </p:nvSpPr>
        <p:spPr>
          <a:xfrm>
            <a:off x="1425009" y="3890304"/>
            <a:ext cx="1458310" cy="1091599"/>
          </a:xfrm>
          <a:prstGeom prst="flowChartDocumen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Decrypted Hash (2048 Bytes)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932F2D-6C20-21D9-7599-E84C6DC7A4CD}"/>
              </a:ext>
            </a:extLst>
          </p:cNvPr>
          <p:cNvSpPr/>
          <p:nvPr/>
        </p:nvSpPr>
        <p:spPr>
          <a:xfrm>
            <a:off x="3715406" y="2196129"/>
            <a:ext cx="1458310" cy="86938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Hash Function</a:t>
            </a:r>
          </a:p>
        </p:txBody>
      </p:sp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2189FDE2-BC1F-E4BE-784F-E938C4B47309}"/>
              </a:ext>
            </a:extLst>
          </p:cNvPr>
          <p:cNvSpPr/>
          <p:nvPr/>
        </p:nvSpPr>
        <p:spPr>
          <a:xfrm>
            <a:off x="6040816" y="2196128"/>
            <a:ext cx="1458310" cy="869385"/>
          </a:xfrm>
          <a:prstGeom prst="flowChartDocumen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Hash (2048 Bytes)</a:t>
            </a:r>
          </a:p>
        </p:txBody>
      </p:sp>
    </p:spTree>
    <p:extLst>
      <p:ext uri="{BB962C8B-B14F-4D97-AF65-F5344CB8AC3E}">
        <p14:creationId xmlns:p14="http://schemas.microsoft.com/office/powerpoint/2010/main" val="230607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D8E41-6890-B04E-99ED-485784C34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 of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40831-2F5C-6335-983C-07BA7027A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Hash the file/message.</a:t>
            </a:r>
          </a:p>
          <a:p>
            <a:r>
              <a:rPr lang="en-CA" dirty="0"/>
              <a:t>Send an encrypted hash which is decrypted by the user.</a:t>
            </a:r>
          </a:p>
          <a:p>
            <a:pPr lvl="1"/>
            <a:r>
              <a:rPr lang="en-CA" dirty="0"/>
              <a:t>Either using a shared key or public/private key pair</a:t>
            </a:r>
          </a:p>
          <a:p>
            <a:r>
              <a:rPr lang="en-CA" dirty="0"/>
              <a:t>This gives the user an expected hash (the one the sender “authorized”).</a:t>
            </a:r>
          </a:p>
          <a:p>
            <a:r>
              <a:rPr lang="en-CA" dirty="0"/>
              <a:t>The user can then calculate the </a:t>
            </a:r>
            <a:r>
              <a:rPr lang="en-CA" dirty="0" err="1"/>
              <a:t>acutal</a:t>
            </a:r>
            <a:r>
              <a:rPr lang="en-CA" dirty="0"/>
              <a:t> hash of the file/message.</a:t>
            </a:r>
          </a:p>
          <a:p>
            <a:r>
              <a:rPr lang="en-CA" dirty="0"/>
              <a:t>If they match then the file was “signed” by someone with the private key in question.</a:t>
            </a:r>
          </a:p>
        </p:txBody>
      </p:sp>
    </p:spTree>
    <p:extLst>
      <p:ext uri="{BB962C8B-B14F-4D97-AF65-F5344CB8AC3E}">
        <p14:creationId xmlns:p14="http://schemas.microsoft.com/office/powerpoint/2010/main" val="990524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56774-4497-9BA0-219D-1FB1DB313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Simple Example in Python using </a:t>
            </a:r>
            <a:r>
              <a:rPr lang="en-CA" u="sng" dirty="0"/>
              <a:t>shared key (symmetric)</a:t>
            </a:r>
            <a:r>
              <a:rPr lang="en-CA" dirty="0"/>
              <a:t> encryption (AES)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1A458-7FAB-4EB4-CEEC-CEAB50E95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The following link is left in the slides for reference – I'll show you this after the next slide set where I introduce AES: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>
                <a:hlinkClick r:id="rId2"/>
              </a:rPr>
              <a:t>https://colab.research.google.com/drive/1lTBrFC4JzItIIqCrVEvpVjlDIDsp6GU7?usp=sharing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05916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44B8F-ABE0-4DDE-995B-53FB151C7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Key Repositories??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F1F0-8A10-42EF-B598-455948EE9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is the public key transmitted??</a:t>
            </a:r>
          </a:p>
          <a:p>
            <a:endParaRPr lang="en-US" dirty="0"/>
          </a:p>
          <a:p>
            <a:r>
              <a:rPr lang="en-US" dirty="0"/>
              <a:t>As this is public was sometimes simply broadcast (less likely to be intercepted), posted on websites, etc.</a:t>
            </a:r>
          </a:p>
          <a:p>
            <a:endParaRPr lang="en-US" dirty="0"/>
          </a:p>
          <a:p>
            <a:r>
              <a:rPr lang="en-US" dirty="0"/>
              <a:t>IoT devices may have preprogrammed manufacturer public keys (only trust firmware signed by this key).</a:t>
            </a:r>
          </a:p>
          <a:p>
            <a:endParaRPr lang="en-US" dirty="0"/>
          </a:p>
          <a:p>
            <a:r>
              <a:rPr lang="en-US" dirty="0"/>
              <a:t>On the internet we have chains of trust based on a root public key.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591153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3E518-84A8-4BC2-817B-340536EDD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Summary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11E2C-53B7-4EFE-BF35-EC64B737C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Authentication is a critical aspect of cryptographic solutions.</a:t>
            </a:r>
          </a:p>
          <a:p>
            <a:endParaRPr lang="en-US" dirty="0"/>
          </a:p>
          <a:p>
            <a:r>
              <a:rPr lang="en-US" dirty="0"/>
              <a:t>Combining authentication with integrity &amp; confidentially provides us with a way of securely transmitting data, while trusting the source of the data, and that is has not </a:t>
            </a:r>
            <a:r>
              <a:rPr lang="en-US"/>
              <a:t>been modified.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7613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1670</TotalTime>
  <Words>970</Words>
  <Application>Microsoft Office PowerPoint</Application>
  <PresentationFormat>Widescreen</PresentationFormat>
  <Paragraphs>182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0x302 – Authentication</vt:lpstr>
      <vt:lpstr>What are we authenticating?</vt:lpstr>
      <vt:lpstr>What are we authenticating?</vt:lpstr>
      <vt:lpstr>Human Authentication Factors</vt:lpstr>
      <vt:lpstr>Password Based Authentication</vt:lpstr>
      <vt:lpstr>Password Storage</vt:lpstr>
      <vt:lpstr>e.g., Checking Passwords</vt:lpstr>
      <vt:lpstr>Password Storage Attempt #1</vt:lpstr>
      <vt:lpstr>Sidenotes: HEX / Base64</vt:lpstr>
      <vt:lpstr>Password Checking with Hashes</vt:lpstr>
      <vt:lpstr>Attacks on Hashes</vt:lpstr>
      <vt:lpstr>Preventing Rainbow Table Usage</vt:lpstr>
      <vt:lpstr>e.g., Salt Example</vt:lpstr>
      <vt:lpstr>Password Checking with Salt+Hashes</vt:lpstr>
      <vt:lpstr>Salt Properties</vt:lpstr>
      <vt:lpstr>General Cryptographic Authentication</vt:lpstr>
      <vt:lpstr>Shared Key Example – Checking Random #</vt:lpstr>
      <vt:lpstr>Shared Key Example – 2-Way Authentication</vt:lpstr>
      <vt:lpstr>Message Authentication Code</vt:lpstr>
      <vt:lpstr>Public / Private Key Pairs</vt:lpstr>
      <vt:lpstr>E.g., Normal Public / Private Example</vt:lpstr>
      <vt:lpstr>E.g., Simple Public / Private Example</vt:lpstr>
      <vt:lpstr>Less Useful Public/Private Key Operation?</vt:lpstr>
      <vt:lpstr>Public / Private Key for Signing</vt:lpstr>
      <vt:lpstr>Public / Private Key for Signing</vt:lpstr>
      <vt:lpstr>Public / Private Key for Signing</vt:lpstr>
      <vt:lpstr>Less Useful Public/Private Key Operation?</vt:lpstr>
      <vt:lpstr>Public / Private Key for Signing</vt:lpstr>
      <vt:lpstr>Public / Private Key for Signing</vt:lpstr>
      <vt:lpstr>Summary of Steps</vt:lpstr>
      <vt:lpstr>Simple Example in Python using shared key (symmetric) encryption (AES)</vt:lpstr>
      <vt:lpstr>Public Key Repositories??</vt:lpstr>
      <vt:lpstr>Authentication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0x101 – Security in History Basic Ciphers</dc:title>
  <dc:creator>Colin O'Flynn</dc:creator>
  <cp:lastModifiedBy>Colin O'Flynn</cp:lastModifiedBy>
  <cp:revision>30</cp:revision>
  <dcterms:created xsi:type="dcterms:W3CDTF">2020-09-07T18:26:19Z</dcterms:created>
  <dcterms:modified xsi:type="dcterms:W3CDTF">2026-02-10T01:07:12Z</dcterms:modified>
</cp:coreProperties>
</file>