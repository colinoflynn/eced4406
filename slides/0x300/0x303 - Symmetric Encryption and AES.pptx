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82" y="16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220A-DA9B-4BBC-9C75-C66D46F5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D5431-D5FF-44BE-B0B0-08FB98FE7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5585-26EB-401F-A580-C4F7CFA4C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0C38E-E9B1-4C96-BCC8-D99371EE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FE22-3A5F-4449-8898-C66D8358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485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5B47-2EC6-48BC-8DD6-BE05C4B2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669D-0B7F-4A86-AD0D-C7F8D5192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4E3D-C639-4A52-BBD4-457536FB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56922-F240-4EF3-905E-B9DFB257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5727-CADB-4DD6-9046-F1100897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628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3CCD-9691-4A96-A2D6-D1F53F47F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3C4D3-7251-48A1-AEDE-AEBC7EF1E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3DB80-1867-4ABC-85FB-CF546D13A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0258E-3BB7-41C5-B0BC-F8716E7B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DF5B-5B74-46CE-A56F-B633CC5AA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26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1F6C-47D6-4523-87B1-1626B966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1AB54-B5F7-4311-8217-7E3769EF6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E7B8C-B146-4CDF-B078-67A0EE6B5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80579-953F-4F41-9BCB-8913DA946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92BE6-7135-4CB5-89D6-9D9981B1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242C2-51E3-4A35-BCB5-C5A81A8C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0180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11A-42A7-412D-87FB-8315E9A58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68DD-1E3F-4BDF-BCA1-21F3F3974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8E27-D17C-4926-901B-318C040F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90821-6708-4581-975E-3C87A0BA4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D402B-EF6B-4F04-AE9E-58C2D99BA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4E8121-22E9-4C44-AF20-BE1527F90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7DF95B-32D7-4CA8-8D6A-2442FE5B4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7E430E-0801-4874-BE8C-20D10F99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7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5966-06AD-400E-803A-2830E6518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4EF1C0-915C-4F9F-B6F8-34FCB214F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A5FAA9-7427-4017-B7F1-61B7297C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716EB0-0C9E-48B1-A388-ABAF8F8ED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885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D9000-27FD-4772-AF4D-93E6A13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FBBA7F-CEF3-4200-9B6F-C133A8B7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EDEE6-91DB-4D62-A790-7E8D5FE2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780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8A595-FB8D-48BF-85CD-0BED13D35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4A508-8447-429A-8E55-874ACAB9C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A9D00-96A5-496F-95ED-A1A592E0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FD5-86B6-46A2-81D4-A588B9F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3C5D8-6C81-46B1-A974-BD2FD2E6E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0BC5-C9A0-434E-9706-6FD8EF18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463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36A5-2E6F-451C-BD8A-BBCB3B1F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05540-3B4E-4D31-B0A6-4FC713EE4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3EB517-C45B-4940-9B06-4E1F55F5D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53D7-E620-495E-8001-F6989DD33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68ACD-B2F0-476E-BD8F-8EB76C9BF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C4F2B-D316-4097-AE06-FA388F80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664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4F19-5B91-4971-9D24-A632D22A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3F3CFF-4A4B-43E2-BFF5-AE6529185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52F4D-E9D6-4D7B-ABCA-577B628FC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47111-CDAF-464F-BD09-99452F60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E59C-78F6-4935-AE8B-E3198D8C0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54299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604A56-5CB4-4BC7-BA72-37EC50C12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07CFD4-6E1D-4973-B922-472C9FB23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01650-46DF-43FB-9A3B-A5CD84F4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F020A-FC80-49E5-9363-F5144731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B1F3C-7EF7-4710-84AF-B799B3DD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7952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9802F1-E657-4CF1-BD6A-4EFC93A2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7A822-0EBA-48C7-A780-CD8AE4CE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F5F9-0F07-4041-936C-F6A72F13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D57D4-96EB-485F-885D-A03F9F5EA4CF}" type="datetimeFigureOut">
              <a:rPr lang="en-CA" smtClean="0"/>
              <a:t>2026-02-11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0C3-4B15-4785-B413-CFEA33C508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7811E-C073-4268-BAEF-6F604A18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07C55-DE05-4A86-BC70-31208D07C5A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3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0x303 – Symmetric </a:t>
            </a:r>
            <a:r>
              <a:rPr lang="en-CA" dirty="0"/>
              <a:t>Encryption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BB6C-57F1-45E5-A39F-023A6265F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Symmetry?</a:t>
            </a:r>
            <a:endParaRPr lang="en-CA" dirty="0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8C40F2D3-741B-43A1-9FB6-216DD87DDB04}"/>
              </a:ext>
            </a:extLst>
          </p:cNvPr>
          <p:cNvSpPr/>
          <p:nvPr/>
        </p:nvSpPr>
        <p:spPr>
          <a:xfrm>
            <a:off x="3062869" y="1690688"/>
            <a:ext cx="4482790" cy="4319239"/>
          </a:xfrm>
          <a:prstGeom prst="smileyFac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ECB9A0-D31A-4BEB-B609-872F04FF46DA}"/>
              </a:ext>
            </a:extLst>
          </p:cNvPr>
          <p:cNvCxnSpPr>
            <a:cxnSpLocks/>
          </p:cNvCxnSpPr>
          <p:nvPr/>
        </p:nvCxnSpPr>
        <p:spPr>
          <a:xfrm>
            <a:off x="5304264" y="1159727"/>
            <a:ext cx="0" cy="539719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3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C4D1-1AE5-4896-BBFD-D2FCC1062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Encryption</a:t>
            </a:r>
            <a:endParaRPr lang="en-CA" dirty="0"/>
          </a:p>
        </p:txBody>
      </p:sp>
      <p:pic>
        <p:nvPicPr>
          <p:cNvPr id="3074" name="Picture 2" descr="Why Automotive Key Fob Encryption Hacks are Making Headlines | Sectigo®  Official">
            <a:extLst>
              <a:ext uri="{FF2B5EF4-FFF2-40B4-BE49-F238E27FC236}">
                <a16:creationId xmlns:a16="http://schemas.microsoft.com/office/drawing/2014/main" id="{9791C824-F5C0-453D-AFF5-FA18FDFCE9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33" y="1690688"/>
            <a:ext cx="7450743" cy="389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0E65C0-9629-41B6-B72E-9F053E07A14C}"/>
              </a:ext>
            </a:extLst>
          </p:cNvPr>
          <p:cNvSpPr txBox="1"/>
          <p:nvPr/>
        </p:nvSpPr>
        <p:spPr>
          <a:xfrm>
            <a:off x="8415454" y="2029521"/>
            <a:ext cx="3352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Symmetric encryption means the same key can perform both encryption &amp; decryption.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Normally the algorithm for encryption &amp; decryption are “mirrors”, but this isn’t a requirement.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8575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4D99-ACE0-4141-A84B-A6D1E1BA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Downsides of Symmetric Encryption?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01DDE-6BDE-42D8-B51B-9553BD223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sides know the secret key – impossible to determine which side encrypted a message.</a:t>
            </a:r>
          </a:p>
          <a:p>
            <a:endParaRPr lang="en-US" dirty="0"/>
          </a:p>
          <a:p>
            <a:r>
              <a:rPr lang="en-US" dirty="0"/>
              <a:t>Need a secure channel to transmit the secret key between sides to start with.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943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D27F-5D0F-4E9F-99AC-C8B52B01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Symmetric Encryption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B8280-3FD5-4A88-82C5-5A511AB46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Generally, the design of symmetric encryption algorithms allows them to be:</a:t>
            </a:r>
          </a:p>
          <a:p>
            <a:pPr lvl="1"/>
            <a:r>
              <a:rPr lang="en-US" dirty="0"/>
              <a:t>Very fast</a:t>
            </a:r>
          </a:p>
          <a:p>
            <a:pPr lvl="2"/>
            <a:r>
              <a:rPr lang="en-US" dirty="0"/>
              <a:t>Think encrypting/decrypting your disk drive, encryption/decryption data on a network, etc.</a:t>
            </a:r>
          </a:p>
          <a:p>
            <a:pPr lvl="1"/>
            <a:r>
              <a:rPr lang="en-US" dirty="0"/>
              <a:t>Fairly “small” in terms of code or hardware area.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8542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24B43-EFD0-448F-80B6-4C672A7B0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58847-5032-4434-9018-09C9682BE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symmetric encryption ciphers are </a:t>
            </a:r>
            <a:r>
              <a:rPr lang="en-US" i="1" dirty="0"/>
              <a:t>block ciphers</a:t>
            </a:r>
            <a:r>
              <a:rPr lang="en-US" dirty="0"/>
              <a:t>.</a:t>
            </a:r>
          </a:p>
          <a:p>
            <a:r>
              <a:rPr lang="en-CA" dirty="0"/>
              <a:t>This always works on a fixed sized </a:t>
            </a:r>
            <a:r>
              <a:rPr lang="en-CA" b="1" dirty="0"/>
              <a:t>block</a:t>
            </a:r>
            <a:r>
              <a:rPr lang="en-CA" dirty="0"/>
              <a:t> (say, 16 bytes).</a:t>
            </a:r>
          </a:p>
          <a:p>
            <a:r>
              <a:rPr lang="en-CA" dirty="0"/>
              <a:t>Encrypting more than the block size requires multiple runs.</a:t>
            </a:r>
          </a:p>
          <a:p>
            <a:r>
              <a:rPr lang="en-CA" dirty="0"/>
              <a:t>Encryption less than the block size requires </a:t>
            </a:r>
            <a:r>
              <a:rPr lang="en-CA" b="1" dirty="0"/>
              <a:t>padding</a:t>
            </a:r>
            <a:r>
              <a:rPr lang="en-CA" dirty="0"/>
              <a:t> the input to be the full block size (the algorithms cannot work on smaller inputs).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EA267-4E34-49B3-A17F-CEE258C9AE68}"/>
              </a:ext>
            </a:extLst>
          </p:cNvPr>
          <p:cNvSpPr/>
          <p:nvPr/>
        </p:nvSpPr>
        <p:spPr>
          <a:xfrm>
            <a:off x="951570" y="4980878"/>
            <a:ext cx="4267200" cy="579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 DATA</a:t>
            </a:r>
            <a:endParaRPr lang="en-C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B3C9F9-2BA8-44CF-80ED-A5CB1C3252E5}"/>
              </a:ext>
            </a:extLst>
          </p:cNvPr>
          <p:cNvSpPr/>
          <p:nvPr/>
        </p:nvSpPr>
        <p:spPr>
          <a:xfrm>
            <a:off x="951570" y="5787077"/>
            <a:ext cx="973874" cy="579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en-CA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124D3-B3BE-449C-91E4-34AB1522DC0B}"/>
              </a:ext>
            </a:extLst>
          </p:cNvPr>
          <p:cNvSpPr/>
          <p:nvPr/>
        </p:nvSpPr>
        <p:spPr>
          <a:xfrm>
            <a:off x="1925444" y="5787077"/>
            <a:ext cx="973874" cy="579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en-CA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2BDB5F-F0ED-4FDA-B41E-155A6E968933}"/>
              </a:ext>
            </a:extLst>
          </p:cNvPr>
          <p:cNvSpPr/>
          <p:nvPr/>
        </p:nvSpPr>
        <p:spPr>
          <a:xfrm>
            <a:off x="2899318" y="5787077"/>
            <a:ext cx="973874" cy="579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en-CA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A0F652-E129-4CCB-B1DA-3246B809D7CF}"/>
              </a:ext>
            </a:extLst>
          </p:cNvPr>
          <p:cNvSpPr/>
          <p:nvPr/>
        </p:nvSpPr>
        <p:spPr>
          <a:xfrm>
            <a:off x="3873192" y="5777987"/>
            <a:ext cx="973874" cy="579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en-CA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A3A913-4808-4D85-9AA5-0697DB52D8D4}"/>
              </a:ext>
            </a:extLst>
          </p:cNvPr>
          <p:cNvSpPr/>
          <p:nvPr/>
        </p:nvSpPr>
        <p:spPr>
          <a:xfrm>
            <a:off x="4845203" y="5782110"/>
            <a:ext cx="973874" cy="579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  <a:endParaRPr lang="en-CA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8A80AB-1695-45AA-9919-2BBC526CA6EB}"/>
              </a:ext>
            </a:extLst>
          </p:cNvPr>
          <p:cNvSpPr/>
          <p:nvPr/>
        </p:nvSpPr>
        <p:spPr>
          <a:xfrm>
            <a:off x="5218770" y="4980878"/>
            <a:ext cx="600307" cy="579863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141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3370-6F30-4F76-B68C-7BB8FA5C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Steam Cipher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DF0D-F0B3-4AEF-B206-AF8F829CF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3351"/>
          </a:xfrm>
        </p:spPr>
        <p:txBody>
          <a:bodyPr/>
          <a:lstStyle/>
          <a:p>
            <a:r>
              <a:rPr lang="en-US" dirty="0"/>
              <a:t>Stream ciphers work by encrypting a “byte at a time”, as the data comes.</a:t>
            </a:r>
          </a:p>
          <a:p>
            <a:endParaRPr lang="en-US" dirty="0"/>
          </a:p>
          <a:p>
            <a:r>
              <a:rPr lang="en-US" dirty="0"/>
              <a:t>Almost </a:t>
            </a:r>
            <a:r>
              <a:rPr lang="en-US" i="1" dirty="0"/>
              <a:t>all</a:t>
            </a:r>
            <a:r>
              <a:rPr lang="en-US" dirty="0"/>
              <a:t> stream ciphers work by generating a “key stream”, which is </a:t>
            </a:r>
            <a:r>
              <a:rPr lang="en-US" dirty="0" err="1"/>
              <a:t>XOR’d</a:t>
            </a:r>
            <a:r>
              <a:rPr lang="en-US" dirty="0"/>
              <a:t> with the plaintext to generate the ciphertext.</a:t>
            </a:r>
          </a:p>
          <a:p>
            <a:endParaRPr lang="en-C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3C8AC8C-7020-41A3-BAD1-E69C4EF10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514" y="4348976"/>
            <a:ext cx="4709793" cy="2102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73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5CCB-6BE1-4EA5-9997-611FBE3BA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Specifications of Symmetric Algorithms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95896-4C49-4E88-8239-EE4922783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Dependent:</a:t>
            </a:r>
          </a:p>
          <a:p>
            <a:pPr lvl="1"/>
            <a:r>
              <a:rPr lang="en-US" dirty="0"/>
              <a:t>Block Size </a:t>
            </a:r>
            <a:r>
              <a:rPr lang="en-US" dirty="0">
                <a:sym typeface="Wingdings" panose="05000000000000000000" pitchFamily="2" charset="2"/>
              </a:rPr>
              <a:t> i.e., 128-bit (16 byte).</a:t>
            </a:r>
            <a:endParaRPr lang="en-US" dirty="0"/>
          </a:p>
          <a:p>
            <a:pPr lvl="1"/>
            <a:r>
              <a:rPr lang="en-US" dirty="0"/>
              <a:t>Key Size -&gt; i.e., 128-bit (16 bytes), 256-bit (32 bytes).</a:t>
            </a:r>
          </a:p>
          <a:p>
            <a:pPr lvl="1"/>
            <a:endParaRPr lang="en-US" dirty="0"/>
          </a:p>
          <a:p>
            <a:r>
              <a:rPr lang="en-US" dirty="0"/>
              <a:t>Implementation Dependent:</a:t>
            </a:r>
          </a:p>
          <a:p>
            <a:pPr lvl="1"/>
            <a:r>
              <a:rPr lang="en-US" dirty="0"/>
              <a:t>Bytes encrypted per clock cycle, or Mbytes/second</a:t>
            </a:r>
          </a:p>
          <a:p>
            <a:pPr lvl="2"/>
            <a:r>
              <a:rPr lang="en-US" dirty="0"/>
              <a:t>i.e., an algorithm encrypts one block (16 bytes) in 300 clock cycles of the microcontroller.</a:t>
            </a:r>
          </a:p>
          <a:p>
            <a:pPr lvl="2"/>
            <a:r>
              <a:rPr lang="en-US" dirty="0"/>
              <a:t>16/300 = 0.05333 bytes/cycle</a:t>
            </a:r>
          </a:p>
          <a:p>
            <a:pPr lvl="2"/>
            <a:r>
              <a:rPr lang="en-US" dirty="0"/>
              <a:t>If device runs at 200 MHz:</a:t>
            </a:r>
          </a:p>
          <a:p>
            <a:pPr lvl="2"/>
            <a:r>
              <a:rPr lang="en-US" dirty="0"/>
              <a:t>0.05333 * 200E6 = 10.67 Mbytes/second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7704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B63F-6CE3-476D-ADAE-A472E8D8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Symmetric Algorithms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FD84A-2B7E-47AC-8368-B53D40201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is symmetric if the </a:t>
            </a:r>
            <a:r>
              <a:rPr lang="en-US" u="sng" dirty="0"/>
              <a:t>same key is used for encryption &amp; decryption</a:t>
            </a:r>
            <a:r>
              <a:rPr lang="en-US" i="1" dirty="0"/>
              <a:t>.</a:t>
            </a:r>
            <a:endParaRPr lang="en-CA" i="1" dirty="0"/>
          </a:p>
          <a:p>
            <a:endParaRPr lang="en-CA" i="1" dirty="0"/>
          </a:p>
          <a:p>
            <a:r>
              <a:rPr lang="en-CA" dirty="0"/>
              <a:t>Examples of symmetric algorithms:</a:t>
            </a:r>
          </a:p>
          <a:p>
            <a:pPr lvl="1"/>
            <a:r>
              <a:rPr lang="en-CA" dirty="0"/>
              <a:t>AES</a:t>
            </a:r>
          </a:p>
          <a:p>
            <a:pPr lvl="1"/>
            <a:r>
              <a:rPr lang="en-CA" dirty="0"/>
              <a:t>DES</a:t>
            </a:r>
          </a:p>
          <a:p>
            <a:pPr lvl="1"/>
            <a:r>
              <a:rPr lang="en-CA" dirty="0"/>
              <a:t>3DES</a:t>
            </a:r>
          </a:p>
          <a:p>
            <a:pPr lvl="1"/>
            <a:r>
              <a:rPr lang="en-CA" dirty="0"/>
              <a:t>RC4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787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178DC-8AC8-4DC0-8037-B1184D27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Encryption Standard (AES)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2ACF60-E6CB-46C6-8CFC-BA23E1730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68" y="1434077"/>
            <a:ext cx="5942454" cy="54239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ED2A26-BA56-4499-83F5-D3BB566BC437}"/>
              </a:ext>
            </a:extLst>
          </p:cNvPr>
          <p:cNvSpPr txBox="1"/>
          <p:nvPr/>
        </p:nvSpPr>
        <p:spPr>
          <a:xfrm>
            <a:off x="6601522" y="1776761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AES takes </a:t>
            </a:r>
            <a:r>
              <a:rPr lang="en-US" b="1" dirty="0"/>
              <a:t>16 bytes of input</a:t>
            </a:r>
            <a:r>
              <a:rPr lang="en-US" dirty="0"/>
              <a:t>.</a:t>
            </a:r>
          </a:p>
          <a:p>
            <a:r>
              <a:rPr lang="en-US" dirty="0"/>
              <a:t>AES generates </a:t>
            </a:r>
            <a:r>
              <a:rPr lang="en-US" b="1" dirty="0"/>
              <a:t>16 bytes of output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The block size of AES is </a:t>
            </a:r>
            <a:r>
              <a:rPr lang="en-US" b="1" i="1" dirty="0"/>
              <a:t>always</a:t>
            </a:r>
            <a:r>
              <a:rPr lang="en-US" b="1" dirty="0"/>
              <a:t> 16 bytes.</a:t>
            </a:r>
            <a:endParaRPr lang="en-CA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2BF241-1054-4ED0-BFCE-5086909529E0}"/>
              </a:ext>
            </a:extLst>
          </p:cNvPr>
          <p:cNvSpPr txBox="1"/>
          <p:nvPr/>
        </p:nvSpPr>
        <p:spPr>
          <a:xfrm>
            <a:off x="6720468" y="3545873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AES can have one of 3 “key sizes”: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AES-128: 16 bytes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AES-192: 24 bytes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AES-256: 32 bytes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D0F6E-9816-45FA-8B77-AFADB0EE3688}"/>
              </a:ext>
            </a:extLst>
          </p:cNvPr>
          <p:cNvSpPr txBox="1"/>
          <p:nvPr/>
        </p:nvSpPr>
        <p:spPr>
          <a:xfrm>
            <a:off x="6720468" y="5185458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iteration through the loop is called a </a:t>
            </a:r>
            <a:r>
              <a:rPr lang="en-US" i="1" dirty="0"/>
              <a:t>round.</a:t>
            </a:r>
          </a:p>
          <a:p>
            <a:endParaRPr lang="en-US" i="1" dirty="0"/>
          </a:p>
          <a:p>
            <a:r>
              <a:rPr lang="en-US" dirty="0"/>
              <a:t>A </a:t>
            </a:r>
            <a:r>
              <a:rPr lang="en-US" i="1" dirty="0"/>
              <a:t>round</a:t>
            </a:r>
            <a:r>
              <a:rPr lang="en-US" dirty="0"/>
              <a:t> performs the same operations.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5178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lock cipher mode of operation - Wikipedia">
            <a:extLst>
              <a:ext uri="{FF2B5EF4-FFF2-40B4-BE49-F238E27FC236}">
                <a16:creationId xmlns:a16="http://schemas.microsoft.com/office/drawing/2014/main" id="{B52F6231-DF43-4906-83DE-9768C07608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913" y="1553580"/>
            <a:ext cx="9315102" cy="375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24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E7E1-2467-4847-AF6F-074FDDC2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AES-ECB to a Message</a:t>
            </a:r>
            <a:endParaRPr lang="en-CA" dirty="0"/>
          </a:p>
        </p:txBody>
      </p:sp>
      <p:pic>
        <p:nvPicPr>
          <p:cNvPr id="10242" name="Picture 2" descr="The ECB Penguin">
            <a:extLst>
              <a:ext uri="{FF2B5EF4-FFF2-40B4-BE49-F238E27FC236}">
                <a16:creationId xmlns:a16="http://schemas.microsoft.com/office/drawing/2014/main" id="{5EF0347B-FCA0-4B75-B9CA-BF218C178B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8705" y="1855362"/>
            <a:ext cx="369164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94C4BCD6-8A5F-4DD7-9014-EA3796F32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43" y="1855362"/>
            <a:ext cx="3883836" cy="459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6AA81999-B631-43C2-87B4-CF6B696D274C}"/>
              </a:ext>
            </a:extLst>
          </p:cNvPr>
          <p:cNvSpPr/>
          <p:nvPr/>
        </p:nvSpPr>
        <p:spPr>
          <a:xfrm>
            <a:off x="4230029" y="2549912"/>
            <a:ext cx="2282283" cy="3129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AES-ECB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440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0F78-1741-4DD7-911C-DD41CD3E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happened??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DCEFF-C6B0-4D53-8488-900D6E7C9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same data always encrypts to the same data.</a:t>
            </a:r>
          </a:p>
          <a:p>
            <a:r>
              <a:rPr lang="en-US" dirty="0"/>
              <a:t>Overall structure (in this case an image) remains.</a:t>
            </a:r>
          </a:p>
          <a:p>
            <a:r>
              <a:rPr lang="en-US" dirty="0"/>
              <a:t>ECB alone provides little security – if someone figures out what one block means once, it’s game over!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4150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FE71-3B9A-4C28-A6E3-FAF07AA87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Accomplishing an expected image encryption.</a:t>
            </a:r>
            <a:endParaRPr lang="en-CA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3F2330FC-9805-4D07-B2D2-22080A235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286" y="2050759"/>
            <a:ext cx="3245696" cy="3576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DAFA14-A6B6-4E04-AFBD-7C6ECF8A6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643" y="1690688"/>
            <a:ext cx="3883836" cy="459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6A8CD5C9-0BB8-43DA-BA7F-C9598C9EAAFB}"/>
              </a:ext>
            </a:extLst>
          </p:cNvPr>
          <p:cNvSpPr/>
          <p:nvPr/>
        </p:nvSpPr>
        <p:spPr>
          <a:xfrm>
            <a:off x="5449229" y="2385238"/>
            <a:ext cx="2282283" cy="3129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AES-???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2040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DC84C-5977-4C5A-805D-5CC6B16CE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Cipher Block Chaining (CBC)</a:t>
            </a:r>
            <a:endParaRPr lang="en-CA" dirty="0"/>
          </a:p>
        </p:txBody>
      </p:sp>
      <p:pic>
        <p:nvPicPr>
          <p:cNvPr id="14338" name="Picture 2" descr="Cipher block chaining (CBC) mode encryption">
            <a:extLst>
              <a:ext uri="{FF2B5EF4-FFF2-40B4-BE49-F238E27FC236}">
                <a16:creationId xmlns:a16="http://schemas.microsoft.com/office/drawing/2014/main" id="{95BFBD31-B923-41FD-B15C-33B6D30671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699" y="2365549"/>
            <a:ext cx="8433111" cy="340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0621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4ADF-37E8-4505-B350-89CDD0B6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AES-CBC Mode Usage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B9146-0215-49FA-B3F9-71802503D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2224"/>
            <a:ext cx="10515600" cy="3323064"/>
          </a:xfrm>
        </p:spPr>
        <p:txBody>
          <a:bodyPr/>
          <a:lstStyle/>
          <a:p>
            <a:r>
              <a:rPr lang="en-US" dirty="0"/>
              <a:t>In AES-CBC, a random Initialization Vector (IV) is used, which is normally </a:t>
            </a:r>
            <a:r>
              <a:rPr lang="en-US" i="1" dirty="0"/>
              <a:t>not a secret</a:t>
            </a:r>
            <a:r>
              <a:rPr lang="en-US" dirty="0"/>
              <a:t>. The IV must be given to the decryption algorithm.</a:t>
            </a:r>
          </a:p>
          <a:p>
            <a:r>
              <a:rPr lang="en-US" dirty="0"/>
              <a:t>AES-CBC depends on previous ciphertext (cannot decrypt arbitrary blocks without previous block access).</a:t>
            </a:r>
          </a:p>
          <a:p>
            <a:r>
              <a:rPr lang="en-US" dirty="0"/>
              <a:t>AES-CBC in decryption is vulnerable to bit flipping attack:</a:t>
            </a:r>
            <a:endParaRPr lang="en-CA" dirty="0"/>
          </a:p>
        </p:txBody>
      </p:sp>
      <p:pic>
        <p:nvPicPr>
          <p:cNvPr id="15362" name="Picture 2" descr="Cipher block chaining (CBC) mode decryption">
            <a:extLst>
              <a:ext uri="{FF2B5EF4-FFF2-40B4-BE49-F238E27FC236}">
                <a16:creationId xmlns:a16="http://schemas.microsoft.com/office/drawing/2014/main" id="{4082F904-DAB7-447D-86BE-C89F56DE3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519" y="4215161"/>
            <a:ext cx="5715000" cy="23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665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E6E0-60F2-44C4-B443-F6D5F423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Mode</a:t>
            </a:r>
            <a:endParaRPr lang="en-CA" dirty="0"/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498C726F-EAB1-49A2-B2F0-494FA726D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099" y="1882464"/>
            <a:ext cx="9965705" cy="4012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145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FCA1D-D3D4-41BB-8073-9350B17C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Decryption – Same Thing</a:t>
            </a:r>
            <a:endParaRPr lang="en-CA" dirty="0"/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E6F8024C-3939-42F3-AADD-330CA1033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68" y="2046017"/>
            <a:ext cx="9854930" cy="3968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533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95AB3-D015-497A-8960-50CCE491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Mode I.V.?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2B2D6-B484-4D98-A087-9E31948C1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the addition of a Nonce – </a:t>
            </a:r>
            <a:r>
              <a:rPr lang="en-US" b="1" dirty="0"/>
              <a:t>Number Used Once</a:t>
            </a:r>
            <a:endParaRPr lang="en-CA" b="1" dirty="0"/>
          </a:p>
          <a:p>
            <a:r>
              <a:rPr lang="en-CA" dirty="0"/>
              <a:t>What happens if Nonce is re-used?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D7386-38BB-4D64-B412-14902FA42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832" y="3132339"/>
            <a:ext cx="7397091" cy="2978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631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18B5-4A9B-4D98-83F0-83BB15F94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Mode as Stream Cipher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DBFC4-FDBD-4F2B-AD28-21E717F17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notice that the counter mode effectively generates a keystream based on our encryption key, the nonce, and the counter.</a:t>
            </a:r>
          </a:p>
          <a:p>
            <a:endParaRPr lang="en-US" dirty="0"/>
          </a:p>
          <a:p>
            <a:r>
              <a:rPr lang="en-US" dirty="0"/>
              <a:t>If the nonce is reused to encryption different data, the </a:t>
            </a:r>
            <a:r>
              <a:rPr lang="en-US" b="1" dirty="0"/>
              <a:t>keystream will be the same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If an attacker has known ciphertext &amp; plaintext they could recover the keystream, and thus use the known keystream to attack a situation where they have </a:t>
            </a:r>
            <a:r>
              <a:rPr lang="en-US" b="1" dirty="0"/>
              <a:t>unknown plaintext</a:t>
            </a:r>
            <a:r>
              <a:rPr lang="en-US" dirty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3989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E6720-9869-4024-9C76-4FF0A5E8F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Nonce Reuse Warning (Cont’d)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A7898-3269-442C-801E-A18AD2042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example:</a:t>
            </a:r>
          </a:p>
          <a:p>
            <a:pPr marL="914400" lvl="1" indent="-457200">
              <a:buAutoNum type="alphaLcParenR"/>
            </a:pPr>
            <a:r>
              <a:rPr lang="en-US" dirty="0"/>
              <a:t>Imagine you use AES-CTR mode in a communications interface.</a:t>
            </a:r>
          </a:p>
          <a:p>
            <a:pPr marL="914400" lvl="1" indent="-457200">
              <a:buAutoNum type="alphaLcParenR"/>
            </a:pPr>
            <a:r>
              <a:rPr lang="en-US" dirty="0"/>
              <a:t>Every message re-uses the nonce, such the same keystream is generated.</a:t>
            </a:r>
          </a:p>
          <a:p>
            <a:pPr marL="914400" lvl="1" indent="-457200">
              <a:buAutoNum type="alphaLcParenR"/>
            </a:pPr>
            <a:r>
              <a:rPr lang="en-US" dirty="0"/>
              <a:t>Attacker forces a “known” message (such as sending a query to the device).</a:t>
            </a:r>
          </a:p>
          <a:p>
            <a:pPr marL="914400" lvl="1" indent="-457200">
              <a:buAutoNum type="alphaLcParenR"/>
            </a:pPr>
            <a:r>
              <a:rPr lang="en-US" dirty="0"/>
              <a:t>Attacker records the “ciphertext”.</a:t>
            </a:r>
          </a:p>
          <a:p>
            <a:pPr marL="914400" lvl="1" indent="-457200">
              <a:buAutoNum type="alphaLcParenR"/>
            </a:pPr>
            <a:r>
              <a:rPr lang="en-US" dirty="0"/>
              <a:t>Attacker performs “message XOR ciphertext” to recover keystream.</a:t>
            </a:r>
          </a:p>
          <a:p>
            <a:pPr marL="914400" lvl="1" indent="-457200">
              <a:buAutoNum type="alphaLcParenR"/>
            </a:pPr>
            <a:r>
              <a:rPr lang="en-US" dirty="0"/>
              <a:t>Attacker then records unknown messages, and decrypts it with known keystream.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8597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787D-0A2D-4F74-BC42-126919459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AES-CTR Mode Usage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BE2D9-5D79-4B83-A7B8-292E5598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AES-CTR mode relies on a simple structure.</a:t>
            </a:r>
          </a:p>
          <a:p>
            <a:r>
              <a:rPr lang="en-US" dirty="0"/>
              <a:t>Provided nonce reuse can be </a:t>
            </a:r>
            <a:r>
              <a:rPr lang="en-US" u="sng" dirty="0"/>
              <a:t>enforced</a:t>
            </a:r>
            <a:r>
              <a:rPr lang="en-US" dirty="0"/>
              <a:t> it is a good choice.</a:t>
            </a:r>
          </a:p>
          <a:p>
            <a:r>
              <a:rPr lang="en-US" dirty="0"/>
              <a:t>AES-CTR mode can decrypt arbitrary blocks, as just need to provide the counter input.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1498E-AB1A-48F8-B2BA-FA03C97CD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802" y="3756808"/>
            <a:ext cx="7397091" cy="2978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990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650CE-BA62-4B80-AA9D-2983FD77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Mode Summary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59813-ED63-4986-999C-4C42B1D62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AES modes that you can use.</a:t>
            </a:r>
          </a:p>
          <a:p>
            <a:r>
              <a:rPr lang="en-US" dirty="0"/>
              <a:t>AES-ECB should not be used to encrypt large blocks of data!</a:t>
            </a:r>
          </a:p>
          <a:p>
            <a:r>
              <a:rPr lang="en-US" dirty="0"/>
              <a:t>Suitable mode depends on your usage requirements.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5448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805</Words>
  <Application>Microsoft Office PowerPoint</Application>
  <PresentationFormat>Widescreen</PresentationFormat>
  <Paragraphs>107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Office Theme</vt:lpstr>
      <vt:lpstr>0x303 – Symmetric Encryption </vt:lpstr>
      <vt:lpstr>Symmetry?</vt:lpstr>
      <vt:lpstr>Symmetric Encryption</vt:lpstr>
      <vt:lpstr>Downsides of Symmetric Encryption?</vt:lpstr>
      <vt:lpstr>Advantages of Symmetric Encryption</vt:lpstr>
      <vt:lpstr>Block Ciphers</vt:lpstr>
      <vt:lpstr>Steam Cipher</vt:lpstr>
      <vt:lpstr>Specifications of Symmetric Algorithms</vt:lpstr>
      <vt:lpstr>Symmetric Algorithms</vt:lpstr>
      <vt:lpstr>Advanced Encryption Standard (AES)</vt:lpstr>
      <vt:lpstr>PowerPoint Presentation</vt:lpstr>
      <vt:lpstr>Applying AES-ECB to a Message</vt:lpstr>
      <vt:lpstr>What happened??</vt:lpstr>
      <vt:lpstr>Accomplishing an expected image encryption.</vt:lpstr>
      <vt:lpstr>Cipher Block Chaining (CBC)</vt:lpstr>
      <vt:lpstr>AES-CBC Mode Usage</vt:lpstr>
      <vt:lpstr>Counter Mode</vt:lpstr>
      <vt:lpstr>Counter Decryption – Same Thing</vt:lpstr>
      <vt:lpstr>Counter Mode I.V.?</vt:lpstr>
      <vt:lpstr>Counter Mode as Stream Cipher</vt:lpstr>
      <vt:lpstr>Nonce Reuse Warning (Cont’d)</vt:lpstr>
      <vt:lpstr>AES-CTR Mode Usage</vt:lpstr>
      <vt:lpstr>AES Mode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0x101 – Security in History Basic Ciphers</dc:title>
  <dc:creator>Colin O'Flynn</dc:creator>
  <cp:lastModifiedBy>Colin O'Flynn</cp:lastModifiedBy>
  <cp:revision>31</cp:revision>
  <dcterms:created xsi:type="dcterms:W3CDTF">2020-09-07T18:26:19Z</dcterms:created>
  <dcterms:modified xsi:type="dcterms:W3CDTF">2026-02-12T02:17:03Z</dcterms:modified>
</cp:coreProperties>
</file>