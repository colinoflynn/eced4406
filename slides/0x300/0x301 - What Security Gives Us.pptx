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72" r:id="rId6"/>
    <p:sldId id="261" r:id="rId7"/>
    <p:sldId id="263" r:id="rId8"/>
    <p:sldId id="264" r:id="rId9"/>
    <p:sldId id="265" r:id="rId10"/>
    <p:sldId id="279" r:id="rId11"/>
    <p:sldId id="286" r:id="rId12"/>
    <p:sldId id="287" r:id="rId13"/>
    <p:sldId id="289" r:id="rId14"/>
    <p:sldId id="288" r:id="rId15"/>
    <p:sldId id="258" r:id="rId16"/>
    <p:sldId id="268" r:id="rId17"/>
    <p:sldId id="269" r:id="rId18"/>
    <p:sldId id="267" r:id="rId19"/>
    <p:sldId id="274" r:id="rId20"/>
    <p:sldId id="275" r:id="rId21"/>
    <p:sldId id="276" r:id="rId22"/>
    <p:sldId id="280" r:id="rId23"/>
    <p:sldId id="284" r:id="rId24"/>
    <p:sldId id="285" r:id="rId25"/>
    <p:sldId id="277" r:id="rId26"/>
    <p:sldId id="278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82" y="1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220A-DA9B-4BBC-9C75-C66D46F53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D5431-D5FF-44BE-B0B0-08FB98FE7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5585-26EB-401F-A580-C4F7CFA4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0C38E-E9B1-4C96-BCC8-D99371EE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FE22-3A5F-4449-8898-C66D835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85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5B47-2EC6-48BC-8DD6-BE05C4B2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669D-0B7F-4A86-AD0D-C7F8D519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E3D-C639-4A52-BBD4-457536FB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56922-F240-4EF3-905E-B9DFB257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5727-CADB-4DD6-9046-F1100897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2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3CCD-9691-4A96-A2D6-D1F53F47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3C4D3-7251-48A1-AEDE-AEBC7EF1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DB80-1867-4ABC-85FB-CF546D13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0258E-3BB7-41C5-B0BC-F8716E7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DF5B-5B74-46CE-A56F-B633CC5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26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1F6C-47D6-4523-87B1-1626B966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1AB54-B5F7-4311-8217-7E3769EF6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E7B8C-B146-4CDF-B078-67A0EE6B5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80579-953F-4F41-9BCB-8913DA9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2BE6-7135-4CB5-89D6-9D9981B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2C2-51E3-4A35-BCB5-C5A81A8C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18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D11A-42A7-412D-87FB-8315E9A5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968DD-1E3F-4BDF-BCA1-21F3F397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8E27-D17C-4926-901B-318C040F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90821-6708-4581-975E-3C87A0BA4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402B-EF6B-4F04-AE9E-58C2D99B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E8121-22E9-4C44-AF20-BE1527F9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DF95B-32D7-4CA8-8D6A-2442FE5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E430E-0801-4874-BE8C-20D10F99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7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5966-06AD-400E-803A-2830E651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EF1C0-915C-4F9F-B6F8-34FCB214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FAA9-7427-4017-B7F1-61B7297C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16EB0-0C9E-48B1-A388-ABAF8F8E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8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D9000-27FD-4772-AF4D-93E6A13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BBA7F-CEF3-4200-9B6F-C133A8B7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EDEE6-91DB-4D62-A790-7E8D5FE2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0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A595-FB8D-48BF-85CD-0BED13D3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A508-8447-429A-8E55-874ACAB9C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A9D00-96A5-496F-95ED-A1A592E0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FD5-86B6-46A2-81D4-A588B9F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C5D8-6C81-46B1-A974-BD2FD2E6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0BC5-C9A0-434E-9706-6FD8EF18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46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36A5-2E6F-451C-BD8A-BBCB3B1F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05540-3B4E-4D31-B0A6-4FC713EE4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EB517-C45B-4940-9B06-4E1F55F5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53D7-E620-495E-8001-F6989DD3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68ACD-B2F0-476E-BD8F-8EB76C9B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4F2B-D316-4097-AE06-FA388F80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6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4F19-5B91-4971-9D24-A632D22A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F3CFF-4A4B-43E2-BFF5-AE652918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52F4D-E9D6-4D7B-ABCA-577B628F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7111-CDAF-464F-BD09-99452F60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E59C-78F6-4935-AE8B-E3198D8C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2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04A56-5CB4-4BC7-BA72-37EC50C12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7CFD4-6E1D-4973-B922-472C9FB23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1650-46DF-43FB-9A3B-A5CD84F4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020A-FC80-49E5-9363-F5144731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B1F3C-7EF7-4710-84AF-B799B3DD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95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802F1-E657-4CF1-BD6A-4EFC93A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A822-0EBA-48C7-A780-CD8AE4CE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F5F9-0F07-4041-936C-F6A72F130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D57D4-96EB-485F-885D-A03F9F5EA4CF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60C3-4B15-4785-B413-CFEA33C5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811E-C073-4268-BAEF-6F604A18A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3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shattered.io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enix.org/conference/woot12/workshop-program/presentation/mulliner" TargetMode="External"/><Relationship Id="rId2" Type="http://schemas.openxmlformats.org/officeDocument/2006/relationships/hyperlink" Target="https://www.usenix.org/sites/default/files/conference/protected-files/michele_woot12_slides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itp.cdn.icann.org/en/files/meetings/presentation-intro-to-mirai-espinoza-05nov16-en.pdf" TargetMode="External"/><Relationship Id="rId2" Type="http://schemas.openxmlformats.org/officeDocument/2006/relationships/hyperlink" Target="https://www.usenix.org/sites/default/files/conference/protected-files/usenixsecurity17_slides_ma_zane.pdf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EF55-43E3-4350-BE63-9CB115E94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906000" cy="1011692"/>
          </a:xfrm>
        </p:spPr>
        <p:txBody>
          <a:bodyPr/>
          <a:lstStyle/>
          <a:p>
            <a:r>
              <a:rPr lang="en-US" dirty="0"/>
              <a:t>0x301 – What Security Gives Us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939F-753C-45A0-BC3A-73D8DCDC6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ECED4406 – Computer Security</a:t>
            </a:r>
          </a:p>
          <a:p>
            <a:endParaRPr lang="en-US" sz="2400" b="1" dirty="0"/>
          </a:p>
          <a:p>
            <a:r>
              <a:rPr lang="en-US" sz="2400" b="1" dirty="0"/>
              <a:t>Dr. Colin O’Flynn</a:t>
            </a:r>
          </a:p>
          <a:p>
            <a:r>
              <a:rPr lang="en-US" sz="2400" b="1" dirty="0"/>
              <a:t>Dalhousie University.</a:t>
            </a:r>
            <a:endParaRPr lang="en-CA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1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2373-91FE-47E9-AF55-BF6FCAB5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Confidentiality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B7592-A178-4845-B920-F072872F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088666"/>
          </a:xfrm>
        </p:spPr>
        <p:txBody>
          <a:bodyPr/>
          <a:lstStyle/>
          <a:p>
            <a:r>
              <a:rPr lang="en-US" dirty="0"/>
              <a:t>Probably what you think of with “security”. Prevents someone from reading your messages.</a:t>
            </a:r>
            <a:endParaRPr lang="en-CA" dirty="0"/>
          </a:p>
        </p:txBody>
      </p:sp>
      <p:pic>
        <p:nvPicPr>
          <p:cNvPr id="1026" name="Picture 2" descr="Mysterious, Encrypted Medieval Manuscript Set To Be Published In Replica |  KPCW">
            <a:extLst>
              <a:ext uri="{FF2B5EF4-FFF2-40B4-BE49-F238E27FC236}">
                <a16:creationId xmlns:a16="http://schemas.microsoft.com/office/drawing/2014/main" id="{6BB4FC5B-5714-494E-AF25-EC5EB21A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90" y="2619098"/>
            <a:ext cx="3393207" cy="407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lock cipher mode of operation - Wikipedia">
            <a:extLst>
              <a:ext uri="{FF2B5EF4-FFF2-40B4-BE49-F238E27FC236}">
                <a16:creationId xmlns:a16="http://schemas.microsoft.com/office/drawing/2014/main" id="{8B461FE2-40A7-468B-8E37-F45B595D3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289" y="3309205"/>
            <a:ext cx="18669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des and Ciphers' Puts Students to Test | Bryn Mawr Alumnae Bulletin">
            <a:extLst>
              <a:ext uri="{FF2B5EF4-FFF2-40B4-BE49-F238E27FC236}">
                <a16:creationId xmlns:a16="http://schemas.microsoft.com/office/drawing/2014/main" id="{A7A96E8B-C9EB-4CB5-90A9-7F99BDF97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540" y="3429000"/>
            <a:ext cx="4182351" cy="1937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25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FBE2-92BC-405C-8C6C-626C9A014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419D7-4C05-4D88-ACFB-DB460840C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370843"/>
          </a:xfrm>
        </p:spPr>
        <p:txBody>
          <a:bodyPr/>
          <a:lstStyle/>
          <a:p>
            <a:r>
              <a:rPr lang="en-US" dirty="0"/>
              <a:t>Data protected by unauthorized modifications.</a:t>
            </a:r>
          </a:p>
          <a:p>
            <a:endParaRPr lang="en-US" dirty="0"/>
          </a:p>
          <a:p>
            <a:r>
              <a:rPr lang="en-US" dirty="0"/>
              <a:t>We can have integrity </a:t>
            </a:r>
            <a:r>
              <a:rPr lang="en-US" i="1" dirty="0"/>
              <a:t>without</a:t>
            </a:r>
            <a:r>
              <a:rPr lang="en-US" dirty="0"/>
              <a:t> confidentiality.</a:t>
            </a:r>
          </a:p>
        </p:txBody>
      </p:sp>
    </p:spTree>
    <p:extLst>
      <p:ext uri="{BB962C8B-B14F-4D97-AF65-F5344CB8AC3E}">
        <p14:creationId xmlns:p14="http://schemas.microsoft.com/office/powerpoint/2010/main" val="1547555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52E2D-9EB7-4F7D-AF93-EE8978AFC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88409-8231-437E-BC36-C86FC6A05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should remain </a:t>
            </a:r>
            <a:r>
              <a:rPr lang="en-US" i="1" dirty="0"/>
              <a:t>available for user.</a:t>
            </a:r>
            <a:endParaRPr lang="en-CA" dirty="0"/>
          </a:p>
        </p:txBody>
      </p:sp>
      <p:pic>
        <p:nvPicPr>
          <p:cNvPr id="4098" name="Picture 2" descr="High-End Virtualization Server 12-Core 128GB RAM 12TB RAID Dell PowerEdge  R710 (Renewed): Amazon.ca: Electronics">
            <a:extLst>
              <a:ext uri="{FF2B5EF4-FFF2-40B4-BE49-F238E27FC236}">
                <a16:creationId xmlns:a16="http://schemas.microsoft.com/office/drawing/2014/main" id="{FBA31068-5308-4233-B356-57332EBDA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72" y="2659608"/>
            <a:ext cx="5613980" cy="410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48F3D2-E322-4698-A2DF-1AA9CEEB2341}"/>
              </a:ext>
            </a:extLst>
          </p:cNvPr>
          <p:cNvSpPr txBox="1"/>
          <p:nvPr/>
        </p:nvSpPr>
        <p:spPr>
          <a:xfrm>
            <a:off x="7300332" y="3003395"/>
            <a:ext cx="449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Unhackable</a:t>
            </a:r>
            <a:r>
              <a:rPr lang="en-US" dirty="0"/>
              <a:t> server (not plugged in).</a:t>
            </a:r>
            <a:endParaRPr lang="en-CA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024BBD3-14A6-4388-86A7-4EF4B1BB2738}"/>
              </a:ext>
            </a:extLst>
          </p:cNvPr>
          <p:cNvCxnSpPr/>
          <p:nvPr/>
        </p:nvCxnSpPr>
        <p:spPr>
          <a:xfrm flipH="1">
            <a:off x="5642517" y="3196683"/>
            <a:ext cx="1657815" cy="959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6EA2A45-2553-4C07-83D0-C2EFB2DC3532}"/>
              </a:ext>
            </a:extLst>
          </p:cNvPr>
          <p:cNvSpPr txBox="1"/>
          <p:nvPr/>
        </p:nvSpPr>
        <p:spPr>
          <a:xfrm>
            <a:off x="7300332" y="4895385"/>
            <a:ext cx="4490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Cryptography isn’t concerned with availability, but often a critical part of overall security.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88189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755D5-3AF4-44B3-AF06-F18AD5E41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Non-repudiation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501A4-9D10-47C0-BC40-18D1ADA08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Cannot deny later having sent messages that you sent. </a:t>
            </a:r>
          </a:p>
          <a:p>
            <a:endParaRPr lang="en-US" dirty="0"/>
          </a:p>
          <a:p>
            <a:r>
              <a:rPr lang="en-US" dirty="0"/>
              <a:t>Often a complex question – can</a:t>
            </a:r>
          </a:p>
          <a:p>
            <a:pPr marL="0" indent="0">
              <a:buNone/>
            </a:pPr>
            <a:r>
              <a:rPr lang="en-US" dirty="0"/>
              <a:t>you claim someone stole the secret</a:t>
            </a:r>
          </a:p>
          <a:p>
            <a:pPr marL="0" indent="0">
              <a:buNone/>
            </a:pPr>
            <a:r>
              <a:rPr lang="en-US" dirty="0"/>
              <a:t>key you use?</a:t>
            </a:r>
          </a:p>
        </p:txBody>
      </p:sp>
      <p:pic>
        <p:nvPicPr>
          <p:cNvPr id="8194" name="Picture 2" descr="My Bag GIFs | Tenor">
            <a:extLst>
              <a:ext uri="{FF2B5EF4-FFF2-40B4-BE49-F238E27FC236}">
                <a16:creationId xmlns:a16="http://schemas.microsoft.com/office/drawing/2014/main" id="{1241C420-9B3D-44BE-BF2A-008B26B4208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581" y="2722756"/>
            <a:ext cx="3448979" cy="338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200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AFE72-DF1B-4C9A-A651-75AC36FF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Property 1: Confidentiality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F9F67-E5A7-40B0-AFF1-348AFD002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0025"/>
            <a:ext cx="10967224" cy="587424"/>
          </a:xfrm>
        </p:spPr>
        <p:txBody>
          <a:bodyPr/>
          <a:lstStyle/>
          <a:p>
            <a:r>
              <a:rPr lang="en-US" dirty="0"/>
              <a:t>Attacker can modify information </a:t>
            </a:r>
            <a:r>
              <a:rPr lang="en-US" i="1" dirty="0"/>
              <a:t>without needing to know the contents</a:t>
            </a:r>
            <a:r>
              <a:rPr lang="en-US" dirty="0"/>
              <a:t>.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124D8B-A8BB-4960-BA57-375E012FCC7C}"/>
              </a:ext>
            </a:extLst>
          </p:cNvPr>
          <p:cNvSpPr/>
          <p:nvPr/>
        </p:nvSpPr>
        <p:spPr>
          <a:xfrm>
            <a:off x="914400" y="3452754"/>
            <a:ext cx="3003395" cy="1096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Attack the fort at dawn.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6BDE27-0CCA-4AB5-9231-6196BE007E9F}"/>
              </a:ext>
            </a:extLst>
          </p:cNvPr>
          <p:cNvSpPr/>
          <p:nvPr/>
        </p:nvSpPr>
        <p:spPr>
          <a:xfrm>
            <a:off x="914400" y="5272056"/>
            <a:ext cx="3003395" cy="1096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Jccjlt</a:t>
            </a:r>
            <a:r>
              <a:rPr lang="en-US" dirty="0"/>
              <a:t> </a:t>
            </a:r>
            <a:r>
              <a:rPr lang="en-US" dirty="0" err="1"/>
              <a:t>cqn</a:t>
            </a:r>
            <a:r>
              <a:rPr lang="en-US" dirty="0"/>
              <a:t> </a:t>
            </a:r>
            <a:r>
              <a:rPr lang="en-US" dirty="0" err="1"/>
              <a:t>oxac</a:t>
            </a:r>
            <a:r>
              <a:rPr lang="en-US" dirty="0"/>
              <a:t> </a:t>
            </a:r>
            <a:r>
              <a:rPr lang="en-US" dirty="0" err="1"/>
              <a:t>jc</a:t>
            </a:r>
            <a:r>
              <a:rPr lang="en-US" dirty="0"/>
              <a:t> </a:t>
            </a:r>
            <a:r>
              <a:rPr lang="en-US" dirty="0" err="1"/>
              <a:t>mjfw</a:t>
            </a:r>
            <a:r>
              <a:rPr lang="en-US" dirty="0"/>
              <a:t>.</a:t>
            </a:r>
            <a:endParaRPr lang="en-CA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8BDEF4-20D3-46AD-B0E0-BDC045903A59}"/>
              </a:ext>
            </a:extLst>
          </p:cNvPr>
          <p:cNvSpPr/>
          <p:nvPr/>
        </p:nvSpPr>
        <p:spPr>
          <a:xfrm>
            <a:off x="6545766" y="3452752"/>
            <a:ext cx="3003395" cy="1096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Meet me at nightfall by the tower.</a:t>
            </a:r>
            <a:endParaRPr lang="en-CA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2C3443-01D2-4BA7-B344-9FC909252F1B}"/>
              </a:ext>
            </a:extLst>
          </p:cNvPr>
          <p:cNvSpPr/>
          <p:nvPr/>
        </p:nvSpPr>
        <p:spPr>
          <a:xfrm>
            <a:off x="6545766" y="5272056"/>
            <a:ext cx="3003395" cy="1096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Vnnc vn jc wrpqcojuu kh cqn cxfna.</a:t>
            </a:r>
            <a:endParaRPr lang="en-CA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DA12E5EE-ED66-437D-A618-381E8E5353ED}"/>
              </a:ext>
            </a:extLst>
          </p:cNvPr>
          <p:cNvSpPr/>
          <p:nvPr/>
        </p:nvSpPr>
        <p:spPr>
          <a:xfrm>
            <a:off x="2141034" y="4549695"/>
            <a:ext cx="691376" cy="7223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859E854B-8685-4E1B-B93C-75080A450EB0}"/>
              </a:ext>
            </a:extLst>
          </p:cNvPr>
          <p:cNvSpPr/>
          <p:nvPr/>
        </p:nvSpPr>
        <p:spPr>
          <a:xfrm>
            <a:off x="7794703" y="4549694"/>
            <a:ext cx="691376" cy="7223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FA0AB9-2EBC-A185-8A53-C00FB8EBFD0F}"/>
              </a:ext>
            </a:extLst>
          </p:cNvPr>
          <p:cNvSpPr txBox="1">
            <a:spLocks/>
          </p:cNvSpPr>
          <p:nvPr/>
        </p:nvSpPr>
        <p:spPr>
          <a:xfrm>
            <a:off x="914400" y="1723952"/>
            <a:ext cx="10967224" cy="587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dirty="0"/>
              <a:t>Confidentiality </a:t>
            </a:r>
            <a:r>
              <a:rPr lang="en-CA" i="1" dirty="0"/>
              <a:t>alone</a:t>
            </a:r>
            <a:r>
              <a:rPr lang="en-CA" dirty="0"/>
              <a:t> has a problem:</a:t>
            </a:r>
          </a:p>
        </p:txBody>
      </p:sp>
    </p:spTree>
    <p:extLst>
      <p:ext uri="{BB962C8B-B14F-4D97-AF65-F5344CB8AC3E}">
        <p14:creationId xmlns:p14="http://schemas.microsoft.com/office/powerpoint/2010/main" val="341075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 animBg="1"/>
      <p:bldP spid="13" grpId="0" animBg="1"/>
      <p:bldP spid="14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E08A63-D2B3-497D-8ABC-3A7AD3F0A05E}"/>
              </a:ext>
            </a:extLst>
          </p:cNvPr>
          <p:cNvSpPr/>
          <p:nvPr/>
        </p:nvSpPr>
        <p:spPr>
          <a:xfrm>
            <a:off x="1345580" y="692622"/>
            <a:ext cx="3003395" cy="1096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Jccjlt</a:t>
            </a:r>
            <a:r>
              <a:rPr lang="en-US" dirty="0"/>
              <a:t> </a:t>
            </a:r>
            <a:r>
              <a:rPr lang="en-US" dirty="0" err="1"/>
              <a:t>cqn</a:t>
            </a:r>
            <a:r>
              <a:rPr lang="en-US" dirty="0"/>
              <a:t> </a:t>
            </a:r>
            <a:r>
              <a:rPr lang="en-US" dirty="0" err="1"/>
              <a:t>oxac</a:t>
            </a:r>
            <a:r>
              <a:rPr lang="en-US" dirty="0"/>
              <a:t> </a:t>
            </a:r>
            <a:r>
              <a:rPr lang="en-US" dirty="0" err="1"/>
              <a:t>jc</a:t>
            </a:r>
            <a:r>
              <a:rPr lang="en-US" dirty="0"/>
              <a:t> </a:t>
            </a:r>
            <a:r>
              <a:rPr lang="en-US" dirty="0" err="1"/>
              <a:t>mjfw</a:t>
            </a:r>
            <a:r>
              <a:rPr lang="en-US" dirty="0"/>
              <a:t>.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0E7373-59D6-4F84-BF4E-324D65A3DE6F}"/>
              </a:ext>
            </a:extLst>
          </p:cNvPr>
          <p:cNvSpPr/>
          <p:nvPr/>
        </p:nvSpPr>
        <p:spPr>
          <a:xfrm>
            <a:off x="6976946" y="692622"/>
            <a:ext cx="3003395" cy="1096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Vnnc</a:t>
            </a:r>
            <a:r>
              <a:rPr lang="en-CA" dirty="0"/>
              <a:t> </a:t>
            </a:r>
            <a:r>
              <a:rPr lang="en-CA" dirty="0" err="1"/>
              <a:t>vn</a:t>
            </a:r>
            <a:r>
              <a:rPr lang="en-CA" dirty="0"/>
              <a:t> </a:t>
            </a:r>
            <a:r>
              <a:rPr lang="en-CA" dirty="0" err="1"/>
              <a:t>jc</a:t>
            </a:r>
            <a:r>
              <a:rPr lang="en-CA" dirty="0"/>
              <a:t> </a:t>
            </a:r>
            <a:r>
              <a:rPr lang="en-CA" dirty="0" err="1"/>
              <a:t>wrpqcojuu</a:t>
            </a:r>
            <a:r>
              <a:rPr lang="en-CA" dirty="0"/>
              <a:t> </a:t>
            </a:r>
            <a:r>
              <a:rPr lang="en-CA" dirty="0" err="1"/>
              <a:t>kh</a:t>
            </a:r>
            <a:r>
              <a:rPr lang="en-CA" dirty="0"/>
              <a:t> </a:t>
            </a:r>
            <a:r>
              <a:rPr lang="en-CA" dirty="0" err="1"/>
              <a:t>cqn</a:t>
            </a:r>
            <a:r>
              <a:rPr lang="en-CA" dirty="0"/>
              <a:t> </a:t>
            </a:r>
            <a:r>
              <a:rPr lang="en-CA" dirty="0" err="1"/>
              <a:t>cxfna</a:t>
            </a:r>
            <a:r>
              <a:rPr lang="en-CA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D70885-A1B1-4E2E-A23B-EF30831C9E23}"/>
              </a:ext>
            </a:extLst>
          </p:cNvPr>
          <p:cNvSpPr/>
          <p:nvPr/>
        </p:nvSpPr>
        <p:spPr>
          <a:xfrm>
            <a:off x="2903033" y="3222499"/>
            <a:ext cx="5133279" cy="1096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Jccjlt</a:t>
            </a:r>
            <a:r>
              <a:rPr lang="en-US" dirty="0"/>
              <a:t> </a:t>
            </a:r>
            <a:r>
              <a:rPr lang="en-US" dirty="0" err="1"/>
              <a:t>cqn</a:t>
            </a:r>
            <a:r>
              <a:rPr lang="en-US" dirty="0"/>
              <a:t> </a:t>
            </a:r>
            <a:r>
              <a:rPr lang="en-US" dirty="0" err="1"/>
              <a:t>oxac</a:t>
            </a:r>
            <a:r>
              <a:rPr lang="en-US" dirty="0"/>
              <a:t> </a:t>
            </a:r>
            <a:r>
              <a:rPr lang="en-US" dirty="0" err="1"/>
              <a:t>jc</a:t>
            </a:r>
            <a:r>
              <a:rPr lang="en-US" dirty="0"/>
              <a:t> </a:t>
            </a:r>
            <a:r>
              <a:rPr lang="en-CA" dirty="0" err="1"/>
              <a:t>wrpqcojuu</a:t>
            </a:r>
            <a:r>
              <a:rPr lang="en-CA" dirty="0"/>
              <a:t> </a:t>
            </a:r>
            <a:r>
              <a:rPr lang="en-CA" dirty="0" err="1"/>
              <a:t>kh</a:t>
            </a:r>
            <a:r>
              <a:rPr lang="en-CA" dirty="0"/>
              <a:t> </a:t>
            </a:r>
            <a:r>
              <a:rPr lang="en-CA" dirty="0" err="1"/>
              <a:t>cqn</a:t>
            </a:r>
            <a:r>
              <a:rPr lang="en-CA" dirty="0"/>
              <a:t> </a:t>
            </a:r>
            <a:r>
              <a:rPr lang="en-CA" dirty="0" err="1"/>
              <a:t>cxfna</a:t>
            </a:r>
            <a:r>
              <a:rPr lang="en-CA" dirty="0"/>
              <a:t>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81E054-B20E-44F9-A1E7-BF96B0F5ACD8}"/>
              </a:ext>
            </a:extLst>
          </p:cNvPr>
          <p:cNvCxnSpPr>
            <a:stCxn id="4" idx="2"/>
          </p:cNvCxnSpPr>
          <p:nvPr/>
        </p:nvCxnSpPr>
        <p:spPr>
          <a:xfrm>
            <a:off x="2847278" y="1789565"/>
            <a:ext cx="2051824" cy="137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1C76C3-3B83-4059-A263-835EA23DD0A7}"/>
              </a:ext>
            </a:extLst>
          </p:cNvPr>
          <p:cNvCxnSpPr/>
          <p:nvPr/>
        </p:nvCxnSpPr>
        <p:spPr>
          <a:xfrm flipH="1">
            <a:off x="6631259" y="1817341"/>
            <a:ext cx="1847384" cy="1405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224A709-2A59-4490-A610-BCC288A6349E}"/>
              </a:ext>
            </a:extLst>
          </p:cNvPr>
          <p:cNvSpPr/>
          <p:nvPr/>
        </p:nvSpPr>
        <p:spPr>
          <a:xfrm>
            <a:off x="2903033" y="5041803"/>
            <a:ext cx="5133279" cy="1096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Attack the fort at nightfall by the tower.</a:t>
            </a:r>
            <a:endParaRPr lang="en-CA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4654E73E-B744-4BBC-BB65-79F4FCFB935B}"/>
              </a:ext>
            </a:extLst>
          </p:cNvPr>
          <p:cNvSpPr/>
          <p:nvPr/>
        </p:nvSpPr>
        <p:spPr>
          <a:xfrm>
            <a:off x="5304264" y="4319442"/>
            <a:ext cx="691376" cy="7223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372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6ADEE-D1CB-4D02-9AEB-64F7AEA79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“Real” Example: AES-CBC Attack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7C1A1-F553-4560-B5F3-BFA8AA81B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5402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We’ll be coming back to what AES is – but this figure shows the flow. Assume attacker has </a:t>
            </a:r>
            <a:r>
              <a:rPr lang="en-US" b="1" u="sng" dirty="0"/>
              <a:t>ciphertext (encrypted data) access only</a:t>
            </a:r>
            <a:r>
              <a:rPr lang="en-US" dirty="0"/>
              <a:t>.</a:t>
            </a:r>
            <a:endParaRPr lang="en-CA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4A183CB-6D00-4AF7-92A9-6B8F247F6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791" y="2898643"/>
            <a:ext cx="8926169" cy="3594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41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1ACB-355C-4B42-B57E-BDDA85484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Flipping a bit here…</a:t>
            </a:r>
            <a:endParaRPr lang="en-CA" dirty="0"/>
          </a:p>
        </p:txBody>
      </p:sp>
      <p:pic>
        <p:nvPicPr>
          <p:cNvPr id="2050" name="Picture 2" descr="082113_1459_CBCByteFlip3">
            <a:extLst>
              <a:ext uri="{FF2B5EF4-FFF2-40B4-BE49-F238E27FC236}">
                <a16:creationId xmlns:a16="http://schemas.microsoft.com/office/drawing/2014/main" id="{27237B4A-9FF4-4780-A272-61CBCEC4B3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807" y="1952875"/>
            <a:ext cx="9154871" cy="404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241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8D509-3336-0C8F-1B89-5D982FE62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Attacks on Confidentiality: Replay Attacks</a:t>
            </a:r>
          </a:p>
        </p:txBody>
      </p:sp>
      <p:pic>
        <p:nvPicPr>
          <p:cNvPr id="5122" name="Picture 2" descr="The Complete Guide to Replay Attacks">
            <a:extLst>
              <a:ext uri="{FF2B5EF4-FFF2-40B4-BE49-F238E27FC236}">
                <a16:creationId xmlns:a16="http://schemas.microsoft.com/office/drawing/2014/main" id="{47164535-47A7-103A-2676-0DF946DDF5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885" y="1825625"/>
            <a:ext cx="725223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59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BF021-7515-39D6-AAD6-13C09F9AE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6FA0E-6067-7C01-A893-E457EAF5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Attacks on Confidentiality: Replay Attacks</a:t>
            </a:r>
          </a:p>
        </p:txBody>
      </p:sp>
      <p:pic>
        <p:nvPicPr>
          <p:cNvPr id="5122" name="Picture 2" descr="The Complete Guide to Replay Attacks">
            <a:extLst>
              <a:ext uri="{FF2B5EF4-FFF2-40B4-BE49-F238E27FC236}">
                <a16:creationId xmlns:a16="http://schemas.microsoft.com/office/drawing/2014/main" id="{6547B302-4DD6-F43D-B44F-8570A4BBC7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885" y="1825625"/>
            <a:ext cx="725223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9214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2DBE-DAD5-07DF-176E-45070234F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Replay Attacks on Wireless Devices</a:t>
            </a:r>
          </a:p>
        </p:txBody>
      </p:sp>
      <p:pic>
        <p:nvPicPr>
          <p:cNvPr id="6" name="Picture 5" descr="A car with text on it&#10;&#10;AI-generated content may be incorrect.">
            <a:extLst>
              <a:ext uri="{FF2B5EF4-FFF2-40B4-BE49-F238E27FC236}">
                <a16:creationId xmlns:a16="http://schemas.microsoft.com/office/drawing/2014/main" id="{E00FA55D-372E-864A-56E1-388F05448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310" y="1489558"/>
            <a:ext cx="1247949" cy="1114581"/>
          </a:xfrm>
          <a:prstGeom prst="rect">
            <a:avLst/>
          </a:prstGeom>
        </p:spPr>
      </p:pic>
      <p:pic>
        <p:nvPicPr>
          <p:cNvPr id="8" name="Picture 7" descr="A person with a blue shirt&#10;&#10;AI-generated content may be incorrect.">
            <a:extLst>
              <a:ext uri="{FF2B5EF4-FFF2-40B4-BE49-F238E27FC236}">
                <a16:creationId xmlns:a16="http://schemas.microsoft.com/office/drawing/2014/main" id="{D2AF840F-60FA-FB95-5862-D13FD7263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597" y="1470506"/>
            <a:ext cx="1028844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007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C0F65-2739-CC72-6267-ABFDBF5CF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76A70-27BA-5896-F19F-9586F64B5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Replay Attacks on Wireless Devices</a:t>
            </a:r>
          </a:p>
        </p:txBody>
      </p:sp>
      <p:pic>
        <p:nvPicPr>
          <p:cNvPr id="6" name="Picture 5" descr="A car with text on it&#10;&#10;AI-generated content may be incorrect.">
            <a:extLst>
              <a:ext uri="{FF2B5EF4-FFF2-40B4-BE49-F238E27FC236}">
                <a16:creationId xmlns:a16="http://schemas.microsoft.com/office/drawing/2014/main" id="{9A80B35A-2D99-1273-1E52-505C26A1B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310" y="1489558"/>
            <a:ext cx="1247949" cy="1114581"/>
          </a:xfrm>
          <a:prstGeom prst="rect">
            <a:avLst/>
          </a:prstGeom>
        </p:spPr>
      </p:pic>
      <p:pic>
        <p:nvPicPr>
          <p:cNvPr id="8" name="Picture 7" descr="A person with a blue shirt&#10;&#10;AI-generated content may be incorrect.">
            <a:extLst>
              <a:ext uri="{FF2B5EF4-FFF2-40B4-BE49-F238E27FC236}">
                <a16:creationId xmlns:a16="http://schemas.microsoft.com/office/drawing/2014/main" id="{FDBCEA37-B3D9-69EB-7D19-D0BA7BE04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597" y="1470506"/>
            <a:ext cx="1028844" cy="1152686"/>
          </a:xfrm>
          <a:prstGeom prst="rect">
            <a:avLst/>
          </a:prstGeom>
        </p:spPr>
      </p:pic>
      <p:pic>
        <p:nvPicPr>
          <p:cNvPr id="4" name="Picture 3" descr="A computer hacker with a computer&#10;&#10;AI-generated content may be incorrect.">
            <a:extLst>
              <a:ext uri="{FF2B5EF4-FFF2-40B4-BE49-F238E27FC236}">
                <a16:creationId xmlns:a16="http://schemas.microsoft.com/office/drawing/2014/main" id="{179AB26B-6CCD-FC7F-3952-B5F8A304D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291" y="1470506"/>
            <a:ext cx="1120681" cy="10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953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CA4A69B9-AE1F-8B8C-447E-EAB8AA38CF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972"/>
          <a:stretch>
            <a:fillRect/>
          </a:stretch>
        </p:blipFill>
        <p:spPr bwMode="auto">
          <a:xfrm>
            <a:off x="2676272" y="245872"/>
            <a:ext cx="5849357" cy="605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F71520-38CB-0420-3E53-07034C970B16}"/>
              </a:ext>
            </a:extLst>
          </p:cNvPr>
          <p:cNvSpPr txBox="1"/>
          <p:nvPr/>
        </p:nvSpPr>
        <p:spPr>
          <a:xfrm>
            <a:off x="1790974" y="5929816"/>
            <a:ext cx="9438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https://www.sei.cmu.edu/blog/radio-frequency-101-can-you-really-hack-a-radio-signal/</a:t>
            </a:r>
          </a:p>
        </p:txBody>
      </p:sp>
    </p:spTree>
    <p:extLst>
      <p:ext uri="{BB962C8B-B14F-4D97-AF65-F5344CB8AC3E}">
        <p14:creationId xmlns:p14="http://schemas.microsoft.com/office/powerpoint/2010/main" val="3442130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FBE2-92BC-405C-8C6C-626C9A014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Property 2: </a:t>
            </a:r>
            <a:r>
              <a:rPr lang="en-US" b="1" dirty="0"/>
              <a:t>Integrity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419D7-4C05-4D88-ACFB-DB460840C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75858"/>
          </a:xfrm>
        </p:spPr>
        <p:txBody>
          <a:bodyPr/>
          <a:lstStyle/>
          <a:p>
            <a:r>
              <a:rPr lang="en-US" dirty="0"/>
              <a:t>Data protected by unauthorized modifications.</a:t>
            </a:r>
          </a:p>
          <a:p>
            <a:r>
              <a:rPr lang="en-US" b="1" u="sng" dirty="0"/>
              <a:t>WARNING: </a:t>
            </a:r>
            <a:r>
              <a:rPr lang="en-US" dirty="0"/>
              <a:t>There is a difference between integrity in communications / electronics context &amp; integrity in security / cryptography context!</a:t>
            </a:r>
          </a:p>
        </p:txBody>
      </p:sp>
      <p:pic>
        <p:nvPicPr>
          <p:cNvPr id="5122" name="Picture 2" descr="Error Detection in Computer Networks - GeeksforGeeks">
            <a:extLst>
              <a:ext uri="{FF2B5EF4-FFF2-40B4-BE49-F238E27FC236}">
                <a16:creationId xmlns:a16="http://schemas.microsoft.com/office/drawing/2014/main" id="{CAF78D44-42AB-49B6-8F4B-2D345AAEC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389" y="3406713"/>
            <a:ext cx="4241645" cy="308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35E24F-933A-4E8B-9233-B6E87113DF15}"/>
              </a:ext>
            </a:extLst>
          </p:cNvPr>
          <p:cNvSpPr txBox="1"/>
          <p:nvPr/>
        </p:nvSpPr>
        <p:spPr>
          <a:xfrm>
            <a:off x="5798634" y="3821151"/>
            <a:ext cx="54459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Common checksums, CRCs, parity checks, </a:t>
            </a:r>
            <a:r>
              <a:rPr lang="en-US" dirty="0" err="1"/>
              <a:t>etc</a:t>
            </a:r>
            <a:r>
              <a:rPr lang="en-US" dirty="0"/>
              <a:t> often use reversable algorithms, or very short lengths.</a:t>
            </a:r>
          </a:p>
          <a:p>
            <a:endParaRPr lang="en-US" dirty="0"/>
          </a:p>
          <a:p>
            <a:r>
              <a:rPr lang="en-US" dirty="0"/>
              <a:t>An attacker may be able to modify the file in such a way the same checksum is generated.</a:t>
            </a:r>
          </a:p>
          <a:p>
            <a:endParaRPr lang="en-US" dirty="0"/>
          </a:p>
          <a:p>
            <a:r>
              <a:rPr lang="en-US" dirty="0"/>
              <a:t>Thus a checksum, CRC, and other common techniques are </a:t>
            </a:r>
            <a:r>
              <a:rPr lang="en-US" u="sng" dirty="0"/>
              <a:t>not cryptographic integrity checks.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988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9EA96-F73E-4B73-817D-356590E4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Checksum Example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2EA89-9B38-452C-B359-83FD601F2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1962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I’m sending you a large file by mail – I tell you over the phone (our secure channel) the checksum should be 938229. The file is far too long to tell you the contents over the phone.</a:t>
            </a:r>
            <a:endParaRPr lang="en-CA" dirty="0"/>
          </a:p>
          <a:p>
            <a:endParaRPr lang="en-CA" dirty="0"/>
          </a:p>
          <a:p>
            <a:r>
              <a:rPr lang="en-CA" dirty="0"/>
              <a:t>You run a simple checksum program, such as: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687F3-792F-4DB1-AE7A-6285A4EFF344}"/>
              </a:ext>
            </a:extLst>
          </p:cNvPr>
          <p:cNvSpPr txBox="1"/>
          <p:nvPr/>
        </p:nvSpPr>
        <p:spPr>
          <a:xfrm>
            <a:off x="1888273" y="4021874"/>
            <a:ext cx="92703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uint32_t checksum = 0;</a:t>
            </a:r>
          </a:p>
          <a:p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file_length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checksum += file[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("%d\n", checksum);</a:t>
            </a:r>
          </a:p>
        </p:txBody>
      </p:sp>
    </p:spTree>
    <p:extLst>
      <p:ext uri="{BB962C8B-B14F-4D97-AF65-F5344CB8AC3E}">
        <p14:creationId xmlns:p14="http://schemas.microsoft.com/office/powerpoint/2010/main" val="1345565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9EA96-F73E-4B73-817D-356590E4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Checksum Hacking Example</a:t>
            </a:r>
            <a:endParaRPr lang="en-CA" dirty="0"/>
          </a:p>
        </p:txBody>
      </p:sp>
      <p:pic>
        <p:nvPicPr>
          <p:cNvPr id="7170" name="Picture 2" descr="Ascii Table">
            <a:extLst>
              <a:ext uri="{FF2B5EF4-FFF2-40B4-BE49-F238E27FC236}">
                <a16:creationId xmlns:a16="http://schemas.microsoft.com/office/drawing/2014/main" id="{1272D254-1DB5-4B3F-A9B3-F425F55B6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2467372"/>
            <a:ext cx="6164766" cy="4207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A30692-1EB9-4CAF-8F4B-B7AAABEB724D}"/>
              </a:ext>
            </a:extLst>
          </p:cNvPr>
          <p:cNvSpPr txBox="1"/>
          <p:nvPr/>
        </p:nvSpPr>
        <p:spPr>
          <a:xfrm>
            <a:off x="1048215" y="1382751"/>
            <a:ext cx="703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“I hate Tor” </a:t>
            </a:r>
            <a:r>
              <a:rPr lang="en-US" dirty="0">
                <a:sym typeface="Wingdings" panose="05000000000000000000" pitchFamily="2" charset="2"/>
              </a:rPr>
              <a:t> 73 + 32 + 104 + 97 + 116 + 101 + 32 + 84 + 111 + 114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C64744-D2DC-41C8-B832-77A86CFCE736}"/>
              </a:ext>
            </a:extLst>
          </p:cNvPr>
          <p:cNvSpPr txBox="1"/>
          <p:nvPr/>
        </p:nvSpPr>
        <p:spPr>
          <a:xfrm>
            <a:off x="1048215" y="1823086"/>
            <a:ext cx="660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“I love Tom” </a:t>
            </a:r>
            <a:r>
              <a:rPr lang="en-US" dirty="0">
                <a:sym typeface="Wingdings" panose="05000000000000000000" pitchFamily="2" charset="2"/>
              </a:rPr>
              <a:t> 73 + 32 + 108 + 111 + 118 + 101 + 32 + 83 + 97 + 109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42A1C4-EB59-4AC0-8CFE-06BA480300AF}"/>
              </a:ext>
            </a:extLst>
          </p:cNvPr>
          <p:cNvSpPr txBox="1"/>
          <p:nvPr/>
        </p:nvSpPr>
        <p:spPr>
          <a:xfrm>
            <a:off x="7586546" y="1363466"/>
            <a:ext cx="988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= 864</a:t>
            </a:r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7B6F7F-CAF0-496E-AD1E-C7C904123200}"/>
              </a:ext>
            </a:extLst>
          </p:cNvPr>
          <p:cNvSpPr txBox="1"/>
          <p:nvPr/>
        </p:nvSpPr>
        <p:spPr>
          <a:xfrm>
            <a:off x="7586546" y="1823086"/>
            <a:ext cx="899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= 864</a:t>
            </a:r>
            <a:endParaRPr lang="en-CA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AC298A-F59A-4443-AEBC-BE827057151C}"/>
              </a:ext>
            </a:extLst>
          </p:cNvPr>
          <p:cNvSpPr/>
          <p:nvPr/>
        </p:nvSpPr>
        <p:spPr>
          <a:xfrm>
            <a:off x="8742556" y="4007004"/>
            <a:ext cx="2527609" cy="2594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/>
              <a:t>test = "I hate Tor”</a:t>
            </a:r>
          </a:p>
          <a:p>
            <a:endParaRPr lang="en-CA" dirty="0"/>
          </a:p>
          <a:p>
            <a:r>
              <a:rPr lang="en-CA" dirty="0" err="1"/>
              <a:t>csum</a:t>
            </a:r>
            <a:r>
              <a:rPr lang="en-CA" dirty="0"/>
              <a:t> = 0</a:t>
            </a:r>
          </a:p>
          <a:p>
            <a:r>
              <a:rPr lang="en-CA" dirty="0"/>
              <a:t>for c in test:</a:t>
            </a:r>
          </a:p>
          <a:p>
            <a:r>
              <a:rPr lang="en-CA" dirty="0"/>
              <a:t>    print(</a:t>
            </a:r>
            <a:r>
              <a:rPr lang="en-CA" dirty="0" err="1"/>
              <a:t>ord</a:t>
            </a:r>
            <a:r>
              <a:rPr lang="en-CA" dirty="0"/>
              <a:t>(c))</a:t>
            </a:r>
          </a:p>
          <a:p>
            <a:r>
              <a:rPr lang="en-CA" dirty="0"/>
              <a:t>    </a:t>
            </a:r>
            <a:r>
              <a:rPr lang="en-CA" dirty="0" err="1"/>
              <a:t>csum</a:t>
            </a:r>
            <a:r>
              <a:rPr lang="en-CA" dirty="0"/>
              <a:t> += </a:t>
            </a:r>
            <a:r>
              <a:rPr lang="en-CA" dirty="0" err="1"/>
              <a:t>ord</a:t>
            </a:r>
            <a:r>
              <a:rPr lang="en-CA" dirty="0"/>
              <a:t>(c)</a:t>
            </a:r>
          </a:p>
          <a:p>
            <a:r>
              <a:rPr lang="en-CA" dirty="0"/>
              <a:t>print(</a:t>
            </a:r>
            <a:r>
              <a:rPr lang="en-CA" dirty="0" err="1"/>
              <a:t>csum</a:t>
            </a:r>
            <a:r>
              <a:rPr lang="en-CA" dirty="0"/>
              <a:t>)</a:t>
            </a:r>
          </a:p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9022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32FCF-D108-4A61-92A9-40C47BAB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Cryptographic Integrity </a:t>
            </a:r>
            <a:r>
              <a:rPr lang="en-US" dirty="0">
                <a:sym typeface="Wingdings" panose="05000000000000000000" pitchFamily="2" charset="2"/>
              </a:rPr>
              <a:t> Hash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1E79D-900D-4C9F-A1FB-3A2B0D9E9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38219"/>
          </a:xfrm>
        </p:spPr>
        <p:txBody>
          <a:bodyPr/>
          <a:lstStyle/>
          <a:p>
            <a:r>
              <a:rPr lang="en-US" dirty="0"/>
              <a:t>A hash is cryptographically derived from some data we need to verify the integrity of.</a:t>
            </a:r>
          </a:p>
          <a:p>
            <a:r>
              <a:rPr lang="en-US" dirty="0"/>
              <a:t>The hash functions </a:t>
            </a:r>
            <a:r>
              <a:rPr lang="en-US" u="sng" dirty="0"/>
              <a:t>cannot be reversed</a:t>
            </a:r>
            <a:r>
              <a:rPr lang="en-US" dirty="0"/>
              <a:t>.</a:t>
            </a:r>
          </a:p>
          <a:p>
            <a:r>
              <a:rPr lang="en-US" dirty="0"/>
              <a:t>An attacker would need to calculate the </a:t>
            </a:r>
            <a:r>
              <a:rPr lang="en-US" u="sng" dirty="0"/>
              <a:t>entire hash</a:t>
            </a:r>
            <a:r>
              <a:rPr lang="en-US" dirty="0"/>
              <a:t> and brute force figure out how to change parts of the message.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A9A28-A083-4010-9F8C-19A3F4470A8F}"/>
              </a:ext>
            </a:extLst>
          </p:cNvPr>
          <p:cNvSpPr txBox="1"/>
          <p:nvPr/>
        </p:nvSpPr>
        <p:spPr>
          <a:xfrm>
            <a:off x="1100254" y="4742985"/>
            <a:ext cx="89581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 of Hashes: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SHA-2 (SHA-256)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MD5</a:t>
            </a:r>
          </a:p>
        </p:txBody>
      </p:sp>
    </p:spTree>
    <p:extLst>
      <p:ext uri="{BB962C8B-B14F-4D97-AF65-F5344CB8AC3E}">
        <p14:creationId xmlns:p14="http://schemas.microsoft.com/office/powerpoint/2010/main" val="3286023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D968C-B559-494B-A106-BE789528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Attacks on Integrity: Hash Collision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B5774-9F58-48AC-ABEB-DB32243FB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4459"/>
            <a:ext cx="10515600" cy="22674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“collision” occurs when two data sources produce the same “hash”.</a:t>
            </a:r>
          </a:p>
          <a:p>
            <a:r>
              <a:rPr lang="en-US" dirty="0"/>
              <a:t>Collisions are </a:t>
            </a:r>
            <a:r>
              <a:rPr lang="en-US" u="sng" dirty="0"/>
              <a:t>always possible</a:t>
            </a:r>
            <a:r>
              <a:rPr lang="en-US" dirty="0"/>
              <a:t>, as the hashes are much </a:t>
            </a:r>
            <a:r>
              <a:rPr lang="en-US" dirty="0" err="1"/>
              <a:t>much</a:t>
            </a:r>
            <a:r>
              <a:rPr lang="en-US" dirty="0"/>
              <a:t> smaller than the files (that is the point of them).</a:t>
            </a:r>
          </a:p>
          <a:p>
            <a:pPr lvl="1"/>
            <a:r>
              <a:rPr lang="en-US" dirty="0"/>
              <a:t>i.e., file may be 1 GB, hash is 32-bytes.</a:t>
            </a:r>
          </a:p>
          <a:p>
            <a:r>
              <a:rPr lang="en-CA" dirty="0"/>
              <a:t>A hash makes it </a:t>
            </a:r>
            <a:r>
              <a:rPr lang="en-CA" u="sng" dirty="0"/>
              <a:t>computationally infeasible</a:t>
            </a:r>
            <a:r>
              <a:rPr lang="en-CA" dirty="0"/>
              <a:t> to figure out a hash.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EB1A8B-527B-4F02-A2F3-AA3B1A735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385" y="4338474"/>
            <a:ext cx="4519961" cy="245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228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B5934-12C5-4030-91CF-1A782916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SHA-1 Hash Collision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F9A58-C8C9-4439-9AB6-EC7D638DF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85712"/>
          </a:xfrm>
        </p:spPr>
        <p:txBody>
          <a:bodyPr>
            <a:normAutofit/>
          </a:bodyPr>
          <a:lstStyle/>
          <a:p>
            <a:r>
              <a:rPr lang="en-US" dirty="0"/>
              <a:t>In 2017 team at CWI Amsterdam + Google performed such a collision attack, using an algorithm much faster than brute force (100000x faster).</a:t>
            </a:r>
          </a:p>
          <a:p>
            <a:r>
              <a:rPr lang="en-US" dirty="0"/>
              <a:t>SHA-1 (at the time still ‘trusted’) uses 160 bits.</a:t>
            </a:r>
          </a:p>
          <a:p>
            <a:r>
              <a:rPr lang="en-CA" dirty="0"/>
              <a:t>9,223,372,036,854,775,808 SHA1 computations.</a:t>
            </a:r>
          </a:p>
          <a:p>
            <a:pPr lvl="1"/>
            <a:r>
              <a:rPr lang="en-CA" dirty="0"/>
              <a:t>6500 years of single-CPU time, or 110 years of Single GPU time.</a:t>
            </a:r>
          </a:p>
          <a:p>
            <a:pPr lvl="1"/>
            <a:r>
              <a:rPr lang="en-CA" dirty="0"/>
              <a:t>Google had many </a:t>
            </a:r>
            <a:r>
              <a:rPr lang="en-CA" dirty="0" err="1"/>
              <a:t>many</a:t>
            </a:r>
            <a:r>
              <a:rPr lang="en-CA" dirty="0"/>
              <a:t> GPUs/CPUs to throw at this…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2AFE9-9B79-49E4-99CF-EB27950D9631}"/>
              </a:ext>
            </a:extLst>
          </p:cNvPr>
          <p:cNvSpPr txBox="1"/>
          <p:nvPr/>
        </p:nvSpPr>
        <p:spPr>
          <a:xfrm>
            <a:off x="4586868" y="511544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hlinkClick r:id="rId2"/>
              </a:rPr>
              <a:t>https://shattered.io/</a:t>
            </a:r>
            <a:r>
              <a:rPr lang="en-CA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9726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12CCD-2232-4A24-B0D8-E02A00101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+ Integrity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A25B2-82CC-413C-B77F-E7DC42606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Integrity relies on the hash of a file.</a:t>
            </a:r>
          </a:p>
          <a:p>
            <a:r>
              <a:rPr lang="en-US" dirty="0"/>
              <a:t>A hash is derived from a file, and allows us to send a file over “untrusted” methods.</a:t>
            </a:r>
          </a:p>
          <a:p>
            <a:r>
              <a:rPr lang="en-US" dirty="0"/>
              <a:t>End user can confirm the hash matches.</a:t>
            </a:r>
          </a:p>
          <a:p>
            <a:r>
              <a:rPr lang="en-US" dirty="0"/>
              <a:t>But… how can we get that hash to someone?</a:t>
            </a:r>
          </a:p>
          <a:p>
            <a:r>
              <a:rPr lang="en-US" dirty="0"/>
              <a:t>Why not transfer the entire file using this “secure channel” if we have it?</a:t>
            </a:r>
          </a:p>
          <a:p>
            <a:endParaRPr lang="en-US" dirty="0"/>
          </a:p>
          <a:p>
            <a:r>
              <a:rPr lang="en-US" i="1" dirty="0"/>
              <a:t>Quick example of why: you phone your friend – you could read a hash to them, but you cannot read 100GB file to them.</a:t>
            </a:r>
          </a:p>
        </p:txBody>
      </p:sp>
    </p:spTree>
    <p:extLst>
      <p:ext uri="{BB962C8B-B14F-4D97-AF65-F5344CB8AC3E}">
        <p14:creationId xmlns:p14="http://schemas.microsoft.com/office/powerpoint/2010/main" val="162933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8ABB-1ACE-0C4B-178A-60FD5E991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Attacks on Integrity: TOC/TOU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4DF28-AE70-7F96-C44B-EAAE4D733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7814" cy="4351338"/>
          </a:xfrm>
        </p:spPr>
        <p:txBody>
          <a:bodyPr/>
          <a:lstStyle/>
          <a:p>
            <a:r>
              <a:rPr lang="en-CA" dirty="0"/>
              <a:t>Time of Check / Time of Use</a:t>
            </a:r>
          </a:p>
          <a:p>
            <a:endParaRPr lang="en-CA" dirty="0"/>
          </a:p>
          <a:p>
            <a:r>
              <a:rPr lang="en-CA" dirty="0"/>
              <a:t>Relies on some distance between a </a:t>
            </a:r>
            <a:r>
              <a:rPr lang="en-CA" u="sng" dirty="0"/>
              <a:t>check</a:t>
            </a:r>
            <a:r>
              <a:rPr lang="en-CA" dirty="0"/>
              <a:t> of a property and the resulting </a:t>
            </a:r>
            <a:r>
              <a:rPr lang="en-CA" u="sng" dirty="0"/>
              <a:t>use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Often on embedded system we take advantage of lack of lots of memory.</a:t>
            </a:r>
          </a:p>
        </p:txBody>
      </p:sp>
      <p:pic>
        <p:nvPicPr>
          <p:cNvPr id="3074" name="Picture 2" descr="Fake IDs so Real, They're Frightening | Bar &amp; Restaurant">
            <a:extLst>
              <a:ext uri="{FF2B5EF4-FFF2-40B4-BE49-F238E27FC236}">
                <a16:creationId xmlns:a16="http://schemas.microsoft.com/office/drawing/2014/main" id="{F15C0DCB-D0C3-416F-E657-F4EDD9F92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565" y="1994128"/>
            <a:ext cx="571500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579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C21757-0D13-A2B9-8936-C5DE383E6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064" y="1447490"/>
            <a:ext cx="105156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/>
              <a:t>Following example from:</a:t>
            </a:r>
          </a:p>
          <a:p>
            <a:pPr marL="914400" lvl="2" indent="0">
              <a:buNone/>
            </a:pPr>
            <a:r>
              <a:rPr lang="en-CA" dirty="0">
                <a:hlinkClick r:id="rId2"/>
              </a:rPr>
              <a:t>https://www.usenix.org/sites/default/files/conference/protected-files/michele_woot12_slides.pdf</a:t>
            </a:r>
            <a:endParaRPr lang="en-CA" dirty="0"/>
          </a:p>
          <a:p>
            <a:pPr marL="914400" lvl="2" indent="0">
              <a:buNone/>
            </a:pPr>
            <a:r>
              <a:rPr lang="en-CA" dirty="0">
                <a:hlinkClick r:id="rId3"/>
              </a:rPr>
              <a:t>https://www.usenix.org/conference/woot12/workshop-program/presentation/mulliner</a:t>
            </a:r>
            <a:endParaRPr lang="en-CA" dirty="0"/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1EAB1-CD01-96EE-145C-EFFBB6B26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486" y="3109107"/>
            <a:ext cx="4680075" cy="345325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E107DB2-641A-8CDC-047D-7E6C57EA5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TOC/TOU in Real Life</a:t>
            </a:r>
          </a:p>
        </p:txBody>
      </p:sp>
    </p:spTree>
    <p:extLst>
      <p:ext uri="{BB962C8B-B14F-4D97-AF65-F5344CB8AC3E}">
        <p14:creationId xmlns:p14="http://schemas.microsoft.com/office/powerpoint/2010/main" val="3702402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13E43-5349-1412-54D7-B7BD0649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A66252-CE71-0C67-2380-C8B0207CA5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7560" y="2201182"/>
            <a:ext cx="3309320" cy="4351338"/>
          </a:xfrm>
          <a:prstGeom prst="rect">
            <a:avLst/>
          </a:prstGeom>
        </p:spPr>
      </p:pic>
      <p:pic>
        <p:nvPicPr>
          <p:cNvPr id="4098" name="Picture 2" descr="SanDisk® Cruzer® Glide™ Flashdrive 16GB">
            <a:extLst>
              <a:ext uri="{FF2B5EF4-FFF2-40B4-BE49-F238E27FC236}">
                <a16:creationId xmlns:a16="http://schemas.microsoft.com/office/drawing/2014/main" id="{6D88B9A3-8B31-F43C-FE2A-3891C4E93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446071" y="934357"/>
            <a:ext cx="253365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green circuit board with many different components&#10;&#10;AI-generated content may be incorrect.">
            <a:extLst>
              <a:ext uri="{FF2B5EF4-FFF2-40B4-BE49-F238E27FC236}">
                <a16:creationId xmlns:a16="http://schemas.microsoft.com/office/drawing/2014/main" id="{0BD66007-A4E8-6F4C-0DBB-6E6457667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719" y="1305891"/>
            <a:ext cx="3402470" cy="281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5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F7FE-F717-BD19-1624-A8E6EA8A6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Property 3: Availability</a:t>
            </a:r>
          </a:p>
        </p:txBody>
      </p:sp>
      <p:pic>
        <p:nvPicPr>
          <p:cNvPr id="1026" name="Picture 2" descr="How we stopped a large-scale DDoS attack | Altis Cloud">
            <a:extLst>
              <a:ext uri="{FF2B5EF4-FFF2-40B4-BE49-F238E27FC236}">
                <a16:creationId xmlns:a16="http://schemas.microsoft.com/office/drawing/2014/main" id="{777895A0-1129-BEC5-B3C1-F4EF2AA8C6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88" y="1482724"/>
            <a:ext cx="8032565" cy="4705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518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3CDD-520A-1A20-1F7B-8BFC42B4B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Distributed Denial of Service (DDoS) Attack</a:t>
            </a:r>
          </a:p>
        </p:txBody>
      </p:sp>
      <p:pic>
        <p:nvPicPr>
          <p:cNvPr id="2050" name="Picture 2" descr="Denial-of-service attack - Wikipedia">
            <a:extLst>
              <a:ext uri="{FF2B5EF4-FFF2-40B4-BE49-F238E27FC236}">
                <a16:creationId xmlns:a16="http://schemas.microsoft.com/office/drawing/2014/main" id="{3C7627AB-9AA2-815C-B183-58E22C45C5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558" y="1327604"/>
            <a:ext cx="3728778" cy="527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476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49A77-5201-4FDE-303A-D070DCCD1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DDoS Botnet of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650AC-4B40-F16B-2C83-4491CBDE8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78525" cy="4351338"/>
          </a:xfrm>
        </p:spPr>
        <p:txBody>
          <a:bodyPr>
            <a:normAutofit fontScale="92500"/>
          </a:bodyPr>
          <a:lstStyle/>
          <a:p>
            <a:r>
              <a:rPr lang="en-CA" dirty="0"/>
              <a:t>Mirai Botnet attacked the type of device you looked at in the lab.</a:t>
            </a:r>
          </a:p>
          <a:p>
            <a:endParaRPr lang="en-CA" dirty="0"/>
          </a:p>
          <a:p>
            <a:r>
              <a:rPr lang="en-CA" dirty="0"/>
              <a:t>Relied on </a:t>
            </a:r>
            <a:r>
              <a:rPr lang="en-CA" u="sng" dirty="0"/>
              <a:t>internet facing</a:t>
            </a:r>
            <a:r>
              <a:rPr lang="en-CA" dirty="0"/>
              <a:t> ports and services (not internal serial ports).</a:t>
            </a:r>
          </a:p>
          <a:p>
            <a:endParaRPr lang="en-CA" dirty="0"/>
          </a:p>
          <a:p>
            <a:r>
              <a:rPr lang="en-CA" dirty="0"/>
              <a:t>But how would you discover that…</a:t>
            </a:r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ABCF40FE-F608-52E7-054D-D6994DB6D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332" y="1455509"/>
            <a:ext cx="6036311" cy="487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04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101B6-F293-E3DC-6E22-B81D0AD3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&lt;2</a:t>
            </a:r>
            <a:r>
              <a:rPr lang="en-CA" baseline="30000" dirty="0"/>
              <a:t>nd</a:t>
            </a:r>
            <a:r>
              <a:rPr lang="en-CA" dirty="0"/>
              <a:t> Slide Interlude&gt;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69ABC-3C19-06AE-A2AE-36B118062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https://www.usenix.org/sites/default/files/conference/protected-files/usenixsecurity17_slides_ma_zane.pdf</a:t>
            </a:r>
            <a:r>
              <a:rPr lang="en-CA" dirty="0"/>
              <a:t> </a:t>
            </a:r>
          </a:p>
          <a:p>
            <a:endParaRPr lang="en-CA" dirty="0"/>
          </a:p>
          <a:p>
            <a:r>
              <a:rPr lang="en-CA" dirty="0">
                <a:hlinkClick r:id="rId3"/>
              </a:rPr>
              <a:t>https://itp.cdn.icann.org/en/files/meetings/presentation-intro-to-mirai-espinoza-05nov16-en.pdf</a:t>
            </a:r>
            <a:r>
              <a:rPr lang="en-CA" dirty="0"/>
              <a:t>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9293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904F-CCEC-F9AE-22AC-0FD640439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 of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2B44E-C17A-E599-07D9-3E6D8B55E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Confidentiality</a:t>
            </a:r>
            <a:r>
              <a:rPr lang="en-CA" dirty="0"/>
              <a:t>: Prevents someone from reading the message, could perhaps still </a:t>
            </a:r>
            <a:r>
              <a:rPr lang="en-CA" i="1" dirty="0"/>
              <a:t>understand</a:t>
            </a:r>
            <a:r>
              <a:rPr lang="en-CA" dirty="0"/>
              <a:t> from the context</a:t>
            </a:r>
          </a:p>
          <a:p>
            <a:endParaRPr lang="en-CA" i="1" dirty="0"/>
          </a:p>
          <a:p>
            <a:r>
              <a:rPr lang="en-CA" b="1" dirty="0"/>
              <a:t>Integrity</a:t>
            </a:r>
            <a:r>
              <a:rPr lang="en-CA" dirty="0"/>
              <a:t>: Ensures messages has not been modified.</a:t>
            </a:r>
          </a:p>
          <a:p>
            <a:endParaRPr lang="en-CA" dirty="0"/>
          </a:p>
          <a:p>
            <a:r>
              <a:rPr lang="en-CA" b="1" dirty="0"/>
              <a:t>Availability</a:t>
            </a:r>
            <a:r>
              <a:rPr lang="en-CA" dirty="0"/>
              <a:t>: Ensures service is available for legitimate users.</a:t>
            </a:r>
          </a:p>
          <a:p>
            <a:endParaRPr lang="en-CA" dirty="0"/>
          </a:p>
          <a:p>
            <a:r>
              <a:rPr lang="en-CA" b="1" dirty="0"/>
              <a:t>Non-Repudiation</a:t>
            </a:r>
            <a:r>
              <a:rPr lang="en-CA" dirty="0"/>
              <a:t>: Guarantee of </a:t>
            </a:r>
            <a:r>
              <a:rPr lang="en-CA" i="1" dirty="0"/>
              <a:t>who</a:t>
            </a:r>
            <a:r>
              <a:rPr lang="en-CA" dirty="0"/>
              <a:t> sent a message (we’ll look more at this next time).</a:t>
            </a:r>
          </a:p>
        </p:txBody>
      </p:sp>
    </p:spTree>
    <p:extLst>
      <p:ext uri="{BB962C8B-B14F-4D97-AF65-F5344CB8AC3E}">
        <p14:creationId xmlns:p14="http://schemas.microsoft.com/office/powerpoint/2010/main" val="1245602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1092</Words>
  <Application>Microsoft Office PowerPoint</Application>
  <PresentationFormat>Widescreen</PresentationFormat>
  <Paragraphs>130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Wingdings</vt:lpstr>
      <vt:lpstr>Office Theme</vt:lpstr>
      <vt:lpstr>0x301 – What Security Gives Us</vt:lpstr>
      <vt:lpstr>Confidentiality</vt:lpstr>
      <vt:lpstr>Integrity</vt:lpstr>
      <vt:lpstr>Availability</vt:lpstr>
      <vt:lpstr>Non-repudiation</vt:lpstr>
      <vt:lpstr>Property 1: Confidentiality</vt:lpstr>
      <vt:lpstr>PowerPoint Presentation</vt:lpstr>
      <vt:lpstr>“Real” Example: AES-CBC Attack</vt:lpstr>
      <vt:lpstr>Flipping a bit here…</vt:lpstr>
      <vt:lpstr>Attacks on Confidentiality: Replay Attacks</vt:lpstr>
      <vt:lpstr>Attacks on Confidentiality: Replay Attacks</vt:lpstr>
      <vt:lpstr>e.g., Replay Attacks on Wireless Devices</vt:lpstr>
      <vt:lpstr>e.g., Replay Attacks on Wireless Devices</vt:lpstr>
      <vt:lpstr>PowerPoint Presentation</vt:lpstr>
      <vt:lpstr>Property 2: Integrity</vt:lpstr>
      <vt:lpstr>Simple Checksum Example</vt:lpstr>
      <vt:lpstr>Simple Checksum Hacking Example</vt:lpstr>
      <vt:lpstr>Cryptographic Integrity  Hash</vt:lpstr>
      <vt:lpstr>Attacks on Integrity: Hash Collision</vt:lpstr>
      <vt:lpstr>SHA-1 Hash Collision</vt:lpstr>
      <vt:lpstr>Authentication + Integrity</vt:lpstr>
      <vt:lpstr>Attacks on Integrity: TOC/TOU</vt:lpstr>
      <vt:lpstr>TOC/TOU in Real Life</vt:lpstr>
      <vt:lpstr>PowerPoint Presentation</vt:lpstr>
      <vt:lpstr>Property 3: Availability</vt:lpstr>
      <vt:lpstr>Distributed Denial of Service (DDoS) Attack</vt:lpstr>
      <vt:lpstr>DDoS Botnet of IoT</vt:lpstr>
      <vt:lpstr>&lt;2nd Slide Interlude&gt;</vt:lpstr>
      <vt:lpstr>Summary of Properties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0x101 – Security in History Basic Ciphers</dc:title>
  <dc:creator>Colin O'Flynn</dc:creator>
  <cp:lastModifiedBy>Colin O'Flynn</cp:lastModifiedBy>
  <cp:revision>20</cp:revision>
  <dcterms:created xsi:type="dcterms:W3CDTF">2020-09-07T18:26:19Z</dcterms:created>
  <dcterms:modified xsi:type="dcterms:W3CDTF">2026-02-05T13:39:32Z</dcterms:modified>
</cp:coreProperties>
</file>