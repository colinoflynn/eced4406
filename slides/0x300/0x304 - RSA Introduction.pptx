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63" r:id="rId7"/>
    <p:sldId id="264" r:id="rId8"/>
    <p:sldId id="265" r:id="rId9"/>
    <p:sldId id="266" r:id="rId10"/>
    <p:sldId id="267" r:id="rId11"/>
    <p:sldId id="268" r:id="rId12"/>
    <p:sldId id="272" r:id="rId13"/>
    <p:sldId id="275" r:id="rId14"/>
    <p:sldId id="276" r:id="rId15"/>
    <p:sldId id="278" r:id="rId16"/>
    <p:sldId id="274" r:id="rId17"/>
    <p:sldId id="279" r:id="rId18"/>
    <p:sldId id="280" r:id="rId19"/>
    <p:sldId id="269" r:id="rId20"/>
    <p:sldId id="270" r:id="rId21"/>
    <p:sldId id="277" r:id="rId22"/>
    <p:sldId id="271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16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0x304 – RSA Introduction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53F0-E81C-4A3C-BFAD-8488FED1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9195" cy="1325563"/>
          </a:xfrm>
        </p:spPr>
        <p:txBody>
          <a:bodyPr/>
          <a:lstStyle/>
          <a:p>
            <a:r>
              <a:rPr lang="en-US" dirty="0"/>
              <a:t>What is Asymmetric (Public Key) Cryptography?</a:t>
            </a:r>
            <a:endParaRPr lang="en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7079AB-9E0A-430A-B2D6-1A0B95B9CB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585" y="1967026"/>
            <a:ext cx="4019169" cy="392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93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E61E-C7ED-40F8-8042-8D478542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Asymmetric Cryptography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37988-8684-4E36-8FAA-6EF01154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Pros:</a:t>
            </a:r>
          </a:p>
          <a:p>
            <a:r>
              <a:rPr lang="en-US" dirty="0"/>
              <a:t>Solves key distribution problem we had in symmetric cryptography.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Cons:</a:t>
            </a:r>
          </a:p>
          <a:p>
            <a:r>
              <a:rPr lang="en-US" dirty="0"/>
              <a:t>Algorithms are much slower than symmetric.</a:t>
            </a:r>
          </a:p>
          <a:p>
            <a:r>
              <a:rPr lang="en-US" dirty="0"/>
              <a:t>Algorithms are much larger than symmetric.</a:t>
            </a:r>
          </a:p>
          <a:p>
            <a:r>
              <a:rPr lang="en-US" dirty="0"/>
              <a:t>Classic (current) algorithms are vulnerable to quantum computing.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2316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0FBE-CA54-4852-8116-5E36EFAC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Background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0663F-2BA4-4FBB-8811-98917DA41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13" y="1778559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Idea of public/private cryptosystem introduced by Whitfield Diffie and Martin Hellman in 1976.</a:t>
            </a:r>
          </a:p>
          <a:p>
            <a:pPr lvl="1"/>
            <a:r>
              <a:rPr lang="en-US" dirty="0"/>
              <a:t>Left open problem of how to actually create a </a:t>
            </a:r>
            <a:r>
              <a:rPr lang="en-US" i="1" dirty="0"/>
              <a:t>one-way function.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43448-0522-46BE-8A84-209B8B76CB7C}"/>
              </a:ext>
            </a:extLst>
          </p:cNvPr>
          <p:cNvSpPr txBox="1"/>
          <p:nvPr/>
        </p:nvSpPr>
        <p:spPr>
          <a:xfrm>
            <a:off x="958291" y="3563937"/>
            <a:ext cx="9641434" cy="83099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One-way function: </a:t>
            </a:r>
            <a:r>
              <a:rPr lang="en-US" sz="2400" dirty="0"/>
              <a:t>Easy to compute with inputs known, hard (effectively impossible) to take output and “reverse” to get inputs.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463D70-90FF-4C03-899F-57044679219D}"/>
              </a:ext>
            </a:extLst>
          </p:cNvPr>
          <p:cNvSpPr txBox="1">
            <a:spLocks/>
          </p:cNvSpPr>
          <p:nvPr/>
        </p:nvSpPr>
        <p:spPr>
          <a:xfrm>
            <a:off x="604113" y="4889500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RSA invented in 1977 by Ron </a:t>
            </a:r>
            <a:r>
              <a:rPr lang="en-US" dirty="0" err="1"/>
              <a:t>Rivest</a:t>
            </a:r>
            <a:r>
              <a:rPr lang="en-US" dirty="0"/>
              <a:t>, Adi Shamir, and Leonard </a:t>
            </a:r>
            <a:r>
              <a:rPr lang="en-US" dirty="0" err="1"/>
              <a:t>Adleman</a:t>
            </a:r>
            <a:r>
              <a:rPr lang="en-US" dirty="0"/>
              <a:t>, using factoring problem as the one-way function.</a:t>
            </a:r>
          </a:p>
        </p:txBody>
      </p:sp>
    </p:spTree>
    <p:extLst>
      <p:ext uri="{BB962C8B-B14F-4D97-AF65-F5344CB8AC3E}">
        <p14:creationId xmlns:p14="http://schemas.microsoft.com/office/powerpoint/2010/main" val="150013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8B6B-4080-4E27-8F05-EF336DCA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Problems?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1EA90-A4EC-407F-8F76-0E7C502CE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god?</a:t>
            </a:r>
          </a:p>
          <a:p>
            <a:r>
              <a:rPr lang="en-US" dirty="0"/>
              <a:t>Who are my real friends?</a:t>
            </a:r>
          </a:p>
          <a:p>
            <a:r>
              <a:rPr lang="en-US" dirty="0"/>
              <a:t>Factoring integer multiplication?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607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A555-47D9-4029-95F9-C26AAFC8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Idea: Factoring of integers into prime factors is hard.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36CB-3E90-4841-B741-D528B7BC9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does this mean??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7 * 11 = 77</a:t>
            </a:r>
          </a:p>
          <a:p>
            <a:pPr marL="0" indent="0">
              <a:buNone/>
            </a:pPr>
            <a:endParaRPr lang="en-CA" dirty="0">
              <a:solidFill>
                <a:srgbClr val="333333"/>
              </a:solidFill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CA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We use:</a:t>
            </a:r>
          </a:p>
          <a:p>
            <a:pPr marL="0" indent="0">
              <a:buNone/>
            </a:pPr>
            <a:r>
              <a:rPr lang="en-CA" b="1" dirty="0">
                <a:solidFill>
                  <a:srgbClr val="333333"/>
                </a:solidFill>
                <a:latin typeface="Verdana" panose="020B0604030504040204" pitchFamily="34" charset="0"/>
              </a:rPr>
              <a:t>n = p * q</a:t>
            </a:r>
            <a:endParaRPr lang="en-CA" b="1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22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C1E50-215B-4B98-8E21-35F7F2E0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Number Sizes?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C4489-25DC-43A6-BF20-F794828F0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7 = 111 = 3 bits.</a:t>
            </a:r>
          </a:p>
          <a:p>
            <a:r>
              <a:rPr lang="en-US" dirty="0"/>
              <a:t>80 = 10011100010000000 = 17 bits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Normal sizes of computer numbers:</a:t>
            </a:r>
          </a:p>
          <a:p>
            <a:r>
              <a:rPr lang="en-US" dirty="0"/>
              <a:t>8 bits (uint8_t or int8_t)</a:t>
            </a:r>
          </a:p>
          <a:p>
            <a:r>
              <a:rPr lang="en-US" dirty="0"/>
              <a:t>16 bits (uint16_t or int16_t)</a:t>
            </a:r>
          </a:p>
          <a:p>
            <a:r>
              <a:rPr lang="en-US" dirty="0"/>
              <a:t>32 bits (uint32_t or int32_t)</a:t>
            </a:r>
          </a:p>
          <a:p>
            <a:r>
              <a:rPr lang="en-US" dirty="0"/>
              <a:t>64 bits (uint64_t or int64_t)</a:t>
            </a:r>
          </a:p>
        </p:txBody>
      </p:sp>
    </p:spTree>
    <p:extLst>
      <p:ext uri="{BB962C8B-B14F-4D97-AF65-F5344CB8AC3E}">
        <p14:creationId xmlns:p14="http://schemas.microsoft.com/office/powerpoint/2010/main" val="359963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EBA5-ECDF-4C4D-B584-DB0348A1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Number Sizes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A608-688D-44FC-88F1-8539946C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RSA for example uses keys of size (each prime is approx. ½ of this):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512 bit</a:t>
            </a:r>
          </a:p>
          <a:p>
            <a:pPr lvl="1"/>
            <a:r>
              <a:rPr lang="en-US" dirty="0"/>
              <a:t>1024 bit</a:t>
            </a:r>
          </a:p>
          <a:p>
            <a:pPr lvl="1"/>
            <a:r>
              <a:rPr lang="en-US" dirty="0"/>
              <a:t>2048 bit</a:t>
            </a:r>
          </a:p>
          <a:p>
            <a:pPr lvl="1"/>
            <a:r>
              <a:rPr lang="en-US" dirty="0"/>
              <a:t>4096 bit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This means the keys are </a:t>
            </a:r>
            <a:r>
              <a:rPr lang="en-US" i="1" dirty="0"/>
              <a:t>huge</a:t>
            </a:r>
            <a:r>
              <a:rPr lang="en-US" dirty="0"/>
              <a:t> numbers. We call this number ‘</a:t>
            </a:r>
            <a:r>
              <a:rPr lang="en-US" u="sng" dirty="0"/>
              <a:t>big number</a:t>
            </a:r>
            <a:r>
              <a:rPr lang="en-US" dirty="0"/>
              <a:t>’ math typically.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3F4D5-84E9-4FC4-8CE9-068B4F227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51" y="2725885"/>
            <a:ext cx="7242048" cy="181588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RSA-1024 = 135066410865995223349603216278805969938881475605667027524485143851526510604859533833940287150571909441798207282164471551373680419703964191743046496589274256239341020864383202110372958725762358509643110564073501508187510676594629205563685529475213500852879416377328533906109750544334999811150056977236890927563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18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1667-B8B1-43CB-91A8-3436E98E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D9577-45D1-4465-9A74-6811ECF6B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923" y="2458560"/>
            <a:ext cx="3600953" cy="647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C3ABF9-D0B7-47C2-954D-FB6D4142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031" y="4966791"/>
            <a:ext cx="5391902" cy="914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036218-A76B-4AD0-B72E-605ACA707DE1}"/>
              </a:ext>
            </a:extLst>
          </p:cNvPr>
          <p:cNvSpPr txBox="1"/>
          <p:nvPr/>
        </p:nvSpPr>
        <p:spPr>
          <a:xfrm>
            <a:off x="711200" y="1952298"/>
            <a:ext cx="4045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Encryption:</a:t>
            </a:r>
            <a:endParaRPr lang="en-CA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7D89F-0152-40A5-B1F8-6DA273E5042E}"/>
              </a:ext>
            </a:extLst>
          </p:cNvPr>
          <p:cNvSpPr txBox="1"/>
          <p:nvPr/>
        </p:nvSpPr>
        <p:spPr>
          <a:xfrm>
            <a:off x="838200" y="4382483"/>
            <a:ext cx="4045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Decryption: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8538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9B86-73D7-4C27-BFA8-134155C4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what is </a:t>
            </a:r>
            <a:r>
              <a:rPr lang="en-US" i="1" dirty="0"/>
              <a:t>m</a:t>
            </a:r>
            <a:r>
              <a:rPr lang="en-US" dirty="0"/>
              <a:t> 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F9132-40EA-450C-AF57-12846CE1D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m </a:t>
            </a:r>
            <a:r>
              <a:rPr lang="en-US" dirty="0"/>
              <a:t>is the message…. kind of.</a:t>
            </a:r>
          </a:p>
          <a:p>
            <a:endParaRPr lang="en-US" dirty="0"/>
          </a:p>
          <a:p>
            <a:r>
              <a:rPr lang="en-US" dirty="0"/>
              <a:t>The message would normally be something “useful”, such as:</a:t>
            </a:r>
          </a:p>
          <a:p>
            <a:pPr lvl="1"/>
            <a:r>
              <a:rPr lang="en-US" dirty="0"/>
              <a:t>“PASSWORD=HUNTER2”</a:t>
            </a:r>
          </a:p>
          <a:p>
            <a:pPr lvl="1"/>
            <a:endParaRPr lang="en-US" dirty="0"/>
          </a:p>
          <a:p>
            <a:r>
              <a:rPr lang="en-US" dirty="0"/>
              <a:t>We can’t raise a sentence to an exponent!</a:t>
            </a:r>
          </a:p>
          <a:p>
            <a:endParaRPr lang="en-US" dirty="0"/>
          </a:p>
          <a:p>
            <a:r>
              <a:rPr lang="en-US" dirty="0"/>
              <a:t>We use a </a:t>
            </a:r>
            <a:r>
              <a:rPr lang="en-US" i="1" dirty="0"/>
              <a:t>padding scheme</a:t>
            </a:r>
            <a:r>
              <a:rPr lang="en-US" dirty="0"/>
              <a:t> to convert the message into an appropriate integer for RSA.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padding scheme</a:t>
            </a:r>
            <a:r>
              <a:rPr lang="en-US" dirty="0"/>
              <a:t> also prevents a number of attacks related to unsecure message selected (i.e., certain values of </a:t>
            </a:r>
            <a:r>
              <a:rPr lang="en-US" i="1" dirty="0"/>
              <a:t>m</a:t>
            </a:r>
            <a:r>
              <a:rPr lang="en-US" dirty="0"/>
              <a:t> make various attacks easier, we avoid those values of </a:t>
            </a:r>
            <a:r>
              <a:rPr lang="en-US" i="1" dirty="0"/>
              <a:t>m</a:t>
            </a:r>
            <a:r>
              <a:rPr lang="en-US" dirty="0"/>
              <a:t>).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54030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1BFF-D286-4A6A-8C8C-2640A2CF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RSA: Summary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4C44B-278A-4D91-B65F-D73A2493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Asymmetric Cryptography uses separate keys, called public/private keys.</a:t>
            </a:r>
          </a:p>
          <a:p>
            <a:endParaRPr lang="en-US" dirty="0"/>
          </a:p>
          <a:p>
            <a:r>
              <a:rPr lang="en-US" dirty="0"/>
              <a:t>Security is based on </a:t>
            </a:r>
            <a:r>
              <a:rPr lang="en-US" i="1" dirty="0"/>
              <a:t>integer factorization </a:t>
            </a:r>
            <a:r>
              <a:rPr lang="en-US" dirty="0"/>
              <a:t>problem.</a:t>
            </a:r>
          </a:p>
          <a:p>
            <a:endParaRPr lang="en-US" dirty="0"/>
          </a:p>
          <a:p>
            <a:r>
              <a:rPr lang="en-US" dirty="0"/>
              <a:t>Relies on a </a:t>
            </a:r>
            <a:r>
              <a:rPr lang="en-US" i="1" dirty="0"/>
              <a:t>padding scheme</a:t>
            </a:r>
            <a:r>
              <a:rPr lang="en-US" dirty="0"/>
              <a:t> to provide </a:t>
            </a:r>
            <a:r>
              <a:rPr lang="en-US"/>
              <a:t>important framework for usage.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031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1D67-3129-40F0-B7D3-9178C2CA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Factorization Problem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1564-034B-4351-86EC-A2639CA3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RSA Challenge created to provide a (small) incentive to demonstrate this.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73855-DECA-455F-A8E7-F368928E50D4}"/>
              </a:ext>
            </a:extLst>
          </p:cNvPr>
          <p:cNvSpPr txBox="1"/>
          <p:nvPr/>
        </p:nvSpPr>
        <p:spPr>
          <a:xfrm>
            <a:off x="2011256" y="6311900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https://en.wikipedia.org/wiki/RSA_Factoring_Challenge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A1369E-B6CD-4580-AC50-939AD3066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256" y="2604761"/>
            <a:ext cx="5539764" cy="370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7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BE83-775D-4E26-9437-30A7FAA0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known solution (Feb / 2020)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ADC76-DB2B-418A-9E6A-80CA709E7643}"/>
              </a:ext>
            </a:extLst>
          </p:cNvPr>
          <p:cNvSpPr txBox="1"/>
          <p:nvPr/>
        </p:nvSpPr>
        <p:spPr>
          <a:xfrm>
            <a:off x="256032" y="1370585"/>
            <a:ext cx="1152875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RSA-250 = 2140324650240744961264423072839333563008614715144755017797754920881418023447140136643345519095804679610992851872470914587687396261921557363047454770520805119056493106687691590019759405693457452230589325976697471681738069364894699871578494975937497937</a:t>
            </a:r>
          </a:p>
          <a:p>
            <a:r>
              <a:rPr lang="en-CA" dirty="0"/>
              <a:t>        = 64135289477071580278790190170577389084825014742943447208116859632024532344630238623598752668347708737661925585694639798853367</a:t>
            </a:r>
          </a:p>
          <a:p>
            <a:r>
              <a:rPr lang="en-CA" dirty="0"/>
              <a:t>        * 33372027594978156556226010605355114227940760344767554666784520987023841729210037080257448673296881877565718986258036932062711</a:t>
            </a:r>
          </a:p>
          <a:p>
            <a:endParaRPr lang="en-CA" dirty="0"/>
          </a:p>
          <a:p>
            <a:r>
              <a:rPr lang="en-CA" dirty="0"/>
              <a:t>This computation was performed with the Number Field Sieve algorithm,</a:t>
            </a:r>
          </a:p>
          <a:p>
            <a:r>
              <a:rPr lang="en-CA" dirty="0"/>
              <a:t>using the open-source CADO-NFS software [2].</a:t>
            </a:r>
          </a:p>
          <a:p>
            <a:endParaRPr lang="en-CA" dirty="0"/>
          </a:p>
          <a:p>
            <a:r>
              <a:rPr lang="en-CA" dirty="0"/>
              <a:t>The total computation time was roughly 2700 core-years, using Intel Xeon</a:t>
            </a:r>
          </a:p>
          <a:p>
            <a:r>
              <a:rPr lang="en-CA" dirty="0"/>
              <a:t>Gold 6130 CPUs as a reference (2.1GHz):</a:t>
            </a:r>
          </a:p>
          <a:p>
            <a:endParaRPr lang="en-CA" dirty="0"/>
          </a:p>
          <a:p>
            <a:r>
              <a:rPr lang="en-CA" dirty="0"/>
              <a:t>    RSA-250 sieving:  2450 physical core-years</a:t>
            </a:r>
          </a:p>
          <a:p>
            <a:r>
              <a:rPr lang="en-CA" dirty="0"/>
              <a:t>    RSA-250 matrix:    250 physical core-years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F7C90-2A6C-4BB4-95B3-06E3827F539C}"/>
              </a:ext>
            </a:extLst>
          </p:cNvPr>
          <p:cNvSpPr txBox="1"/>
          <p:nvPr/>
        </p:nvSpPr>
        <p:spPr>
          <a:xfrm>
            <a:off x="5894222" y="6001460"/>
            <a:ext cx="6097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https://lists.gforge.inria.fr/pipermail/cado-nfs-discuss/2020-February/001166.html</a:t>
            </a:r>
          </a:p>
        </p:txBody>
      </p:sp>
    </p:spTree>
    <p:extLst>
      <p:ext uri="{BB962C8B-B14F-4D97-AF65-F5344CB8AC3E}">
        <p14:creationId xmlns:p14="http://schemas.microsoft.com/office/powerpoint/2010/main" val="578098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1C9B-F6DE-408E-ADF5-9F8A2E0B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RSA Factorization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74C0-2820-4593-99F5-4B7A257A6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– adding one bit to a binary number </a:t>
            </a:r>
            <a:r>
              <a:rPr lang="en-US" b="1" u="sng" dirty="0"/>
              <a:t>doubles</a:t>
            </a:r>
            <a:r>
              <a:rPr lang="en-US" dirty="0"/>
              <a:t> the space.</a:t>
            </a:r>
          </a:p>
          <a:p>
            <a:endParaRPr lang="en-US" dirty="0"/>
          </a:p>
          <a:p>
            <a:r>
              <a:rPr lang="en-US" dirty="0"/>
              <a:t>Implementation flaws in RSA may make problem easier than classic calculation would suggest.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6072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47E5-AB05-4F70-AB12-1BE7B3C2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Deterministic Problem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F264-1763-4378-BE33-0072A703E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if we used RSA “as-is”, it is </a:t>
            </a:r>
            <a:r>
              <a:rPr lang="en-US" u="sng" dirty="0"/>
              <a:t>deterministic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RSA is always used as part of a larger protocol (normally with the </a:t>
            </a:r>
            <a:r>
              <a:rPr lang="en-US" i="1" dirty="0"/>
              <a:t>padding scheme</a:t>
            </a:r>
            <a:r>
              <a:rPr lang="en-US" dirty="0"/>
              <a:t>) mentioned before to solve this.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67202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8537-6492-4762-B577-BC7374EB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CRT Implementation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76A21-01F6-43F0-BEC3-6758CA315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9869"/>
          </a:xfrm>
        </p:spPr>
        <p:txBody>
          <a:bodyPr/>
          <a:lstStyle/>
          <a:p>
            <a:r>
              <a:rPr lang="en-US" dirty="0"/>
              <a:t>It turns out those </a:t>
            </a:r>
            <a:r>
              <a:rPr lang="en-US" i="1" dirty="0"/>
              <a:t>big number operations</a:t>
            </a:r>
            <a:r>
              <a:rPr lang="en-US" dirty="0"/>
              <a:t> are very slow.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0215C-BD9E-4ED3-A1AF-1AE3AC33C5AD}"/>
              </a:ext>
            </a:extLst>
          </p:cNvPr>
          <p:cNvSpPr txBox="1"/>
          <p:nvPr/>
        </p:nvSpPr>
        <p:spPr>
          <a:xfrm>
            <a:off x="678484" y="6308209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For a nice overview: https://www.di-mgt.com.au/crt_rsa.html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8091E-F112-4504-B355-C5346B34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013" y="2460600"/>
            <a:ext cx="5391902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58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2526-80F9-4F16-AB71-7D5509F1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RSA-CRT Fault Implementations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0552-C2F7-4806-8205-2D330A11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29178"/>
          </a:xfrm>
        </p:spPr>
        <p:txBody>
          <a:bodyPr/>
          <a:lstStyle/>
          <a:p>
            <a:r>
              <a:rPr lang="en-US" dirty="0"/>
              <a:t>If part of the algorithm is calculated incorrectly in RSA-CRT… very bad!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721C2-689B-4F4C-9B77-A95FDA49BA45}"/>
              </a:ext>
            </a:extLst>
          </p:cNvPr>
          <p:cNvSpPr txBox="1"/>
          <p:nvPr/>
        </p:nvSpPr>
        <p:spPr>
          <a:xfrm>
            <a:off x="656540" y="5553404"/>
            <a:ext cx="10572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Original work: Dan </a:t>
            </a:r>
            <a:r>
              <a:rPr lang="en-CA" dirty="0" err="1"/>
              <a:t>Boneh</a:t>
            </a:r>
            <a:r>
              <a:rPr lang="en-CA" dirty="0"/>
              <a:t>, Richard </a:t>
            </a:r>
            <a:r>
              <a:rPr lang="en-CA" dirty="0" err="1"/>
              <a:t>DeMillo</a:t>
            </a:r>
            <a:r>
              <a:rPr lang="en-CA" dirty="0"/>
              <a:t>, Richard Lipton. “</a:t>
            </a:r>
            <a:r>
              <a:rPr lang="en-US" dirty="0"/>
              <a:t>On the Importance of Checking Cryptographic Protocols for Faults”.</a:t>
            </a:r>
          </a:p>
          <a:p>
            <a:endParaRPr lang="en-CA" dirty="0"/>
          </a:p>
          <a:p>
            <a:r>
              <a:rPr lang="en-CA" dirty="0"/>
              <a:t>Nice overview at: https://www.cryptologie.net/article/371/fault-attacks-on-rsas-signatures/</a:t>
            </a:r>
          </a:p>
        </p:txBody>
      </p:sp>
      <p:pic>
        <p:nvPicPr>
          <p:cNvPr id="5122" name="Picture 2" descr="crt">
            <a:extLst>
              <a:ext uri="{FF2B5EF4-FFF2-40B4-BE49-F238E27FC236}">
                <a16:creationId xmlns:a16="http://schemas.microsoft.com/office/drawing/2014/main" id="{6632EA67-1316-4F1D-928D-2382EC121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44582"/>
            <a:ext cx="10261599" cy="199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945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FC83-E3D9-418B-9570-63F638FE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RSA-CRT Fault Countermeasures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9949-B6E5-4D2C-B269-9B40107D6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Relatively easy solution – </a:t>
            </a:r>
            <a:r>
              <a:rPr lang="en-US" u="sng" dirty="0"/>
              <a:t>check the result works</a:t>
            </a:r>
            <a:r>
              <a:rPr lang="en-US" dirty="0"/>
              <a:t> before returning to user (or potential attacker).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7433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5C0E-39F6-4463-BA30-CE827A6A1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 &amp; RSA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A83BB-89C2-45F9-BFF0-0EAB4E906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Quantum computing has known good “quantum algorithm” to solve integer factorization problem (Shor’s Algorithm).</a:t>
            </a:r>
          </a:p>
          <a:p>
            <a:endParaRPr lang="en-US" dirty="0"/>
          </a:p>
          <a:p>
            <a:r>
              <a:rPr lang="en-CA" dirty="0"/>
              <a:t>Factoring RSA-2048, estimated to take &gt; 1 million qubit computer.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D1B7A9-38CA-4DFA-B2A5-52A06596CCF4}"/>
              </a:ext>
            </a:extLst>
          </p:cNvPr>
          <p:cNvSpPr txBox="1"/>
          <p:nvPr/>
        </p:nvSpPr>
        <p:spPr>
          <a:xfrm>
            <a:off x="677875" y="6062375"/>
            <a:ext cx="10675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https://www.technologyreview.com/2019/05/30/65724/how-a-quantum-computer-could-break-2048-bit-rsa-encryption-in-8-hours/</a:t>
            </a:r>
          </a:p>
        </p:txBody>
      </p:sp>
    </p:spTree>
    <p:extLst>
      <p:ext uri="{BB962C8B-B14F-4D97-AF65-F5344CB8AC3E}">
        <p14:creationId xmlns:p14="http://schemas.microsoft.com/office/powerpoint/2010/main" val="1191380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6913-A3CD-4BFE-ABEF-737423F5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 – A Hard Problem!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800FD8-30DD-4A84-96E4-AF41B594E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145" y="1579038"/>
            <a:ext cx="676526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BB9C0F-A112-4146-9E46-58826E1DF0B3}"/>
              </a:ext>
            </a:extLst>
          </p:cNvPr>
          <p:cNvSpPr txBox="1"/>
          <p:nvPr/>
        </p:nvSpPr>
        <p:spPr>
          <a:xfrm>
            <a:off x="546811" y="6169709"/>
            <a:ext cx="10455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https://www.statista.com/statistics/993634/quantum-computers-by-number-of-qubits/</a:t>
            </a:r>
          </a:p>
        </p:txBody>
      </p:sp>
      <p:pic>
        <p:nvPicPr>
          <p:cNvPr id="4" name="Picture 3" descr="A group of people in a website&#10;&#10;AI-generated content may be incorrect.">
            <a:extLst>
              <a:ext uri="{FF2B5EF4-FFF2-40B4-BE49-F238E27FC236}">
                <a16:creationId xmlns:a16="http://schemas.microsoft.com/office/drawing/2014/main" id="{000310FC-2432-BAAC-3796-EBC511A3D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398"/>
            <a:ext cx="12192000" cy="599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0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90E7-69C1-48CF-8625-BAD60C0D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Factoring Algorithms &amp; Quantum Qubits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7183D-EBD5-4BCF-83E2-905F90D52B24}"/>
              </a:ext>
            </a:extLst>
          </p:cNvPr>
          <p:cNvSpPr txBox="1"/>
          <p:nvPr/>
        </p:nvSpPr>
        <p:spPr>
          <a:xfrm>
            <a:off x="1146048" y="5938646"/>
            <a:ext cx="9278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/>
              <a:t>https://www.quintessencelabs.com/blog/breaking-rsa-encryption-update-state-art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2831E-C92E-4621-B52C-8ADCF358A971}"/>
              </a:ext>
            </a:extLst>
          </p:cNvPr>
          <p:cNvSpPr txBox="1"/>
          <p:nvPr/>
        </p:nvSpPr>
        <p:spPr>
          <a:xfrm>
            <a:off x="6576365" y="1631290"/>
            <a:ext cx="41038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Factoring RSA-2048 originally required 1 billion qubits.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Improvements to algorithm went to 230 million (2017), then 20 million (2019), then ~1 million (2025)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may yet be a collision of better algorithms &amp; improvements in quantum computing.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open problem…</a:t>
            </a:r>
            <a:endParaRPr lang="en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52285C-217F-0466-BEA7-2660C5CAA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33512"/>
            <a:ext cx="6448028" cy="375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C9AD00-2F07-B56C-D13F-D41A0B3098E0}"/>
              </a:ext>
            </a:extLst>
          </p:cNvPr>
          <p:cNvSpPr txBox="1"/>
          <p:nvPr/>
        </p:nvSpPr>
        <p:spPr>
          <a:xfrm>
            <a:off x="1146048" y="52923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https://quantumcomputingreport.com/significant-theoretical-advancement-in-factoring-2048-bit-rsa-integers/</a:t>
            </a:r>
          </a:p>
        </p:txBody>
      </p:sp>
    </p:spTree>
    <p:extLst>
      <p:ext uri="{BB962C8B-B14F-4D97-AF65-F5344CB8AC3E}">
        <p14:creationId xmlns:p14="http://schemas.microsoft.com/office/powerpoint/2010/main" val="2686555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E9ED-663D-4DEE-AECB-7DCD9104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Computer &amp; Classic Methods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ECDAE-040B-4F7E-8B6F-4A9B3374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Symmetric algorithms (such as AES) </a:t>
            </a:r>
            <a:r>
              <a:rPr lang="en-US" i="1" u="sng" dirty="0"/>
              <a:t>are not broken</a:t>
            </a:r>
            <a:r>
              <a:rPr lang="en-US" dirty="0"/>
              <a:t> by quantum computing.</a:t>
            </a:r>
          </a:p>
          <a:p>
            <a:pPr lvl="1"/>
            <a:r>
              <a:rPr lang="en-US" dirty="0"/>
              <a:t>You will sometimes see an incorrect claim that quantum computing will destroy </a:t>
            </a:r>
            <a:r>
              <a:rPr lang="en-US" u="sng" dirty="0"/>
              <a:t>all</a:t>
            </a:r>
            <a:r>
              <a:rPr lang="en-US" dirty="0"/>
              <a:t> current cryptography.</a:t>
            </a:r>
          </a:p>
          <a:p>
            <a:endParaRPr lang="en-US" dirty="0"/>
          </a:p>
          <a:p>
            <a:r>
              <a:rPr lang="en-US" dirty="0"/>
              <a:t>Symmetric algorithms have their ‘key size’ reduced by half.</a:t>
            </a:r>
          </a:p>
          <a:p>
            <a:pPr lvl="1"/>
            <a:r>
              <a:rPr lang="en-US" dirty="0"/>
              <a:t>i.e., AES 256 becomes equivalent to AES-128</a:t>
            </a:r>
          </a:p>
          <a:p>
            <a:pPr lvl="1"/>
            <a:r>
              <a:rPr lang="en-US" dirty="0"/>
              <a:t>This is not a serious threat, as the search space of AES-128 is still so large to be infeasible for any foreseeable future.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7338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D291-6B51-4CFB-8A5F-81E1ED24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Attacks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9A70-DC37-4E48-BE69-BDAA9D680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RSA has no </a:t>
            </a:r>
            <a:r>
              <a:rPr lang="en-US" u="sng" dirty="0"/>
              <a:t>serious</a:t>
            </a:r>
            <a:r>
              <a:rPr lang="en-US" dirty="0"/>
              <a:t> attacks against it (survived 44 years so far…)</a:t>
            </a:r>
          </a:p>
          <a:p>
            <a:pPr lvl="1"/>
            <a:r>
              <a:rPr lang="en-US" dirty="0"/>
              <a:t>No government recommendations to move away from it, suggests to such known attacks anywhere.</a:t>
            </a:r>
          </a:p>
          <a:p>
            <a:pPr lvl="1"/>
            <a:endParaRPr lang="en-US" dirty="0"/>
          </a:p>
          <a:p>
            <a:r>
              <a:rPr lang="en-US" dirty="0"/>
              <a:t>Quantum computing has </a:t>
            </a:r>
            <a:r>
              <a:rPr lang="en-US" u="sng" dirty="0"/>
              <a:t>theoretical</a:t>
            </a:r>
            <a:r>
              <a:rPr lang="en-US" dirty="0"/>
              <a:t> potential to break RSA (but </a:t>
            </a:r>
            <a:r>
              <a:rPr lang="en-US" u="sng" dirty="0"/>
              <a:t>not</a:t>
            </a:r>
            <a:r>
              <a:rPr lang="en-US" dirty="0"/>
              <a:t> symmetric algorithms such as AES).</a:t>
            </a:r>
          </a:p>
          <a:p>
            <a:endParaRPr lang="en-US" dirty="0"/>
          </a:p>
          <a:p>
            <a:r>
              <a:rPr lang="en-US" dirty="0"/>
              <a:t>Attacks using side-channels &amp; faults possible (another module).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4162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1029</Words>
  <Application>Microsoft Office PowerPoint</Application>
  <PresentationFormat>Widescreen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Verdana</vt:lpstr>
      <vt:lpstr>Office Theme</vt:lpstr>
      <vt:lpstr>0x304 – RSA Introduction</vt:lpstr>
      <vt:lpstr>What is Asymmetric (Public Key) Cryptography?</vt:lpstr>
      <vt:lpstr>Asymmetric Cryptography</vt:lpstr>
      <vt:lpstr>RSA Background</vt:lpstr>
      <vt:lpstr>Hard Problems?</vt:lpstr>
      <vt:lpstr>Basic Idea: Factoring of integers into prime factors is hard.</vt:lpstr>
      <vt:lpstr>Large Number Sizes?</vt:lpstr>
      <vt:lpstr>RSA Number Sizes</vt:lpstr>
      <vt:lpstr>RSA </vt:lpstr>
      <vt:lpstr>RSA – what is m ?</vt:lpstr>
      <vt:lpstr>RSA: Summary</vt:lpstr>
      <vt:lpstr>RSA – Factorization Problem</vt:lpstr>
      <vt:lpstr>Best known solution (Feb / 2020)</vt:lpstr>
      <vt:lpstr>Time for RSA Factorization</vt:lpstr>
      <vt:lpstr>RSA – Deterministic Problem</vt:lpstr>
      <vt:lpstr>RSA – CRT Implementation</vt:lpstr>
      <vt:lpstr>RSA-CRT Fault Implementations</vt:lpstr>
      <vt:lpstr>RSA-CRT Fault Countermeasures</vt:lpstr>
      <vt:lpstr>Quantum Computing &amp; RSA</vt:lpstr>
      <vt:lpstr>Quantum Computing – A Hard Problem!</vt:lpstr>
      <vt:lpstr>Factoring Algorithms &amp; Quantum Qubits</vt:lpstr>
      <vt:lpstr>Quantum Computer &amp; Classic Methods</vt:lpstr>
      <vt:lpstr>RSA Attacks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47</cp:revision>
  <dcterms:created xsi:type="dcterms:W3CDTF">2020-09-07T18:26:19Z</dcterms:created>
  <dcterms:modified xsi:type="dcterms:W3CDTF">2026-02-12T02:21:07Z</dcterms:modified>
</cp:coreProperties>
</file>