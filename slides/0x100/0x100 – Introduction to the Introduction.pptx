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7" r:id="rId4"/>
    <p:sldId id="257" r:id="rId5"/>
    <p:sldId id="258" r:id="rId6"/>
    <p:sldId id="267" r:id="rId7"/>
    <p:sldId id="282" r:id="rId8"/>
    <p:sldId id="283" r:id="rId9"/>
    <p:sldId id="268" r:id="rId10"/>
    <p:sldId id="259" r:id="rId11"/>
    <p:sldId id="279" r:id="rId12"/>
    <p:sldId id="280" r:id="rId13"/>
    <p:sldId id="269" r:id="rId14"/>
    <p:sldId id="270" r:id="rId15"/>
    <p:sldId id="261" r:id="rId16"/>
    <p:sldId id="262" r:id="rId17"/>
    <p:sldId id="263" r:id="rId18"/>
    <p:sldId id="266" r:id="rId19"/>
    <p:sldId id="264" r:id="rId20"/>
    <p:sldId id="265" r:id="rId21"/>
    <p:sldId id="28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6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9C3C-ACE0-40B1-B790-D03FFB31C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BB5B6-B1BC-43AB-B4DC-8B8A40228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74541-82EC-4194-AB9E-1C9966F9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9D891-89AA-4231-82F1-1F376B6C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586F3-0CE3-459B-8661-595DCFFF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31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31FA-E3A7-4FB7-A6FB-D553CFBF2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3B01A-9545-4F0F-972F-176CFE47D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9FD40-2C14-42EF-996E-5D492ADB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6B5D7-C46E-4C63-9512-CDEE9E2C1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53D90-6CDE-4593-BEC6-BDAD322C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76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FE81C-56A6-4ABD-8CD7-F9A5AD117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B5ABC-1BC0-4854-BA4B-DC8BD4502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157EB-4687-4EA0-9173-AB937F1B7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80D67-952A-4B7A-AE73-A3EA2B3C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EFE52-748C-41AE-9904-9B2E0C21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474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C4D4C-29C2-48F1-B308-69184EC8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EAC7C-5A81-4DD2-A593-97A5EF513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BDC6F-AC22-48E0-8B99-D505827BE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21209-B980-4484-8DD6-FD6CEC05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54A0E-1CEE-4CF2-8519-FEE06C8A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27BD7-B105-4DB8-97EC-FBAE7862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695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468B-4E8F-4A9E-93F7-50B5FA323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0D663-45A1-4ED9-9CDF-7086C846E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464E1-AAD9-4295-B2CE-82FDA407C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0739B-CFB8-44DE-AF59-FA26EAEC2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AD2DD-6BD7-44E8-9B8F-4D6F32E8AD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EE649D-5048-49CA-AD88-2CA1C5D4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F1AC5C-9F9D-4E4E-B13A-7BE358CF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D2032-D5FF-41E6-8350-C76511014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723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0D66-0EDC-467A-B4A2-AE11113FE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79D6E-F72A-4289-A100-D1623A02F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D5FCB-0854-42F1-9720-B8DB410D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41BD1-401D-47BD-B19E-63527F4F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0246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76C223-272E-4E98-9D16-05744621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E6FC6-BECB-48C4-92DE-82445479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98AA1-009C-4EAF-80CC-1B4FE391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4418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6FA7-0A61-4EB0-A1F4-671B4279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21814-FB96-461B-82A5-44665E7B8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81769-CB09-4F69-BB3C-68AFBF779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D9F82-F0D4-45D5-A612-6B06B676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7EDA-8EC7-4317-B39D-3EC743F30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0ABB8-E7F3-45BA-BB6C-48A29045D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4645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EC72-0988-441F-AD4F-A763C4C7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BF4D25-7EAF-405B-A259-99A1E6E1E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84AAB-DE34-4766-AF6E-270CA9AD3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72288-C7B1-473C-BC2D-06D9984C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FBE6D-9D2E-4960-8406-54FDC8ECC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4DCE6-602B-44F7-BD3F-4C76B619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601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C354B-39A5-405C-ACB9-D7FF36CE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4C34B-4CD0-4A26-8EE7-8DC65F415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970E6-E3CB-4D8C-9CDF-2C8F3C5C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C584C-CD88-48DE-946B-5E18A5FB3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1D4CF-7C72-4F86-AF16-97A9E914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1045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379B86-B490-4549-9A0B-E0955B675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ED6C0-45CE-4B1D-85A4-986DEFAE9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93A3C-2A80-42DF-830B-D43964C1B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E7C4-B8E8-4609-8297-A81EDB90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513E4-90B0-46BE-88D5-C203AA94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802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07926-CA32-475E-8B8E-BCAED83E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B62A7-DB78-4A44-8C6E-2E224AD01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773D2-DC7A-463C-85EB-1BA697498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85C7A-D989-467D-AF24-38697A6F93C0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0697C-3A20-4BD8-BEE2-DF3159284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00001-545F-4A2A-B555-E0D3C7245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ED328-A3C7-4A84-B9AA-C85478C51D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562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playlist?list=PLyAXNQGte3qNNbs8J3gE8JkpAJ9_OH75q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597E1-59BA-45A6-AFF8-D9E590626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122363"/>
            <a:ext cx="12454758" cy="2387600"/>
          </a:xfrm>
        </p:spPr>
        <p:txBody>
          <a:bodyPr/>
          <a:lstStyle/>
          <a:p>
            <a:r>
              <a:rPr lang="en-US" dirty="0"/>
              <a:t>0x100 – Introduction to the Introduction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B1B65B-EB77-44F3-97A4-0772E84CF1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ECED4406 – Computer Security</a:t>
            </a:r>
          </a:p>
          <a:p>
            <a:endParaRPr lang="en-US" sz="2000" b="1" dirty="0"/>
          </a:p>
          <a:p>
            <a:r>
              <a:rPr lang="en-US" sz="2000" b="1" dirty="0"/>
              <a:t>Dr. Colin O’Flynn</a:t>
            </a:r>
          </a:p>
          <a:p>
            <a:r>
              <a:rPr lang="en-US" sz="2000" b="1" dirty="0"/>
              <a:t>Dalhousie University.</a:t>
            </a:r>
            <a:endParaRPr lang="en-CA" sz="2000" b="1" dirty="0"/>
          </a:p>
        </p:txBody>
      </p:sp>
    </p:spTree>
    <p:extLst>
      <p:ext uri="{BB962C8B-B14F-4D97-AF65-F5344CB8AC3E}">
        <p14:creationId xmlns:p14="http://schemas.microsoft.com/office/powerpoint/2010/main" val="288770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0D20-9C5B-8C57-AC08-F638A0950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u="sng" dirty="0"/>
              <a:t>Recording Warning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6E36C-54F4-98E1-4884-AF45CC424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Audio recording will be in use – I’ll let you know when it’s on &amp; off. You can ask for it to be paused to ask questions if you wish. I’ll always provide time before &amp; after the lecture content where unrecorded questions can be asked.</a:t>
            </a:r>
          </a:p>
        </p:txBody>
      </p:sp>
    </p:spTree>
    <p:extLst>
      <p:ext uri="{BB962C8B-B14F-4D97-AF65-F5344CB8AC3E}">
        <p14:creationId xmlns:p14="http://schemas.microsoft.com/office/powerpoint/2010/main" val="3373489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3DAE-5A15-52C8-1016-C2816BD2B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Note on Slides, Notes, and Accommodations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82DFD-8778-F176-CBD0-0268EC138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CA" i="1" dirty="0"/>
              <a:t>Slides will generally be high-contrast where possible with this simple “PowerPoint Default” design to improve recognition if using assistance technology.</a:t>
            </a:r>
          </a:p>
          <a:p>
            <a:endParaRPr lang="en-CA" i="1" dirty="0"/>
          </a:p>
          <a:p>
            <a:r>
              <a:rPr lang="en-CA" i="1" dirty="0"/>
              <a:t>Slides will be posted before classes as PDF (sometimes I forget – just ask in class if not there!).</a:t>
            </a:r>
          </a:p>
          <a:p>
            <a:endParaRPr lang="en-CA" i="1" dirty="0"/>
          </a:p>
          <a:p>
            <a:r>
              <a:rPr lang="en-CA" i="1" dirty="0"/>
              <a:t>Lectures are recorded and posted in Brightspace – normally right after class, if not there by end of day check in with 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42D6D-9998-02AD-CDE4-1F4245ED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Last Update: 2026-01-06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180CA-CEA2-027F-0C9F-4653DD13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155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95645-BF7C-4C16-8EA1-577663BC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this course about?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BE689-E5B9-4B0B-A18F-6A1CCFCA9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Embedded system security, such as:</a:t>
            </a:r>
          </a:p>
          <a:p>
            <a:pPr lvl="1"/>
            <a:r>
              <a:rPr lang="en-US" dirty="0"/>
              <a:t>IOT Devices</a:t>
            </a:r>
          </a:p>
          <a:p>
            <a:pPr lvl="1"/>
            <a:r>
              <a:rPr lang="en-US" dirty="0"/>
              <a:t>Automotive Systems</a:t>
            </a:r>
          </a:p>
          <a:p>
            <a:r>
              <a:rPr lang="en-US" dirty="0"/>
              <a:t>How to secure embedded systems.</a:t>
            </a:r>
          </a:p>
          <a:p>
            <a:pPr lvl="1"/>
            <a:r>
              <a:rPr lang="en-US" dirty="0"/>
              <a:t>What is cryptography?</a:t>
            </a:r>
          </a:p>
          <a:p>
            <a:pPr lvl="1"/>
            <a:r>
              <a:rPr lang="en-US" dirty="0"/>
              <a:t>What is a root of trust, secure boot, </a:t>
            </a:r>
            <a:r>
              <a:rPr lang="en-US" dirty="0" err="1"/>
              <a:t>etc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What are security ratings?</a:t>
            </a:r>
          </a:p>
          <a:p>
            <a:r>
              <a:rPr lang="en-US" dirty="0"/>
              <a:t>How to break embedded systems.</a:t>
            </a:r>
          </a:p>
          <a:p>
            <a:pPr lvl="1"/>
            <a:r>
              <a:rPr lang="en-CA" dirty="0"/>
              <a:t>Reverse engineering.</a:t>
            </a:r>
          </a:p>
          <a:p>
            <a:pPr lvl="1"/>
            <a:r>
              <a:rPr lang="en-CA" dirty="0"/>
              <a:t>Fuzzing.</a:t>
            </a:r>
          </a:p>
          <a:p>
            <a:pPr lvl="1"/>
            <a:r>
              <a:rPr lang="en-CA" dirty="0"/>
              <a:t>Hardware Attacks  - Non-invasive.</a:t>
            </a:r>
          </a:p>
          <a:p>
            <a:pPr lvl="1"/>
            <a:r>
              <a:rPr lang="en-CA" dirty="0"/>
              <a:t>Hardware Attacks - Invasive</a:t>
            </a:r>
          </a:p>
          <a:p>
            <a:pPr lvl="1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1BA4B-DFFD-4AB8-A8E9-F71B88F39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245" y="554134"/>
            <a:ext cx="1978636" cy="2974684"/>
          </a:xfrm>
          <a:prstGeom prst="rect">
            <a:avLst/>
          </a:prstGeom>
        </p:spPr>
      </p:pic>
      <p:pic>
        <p:nvPicPr>
          <p:cNvPr id="1026" name="Picture 2" descr="Quickly tell ECU trouble, ECU alternative method Notes! |Auto Repair  Technician Home">
            <a:extLst>
              <a:ext uri="{FF2B5EF4-FFF2-40B4-BE49-F238E27FC236}">
                <a16:creationId xmlns:a16="http://schemas.microsoft.com/office/drawing/2014/main" id="{EBA6E0C2-33CA-4121-B3C9-29786FD48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156" y="3183378"/>
            <a:ext cx="3681203" cy="285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82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F535B-D53D-450B-9B5C-3BD17E91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course not about?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7AD38-C67A-4F87-9EA7-C88ED257A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security &amp; web security protocols.</a:t>
            </a:r>
          </a:p>
          <a:p>
            <a:pPr lvl="1"/>
            <a:r>
              <a:rPr lang="en-US" dirty="0"/>
              <a:t>HTTPS, SSL, etc.</a:t>
            </a:r>
          </a:p>
          <a:p>
            <a:r>
              <a:rPr lang="en-CA" dirty="0"/>
              <a:t>Detail cryptographic algorithm development.</a:t>
            </a:r>
          </a:p>
          <a:p>
            <a:r>
              <a:rPr lang="en-CA" dirty="0"/>
              <a:t>High-level application security (Windows, Linux, </a:t>
            </a:r>
            <a:r>
              <a:rPr lang="en-CA" dirty="0" err="1"/>
              <a:t>etc</a:t>
            </a:r>
            <a:r>
              <a:rPr lang="en-CA" dirty="0"/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85600-A265-4AC4-A094-0707700DE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66840"/>
            <a:ext cx="3000794" cy="600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D2BFA0-F126-4C55-9F1E-06DE98324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319" y="4452980"/>
            <a:ext cx="3359362" cy="21707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7D351A-7A75-493B-BC41-98CC75B4B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006" y="4024171"/>
            <a:ext cx="2842040" cy="198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9319-577E-4C6A-931F-CF6212C4C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you already know?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A27E6-6288-423B-A585-75AD971C2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words should mean something to you:</a:t>
            </a:r>
          </a:p>
          <a:p>
            <a:pPr lvl="1"/>
            <a:r>
              <a:rPr lang="en-US" dirty="0"/>
              <a:t>RAM.</a:t>
            </a:r>
          </a:p>
          <a:p>
            <a:pPr lvl="1"/>
            <a:r>
              <a:rPr lang="en-US" dirty="0"/>
              <a:t>ROM.</a:t>
            </a:r>
          </a:p>
          <a:p>
            <a:pPr lvl="1"/>
            <a:r>
              <a:rPr lang="en-US" dirty="0"/>
              <a:t>Stack frame.</a:t>
            </a:r>
          </a:p>
          <a:p>
            <a:pPr lvl="1"/>
            <a:r>
              <a:rPr lang="en-US" dirty="0"/>
              <a:t>Instruction registers.</a:t>
            </a:r>
          </a:p>
          <a:p>
            <a:pPr lvl="1"/>
            <a:r>
              <a:rPr lang="en-US" dirty="0"/>
              <a:t>Matrix multiplication.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59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D2508-170C-EFF7-A570-299C185F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Rough Schedule of Lectures</a:t>
            </a:r>
          </a:p>
        </p:txBody>
      </p:sp>
      <p:pic>
        <p:nvPicPr>
          <p:cNvPr id="5" name="Content Placeholder 4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2F7AD2C0-8AFB-61D8-2A5E-4C25E121E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5834" y="1825625"/>
            <a:ext cx="88603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1AE4-C02C-C993-73F3-F978CA85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Example of Recent “In-Scope” Attack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6DC0FA-E183-0053-CD71-240CF98A3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2420" y="1825625"/>
            <a:ext cx="6499904" cy="35589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974233-1217-2110-C6AC-DD7679421557}"/>
              </a:ext>
            </a:extLst>
          </p:cNvPr>
          <p:cNvSpPr txBox="1"/>
          <p:nvPr/>
        </p:nvSpPr>
        <p:spPr>
          <a:xfrm>
            <a:off x="1477108" y="5603259"/>
            <a:ext cx="9671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https://media.ccc.de/v/39c3-bluetooth-headphone-jacking-a-key-to-your-phone#t=3545</a:t>
            </a:r>
          </a:p>
        </p:txBody>
      </p:sp>
    </p:spTree>
    <p:extLst>
      <p:ext uri="{BB962C8B-B14F-4D97-AF65-F5344CB8AC3E}">
        <p14:creationId xmlns:p14="http://schemas.microsoft.com/office/powerpoint/2010/main" val="180563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C2DD5-3850-D69A-D95D-8FB4E256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Online to In Person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B9948-0078-F848-0E56-D6EC1BE33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I previously taught this course online, this version is different (in-person).</a:t>
            </a:r>
          </a:p>
          <a:p>
            <a:r>
              <a:rPr lang="en-CA" dirty="0"/>
              <a:t>Previous lectures are available (from 2020 year) at </a:t>
            </a:r>
            <a:r>
              <a:rPr lang="en-CA" dirty="0">
                <a:hlinkClick r:id="rId2"/>
              </a:rPr>
              <a:t>https://www.youtube.com/playlist?list=PLyAXNQGte3qNNbs8J3gE8JkpAJ9_OH75q</a:t>
            </a:r>
            <a:r>
              <a:rPr lang="en-CA" dirty="0"/>
              <a:t> .</a:t>
            </a:r>
          </a:p>
          <a:p>
            <a:r>
              <a:rPr lang="en-CA" dirty="0"/>
              <a:t>Many things (especially assignments/labs) </a:t>
            </a:r>
            <a:r>
              <a:rPr lang="en-CA" u="sng" dirty="0"/>
              <a:t>changed from previous years.</a:t>
            </a:r>
          </a:p>
          <a:p>
            <a:r>
              <a:rPr lang="en-CA" dirty="0"/>
              <a:t>I try to always record lectures to post on Brightspace.</a:t>
            </a:r>
          </a:p>
          <a:p>
            <a:r>
              <a:rPr lang="en-CA" dirty="0"/>
              <a:t>For online: “Lectures” were short – one class contains multiple lectures!</a:t>
            </a:r>
          </a:p>
          <a:p>
            <a:r>
              <a:rPr lang="en-CA" i="1" dirty="0"/>
              <a:t>Slides this year are more consolidated</a:t>
            </a:r>
          </a:p>
        </p:txBody>
      </p:sp>
    </p:spTree>
    <p:extLst>
      <p:ext uri="{BB962C8B-B14F-4D97-AF65-F5344CB8AC3E}">
        <p14:creationId xmlns:p14="http://schemas.microsoft.com/office/powerpoint/2010/main" val="2482730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070EA-A2BA-4038-B982-862098C0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Lecture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F966A-DAE3-4AFC-AC52-05F594C59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848"/>
            <a:ext cx="10515600" cy="45531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Class schedule is roughly as follows each day:</a:t>
            </a:r>
          </a:p>
          <a:p>
            <a:r>
              <a:rPr lang="en-US" dirty="0"/>
              <a:t>Tuesday @ 1:05PM – 2:25PM (B227)</a:t>
            </a:r>
          </a:p>
          <a:p>
            <a:r>
              <a:rPr lang="en-US" dirty="0"/>
              <a:t>Thursday @ 1:05PM – 2:25PM (B227)</a:t>
            </a:r>
          </a:p>
          <a:p>
            <a:endParaRPr lang="en-CA" dirty="0"/>
          </a:p>
          <a:p>
            <a:r>
              <a:rPr lang="en-CA" dirty="0"/>
              <a:t>+ Labs on Wednesday 2:35-5:25PM (not every week)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I teach as well during the start of that timeslot, a TA will be running labs.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Classes will </a:t>
            </a:r>
            <a:r>
              <a:rPr lang="en-US" i="1" dirty="0"/>
              <a:t>roughly</a:t>
            </a:r>
            <a:r>
              <a:rPr lang="en-US" dirty="0"/>
              <a:t> follow the schedule each day: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2:35-2:45: Recap of previous lecture (possibly longer if needed).</a:t>
            </a:r>
          </a:p>
          <a:p>
            <a:pPr marL="0" indent="0">
              <a:buNone/>
            </a:pPr>
            <a:r>
              <a:rPr lang="en-US" dirty="0"/>
              <a:t>2:45-3:30: New material / lectures (45 mins – ONLY this section recorded)</a:t>
            </a:r>
          </a:p>
          <a:p>
            <a:pPr marL="0" indent="0">
              <a:buNone/>
            </a:pPr>
            <a:r>
              <a:rPr lang="en-US" dirty="0"/>
              <a:t>3:30-3:55: Questions &amp; discussions (if needed)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97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3B00F-3EAA-BEEC-4274-3431C271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Course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96863-E56E-2ED1-DEB3-95B703333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If Dalhousie is closed due to snow event I </a:t>
            </a:r>
            <a:r>
              <a:rPr lang="en-CA" i="1" dirty="0"/>
              <a:t>will not </a:t>
            </a:r>
            <a:r>
              <a:rPr lang="en-CA" dirty="0"/>
              <a:t>send a notice, there is no class. If we have many cancellations I may need to record missing lectures (there is some “flex” built in right now) or will use Tutorial times.</a:t>
            </a:r>
          </a:p>
          <a:p>
            <a:endParaRPr lang="en-CA" dirty="0"/>
          </a:p>
          <a:p>
            <a:r>
              <a:rPr lang="en-CA" dirty="0"/>
              <a:t>If class will be cancelled for other reasons I will use Brightspace to announce this.</a:t>
            </a:r>
          </a:p>
          <a:p>
            <a:endParaRPr lang="en-CA" dirty="0"/>
          </a:p>
          <a:p>
            <a:r>
              <a:rPr lang="en-CA" dirty="0"/>
              <a:t>Lab/Tutorials tend </a:t>
            </a:r>
            <a:r>
              <a:rPr lang="en-CA" u="sng" dirty="0"/>
              <a:t>not</a:t>
            </a:r>
            <a:r>
              <a:rPr lang="en-CA" dirty="0"/>
              <a:t> to run every week – look for a Brightspace announcement to confirm if a lab is running (NO LAB next week).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46ADB-485B-F4FE-3BAF-4E8EBE78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Last Update: 2026-01-06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32044-6D97-2C2A-7371-76FA1F9A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294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A676-633B-16F1-82AC-7DEE2616B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Course Policies (From Syllabus)</a:t>
            </a:r>
          </a:p>
        </p:txBody>
      </p:sp>
      <p:pic>
        <p:nvPicPr>
          <p:cNvPr id="5" name="Content Placeholder 4" descr="A close-up of a letter&#10;&#10;AI-generated content may be incorrect.">
            <a:extLst>
              <a:ext uri="{FF2B5EF4-FFF2-40B4-BE49-F238E27FC236}">
                <a16:creationId xmlns:a16="http://schemas.microsoft.com/office/drawing/2014/main" id="{BC2E578D-DC23-6D34-5BC7-DD02B91C9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21942"/>
            <a:ext cx="10515600" cy="2444304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A03D96-C0BF-77A8-933C-1E49C3BA1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4F680C-DCD0-08E4-6E0C-57962BAB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Last Update: 2026-01-06</a:t>
            </a:r>
          </a:p>
        </p:txBody>
      </p:sp>
    </p:spTree>
    <p:extLst>
      <p:ext uri="{BB962C8B-B14F-4D97-AF65-F5344CB8AC3E}">
        <p14:creationId xmlns:p14="http://schemas.microsoft.com/office/powerpoint/2010/main" val="368538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B7F3D-B914-8B48-E275-CF70600C8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0299-D417-A1D8-572A-7C1F2FCAB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Course Policies (From Syllabus)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01A5A-060B-1963-8AFA-E5E96364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25FE2D6-4C65-98E4-64A8-2F6E69F0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Last Update: 2026-01-06</a:t>
            </a:r>
          </a:p>
        </p:txBody>
      </p:sp>
      <p:pic>
        <p:nvPicPr>
          <p:cNvPr id="4" name="Picture 3" descr="A close-up of a text&#10;&#10;AI-generated content may be incorrect.">
            <a:extLst>
              <a:ext uri="{FF2B5EF4-FFF2-40B4-BE49-F238E27FC236}">
                <a16:creationId xmlns:a16="http://schemas.microsoft.com/office/drawing/2014/main" id="{7AED09DC-0464-17B3-DD61-A986B17DD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4940"/>
            <a:ext cx="10774275" cy="302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03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D5F32-8646-432A-B168-0236F7D7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Course Policies (From Syllabus)</a:t>
            </a:r>
          </a:p>
        </p:txBody>
      </p:sp>
      <p:pic>
        <p:nvPicPr>
          <p:cNvPr id="5" name="Content Placeholder 4" descr="A close-up of a document&#10;&#10;AI-generated content may be incorrect.">
            <a:extLst>
              <a:ext uri="{FF2B5EF4-FFF2-40B4-BE49-F238E27FC236}">
                <a16:creationId xmlns:a16="http://schemas.microsoft.com/office/drawing/2014/main" id="{9D4C7567-E11A-F8F0-E1BD-647063BD8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6223"/>
            <a:ext cx="10515600" cy="409014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62082-A085-8EED-3A8A-F32D6089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D0746-6595-1912-74B8-C22687BB2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Last Update: 2026-01-06</a:t>
            </a:r>
          </a:p>
        </p:txBody>
      </p:sp>
    </p:spTree>
    <p:extLst>
      <p:ext uri="{BB962C8B-B14F-4D97-AF65-F5344CB8AC3E}">
        <p14:creationId xmlns:p14="http://schemas.microsoft.com/office/powerpoint/2010/main" val="979638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BE9AE-1FEC-417C-9C98-8FB3D8B3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Brightspace</a:t>
            </a:r>
            <a:endParaRPr lang="en-CA" dirty="0"/>
          </a:p>
        </p:txBody>
      </p:sp>
      <p:pic>
        <p:nvPicPr>
          <p:cNvPr id="5" name="Picture 4" descr="A screenshot of a computer security&#10;&#10;AI-generated content may be incorrect.">
            <a:extLst>
              <a:ext uri="{FF2B5EF4-FFF2-40B4-BE49-F238E27FC236}">
                <a16:creationId xmlns:a16="http://schemas.microsoft.com/office/drawing/2014/main" id="{91526D8D-5C78-C731-4C11-2A374872A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39" y="1454338"/>
            <a:ext cx="8850923" cy="479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54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44A35-98C7-4518-99B2-C02BBE9E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Quizzes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A8316-AB8A-4AF3-A550-953033288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start quizzes next week – these cover some of the lecture topics.</a:t>
            </a:r>
          </a:p>
          <a:p>
            <a:pPr lvl="1"/>
            <a:r>
              <a:rPr lang="en-US" dirty="0"/>
              <a:t>They should hopefully reinforce what you’ve learned in the lectures.</a:t>
            </a:r>
          </a:p>
          <a:p>
            <a:pPr lvl="1"/>
            <a:r>
              <a:rPr lang="en-US" dirty="0"/>
              <a:t>They will run through the Brightspace system.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55052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81724-3991-44F2-BA6F-17C60556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9213F-51D7-4BCB-A34A-8DD62577C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assignments throughout the semester, completed individually.</a:t>
            </a:r>
          </a:p>
        </p:txBody>
      </p:sp>
    </p:spTree>
    <p:extLst>
      <p:ext uri="{BB962C8B-B14F-4D97-AF65-F5344CB8AC3E}">
        <p14:creationId xmlns:p14="http://schemas.microsoft.com/office/powerpoint/2010/main" val="898080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A507-388C-48D4-A149-8F6BF0349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78C3C-3E92-44F2-A9DF-D38084B9F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Labs were previously run on everyone's computers.</a:t>
            </a:r>
          </a:p>
          <a:p>
            <a:endParaRPr lang="en-US" dirty="0"/>
          </a:p>
          <a:p>
            <a:r>
              <a:rPr lang="en-US" dirty="0"/>
              <a:t>Labs will be in the normal “lab room” and involve some hands-on material/tools, some computer-based labs.</a:t>
            </a:r>
          </a:p>
          <a:p>
            <a:endParaRPr lang="en-CA" dirty="0"/>
          </a:p>
          <a:p>
            <a:r>
              <a:rPr lang="en-CA" dirty="0"/>
              <a:t>Labs can be completed on your own time as well – especially computer-based ones.</a:t>
            </a:r>
          </a:p>
        </p:txBody>
      </p:sp>
    </p:spTree>
    <p:extLst>
      <p:ext uri="{BB962C8B-B14F-4D97-AF65-F5344CB8AC3E}">
        <p14:creationId xmlns:p14="http://schemas.microsoft.com/office/powerpoint/2010/main" val="3070855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F40C-8FCD-4ED6-9F2E-2C0694D0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Project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AC01E-3FCC-4281-93CB-3E87F997C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project will be a chance to apply some of what you’ve learned in this course.</a:t>
            </a:r>
          </a:p>
          <a:p>
            <a:r>
              <a:rPr lang="en-US" dirty="0"/>
              <a:t>More details coming next month once you have more background on the material.</a:t>
            </a:r>
          </a:p>
        </p:txBody>
      </p:sp>
    </p:spTree>
    <p:extLst>
      <p:ext uri="{BB962C8B-B14F-4D97-AF65-F5344CB8AC3E}">
        <p14:creationId xmlns:p14="http://schemas.microsoft.com/office/powerpoint/2010/main" val="210414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2985-73F7-4CE6-99CD-E2E5E21F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E8C2-BCB6-476E-ABAB-316E23C2B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includes two aspects: a lab test (practical) and a classic written test (during exam time).</a:t>
            </a:r>
          </a:p>
          <a:p>
            <a:endParaRPr lang="en-US" dirty="0"/>
          </a:p>
          <a:p>
            <a:r>
              <a:rPr lang="en-US" dirty="0"/>
              <a:t>The lab exam is easy – if you personally can complete all the labs in the course, you shouldn’t have too much trouble.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10157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9DEF-91E3-A64E-0512-5C0D01531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Notes on Quizzes, AI, and Final Exam(s)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B0445-8E6B-EAEB-8613-28F1EA3EF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I follow Dalhousie’s AI policy – work submitted should be your own (see syllabus for full statement).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AI / LLM can be a </a:t>
            </a:r>
            <a:r>
              <a:rPr lang="en-CA" u="sng" dirty="0"/>
              <a:t>very useful</a:t>
            </a:r>
            <a:r>
              <a:rPr lang="en-CA" dirty="0"/>
              <a:t> tool – it has limitations and I’ll be showing you some of these as part of the class. Understanding </a:t>
            </a:r>
            <a:r>
              <a:rPr lang="en-CA" u="sng" dirty="0"/>
              <a:t>how</a:t>
            </a:r>
            <a:r>
              <a:rPr lang="en-CA" dirty="0"/>
              <a:t> to use a tool and </a:t>
            </a:r>
            <a:r>
              <a:rPr lang="en-CA" u="sng" dirty="0"/>
              <a:t>when/where</a:t>
            </a:r>
            <a:r>
              <a:rPr lang="en-CA" dirty="0"/>
              <a:t> to use it is a core part of engineering.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I use the Final Exam as a validation of your personal knowledge – if you have completed assignments/labs yourself you’ll find them easy, if using AI to complete assignments you’ll find them difficult.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1CBB3-7438-E895-8E9A-C023A5FC3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E8461-E694-A985-BB1D-A75319D4E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Last Update: 2026-01-06</a:t>
            </a:r>
          </a:p>
        </p:txBody>
      </p:sp>
    </p:spTree>
    <p:extLst>
      <p:ext uri="{BB962C8B-B14F-4D97-AF65-F5344CB8AC3E}">
        <p14:creationId xmlns:p14="http://schemas.microsoft.com/office/powerpoint/2010/main" val="37470158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719AF-9823-F117-3E2D-37A2588C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Course Questions For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7DDED-A245-2CF5-7D3F-0501441DC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Questions or Concerns?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coflynn@dal.ca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If not we’ll pick this up on the first “normal” lecture day to introduce the first topic.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14885-9A2D-8F61-833E-985DBF64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2F4B6-76EC-94E7-4DD5-0A9E1FB9E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dirty="0"/>
              <a:t>Last Update: 2026-01-08</a:t>
            </a:r>
          </a:p>
        </p:txBody>
      </p:sp>
    </p:spTree>
    <p:extLst>
      <p:ext uri="{BB962C8B-B14F-4D97-AF65-F5344CB8AC3E}">
        <p14:creationId xmlns:p14="http://schemas.microsoft.com/office/powerpoint/2010/main" val="56454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1004</Words>
  <Application>Microsoft Office PowerPoint</Application>
  <PresentationFormat>Widescreen</PresentationFormat>
  <Paragraphs>117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0x100 – Introduction to the Introduction</vt:lpstr>
      <vt:lpstr>Recording Warning</vt:lpstr>
      <vt:lpstr>Note on Slides, Notes, and Accommodations</vt:lpstr>
      <vt:lpstr>What is this course about?</vt:lpstr>
      <vt:lpstr>What is this course not about?</vt:lpstr>
      <vt:lpstr>What should you already know?</vt:lpstr>
      <vt:lpstr>Rough Schedule of Lectures</vt:lpstr>
      <vt:lpstr>e.g., Example of Recent “In-Scope” Attack</vt:lpstr>
      <vt:lpstr>Online to In Person</vt:lpstr>
      <vt:lpstr>Course Lecture Style</vt:lpstr>
      <vt:lpstr>Course Policies</vt:lpstr>
      <vt:lpstr>Course Policies (From Syllabus)</vt:lpstr>
      <vt:lpstr>Course Policies (From Syllabus)</vt:lpstr>
      <vt:lpstr>Course Policies (From Syllabus)</vt:lpstr>
      <vt:lpstr>Brightspace</vt:lpstr>
      <vt:lpstr>Quizzes</vt:lpstr>
      <vt:lpstr>Assignments</vt:lpstr>
      <vt:lpstr>Labs</vt:lpstr>
      <vt:lpstr>Course Project</vt:lpstr>
      <vt:lpstr>Final</vt:lpstr>
      <vt:lpstr>Notes on Quizzes, AI, and Final Exam(s)</vt:lpstr>
      <vt:lpstr>Course Questions For 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0x100 – Introduction to the Introduction</dc:title>
  <dc:creator>Colin O'Flynn</dc:creator>
  <cp:lastModifiedBy>Colin O'Flynn</cp:lastModifiedBy>
  <cp:revision>12</cp:revision>
  <dcterms:created xsi:type="dcterms:W3CDTF">2020-09-07T17:03:12Z</dcterms:created>
  <dcterms:modified xsi:type="dcterms:W3CDTF">2026-01-08T16:56:34Z</dcterms:modified>
</cp:coreProperties>
</file>