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E8F2B04-C695-4964-AD19-3F09E0D9041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96" y="5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F220A-DA9B-4BBC-9C75-C66D46F53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D5431-D5FF-44BE-B0B0-08FB98FE7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05585-26EB-401F-A580-C4F7CFA4C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0C38E-E9B1-4C96-BCC8-D99371EEC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2FE22-3A5F-4449-8898-C66D8358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4854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5B47-2EC6-48BC-8DD6-BE05C4B2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6669D-0B7F-4A86-AD0D-C7F8D5192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14E3D-C639-4A52-BBD4-457536FB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56922-F240-4EF3-905E-B9DFB257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65727-CADB-4DD6-9046-F1100897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628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A3CCD-9691-4A96-A2D6-D1F53F47F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3C4D3-7251-48A1-AEDE-AEBC7EF1E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3DB80-1867-4ABC-85FB-CF546D13A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0258E-3BB7-41C5-B0BC-F8716E7B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ADF5B-5B74-46CE-A56F-B633CC5A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426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1F6C-47D6-4523-87B1-1626B9665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1AB54-B5F7-4311-8217-7E3769EF6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E7B8C-B146-4CDF-B078-67A0EE6B5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80579-953F-4F41-9BCB-8913DA94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92BE6-7135-4CB5-89D6-9D9981B1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242C2-51E3-4A35-BCB5-C5A81A8C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0180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D11A-42A7-412D-87FB-8315E9A58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968DD-1E3F-4BDF-BCA1-21F3F3974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78E27-D17C-4926-901B-318C040F3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390821-6708-4581-975E-3C87A0BA4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D402B-EF6B-4F04-AE9E-58C2D99BA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4E8121-22E9-4C44-AF20-BE1527F9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7DF95B-32D7-4CA8-8D6A-2442FE5B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7E430E-0801-4874-BE8C-20D10F99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071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A5966-06AD-400E-803A-2830E6518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4EF1C0-915C-4F9F-B6F8-34FCB214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5FAA9-7427-4017-B7F1-61B7297C2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16EB0-0C9E-48B1-A388-ABAF8F8ED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885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D9000-27FD-4772-AF4D-93E6A138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FBBA7F-CEF3-4200-9B6F-C133A8B7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EDEE6-91DB-4D62-A790-7E8D5FE2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7804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A595-FB8D-48BF-85CD-0BED13D35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4A508-8447-429A-8E55-874ACAB9C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A9D00-96A5-496F-95ED-A1A592E0E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EBFD5-86B6-46A2-81D4-A588B9FB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3C5D8-6C81-46B1-A974-BD2FD2E6E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50BC5-C9A0-434E-9706-6FD8EF18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6463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036A5-2E6F-451C-BD8A-BBCB3B1F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05540-3B4E-4D31-B0A6-4FC713EE4F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EB517-C45B-4940-9B06-4E1F55F5D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53D7-E620-495E-8001-F6989DD3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68ACD-B2F0-476E-BD8F-8EB76C9B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C4F2B-D316-4097-AE06-FA388F80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664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84F19-5B91-4971-9D24-A632D22AD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F3CFF-4A4B-43E2-BFF5-AE6529185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52F4D-E9D6-4D7B-ABCA-577B628FC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47111-CDAF-464F-BD09-99452F60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CE59C-78F6-4935-AE8B-E3198D8C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4299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604A56-5CB4-4BC7-BA72-37EC50C12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7CFD4-6E1D-4973-B922-472C9FB23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01650-46DF-43FB-9A3B-A5CD84F4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F020A-FC80-49E5-9363-F5144731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B1F3C-7EF7-4710-84AF-B799B3DD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7952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9802F1-E657-4CF1-BD6A-4EFC93A2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7A822-0EBA-48C7-A780-CD8AE4CEE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EF5F9-0F07-4041-936C-F6A72F130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60C3-4B15-4785-B413-CFEA33C508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7811E-C073-4268-BAEF-6F604A18A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03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linoflynn/eced4406/releases/download/0.3/ghidra_10.2.3_PUBLIC_withJRE.zip" TargetMode="External"/><Relationship Id="rId2" Type="http://schemas.openxmlformats.org/officeDocument/2006/relationships/hyperlink" Target="https://ghidra-sre.org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hackaday.io/course/172292-introduction-to-reverse-engineering-with-ghidra" TargetMode="External"/><Relationship Id="rId2" Type="http://schemas.openxmlformats.org/officeDocument/2006/relationships/hyperlink" Target="https://ghidra.re/courses/GhidraClass/Beginner/Introduction_to_Ghidra_Student_Guide_withNotes.html#Introduction_to_Ghidra_Student_Guide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EF55-43E3-4350-BE63-9CB115E943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0x403 – Introducing </a:t>
            </a:r>
            <a:r>
              <a:rPr lang="en-US" dirty="0" err="1"/>
              <a:t>Ghidra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F939F-753C-45A0-BC3A-73D8DCDC6B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ECED4406 – Computer Security</a:t>
            </a:r>
          </a:p>
          <a:p>
            <a:endParaRPr lang="en-US" sz="2400" b="1" dirty="0"/>
          </a:p>
          <a:p>
            <a:r>
              <a:rPr lang="en-US" sz="2400" b="1" dirty="0"/>
              <a:t>Dr. Colin O’Flynn</a:t>
            </a:r>
          </a:p>
          <a:p>
            <a:r>
              <a:rPr lang="en-US" sz="2400" b="1" dirty="0"/>
              <a:t>Dalhousie University.</a:t>
            </a:r>
            <a:endParaRPr lang="en-CA" sz="2400" b="1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36114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89406-71B1-4C39-85DB-48FCBF436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</a:t>
            </a:r>
            <a:r>
              <a:rPr lang="en-US" dirty="0" err="1"/>
              <a:t>Ghidra</a:t>
            </a:r>
            <a:r>
              <a:rPr lang="en-US" dirty="0"/>
              <a:t> Do?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288302C-0162-4B83-8842-712A1C8290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7394" y="1690687"/>
            <a:ext cx="8650445" cy="5089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894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548FF-DFC7-46E2-AE72-C234269F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Ghidra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B0F93-1813-4622-809C-F317FC903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Ghidra</a:t>
            </a:r>
            <a:r>
              <a:rPr lang="en-US" dirty="0"/>
              <a:t> runs on Mac/Windows/Linux.</a:t>
            </a:r>
          </a:p>
          <a:p>
            <a:r>
              <a:rPr lang="en-US" dirty="0"/>
              <a:t>The official site is at </a:t>
            </a:r>
            <a:r>
              <a:rPr lang="en-US" dirty="0">
                <a:hlinkClick r:id="rId2"/>
              </a:rPr>
              <a:t>https://ghidra-sre.org/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you are installing on Windows – recommend instead use my version from </a:t>
            </a:r>
            <a:r>
              <a:rPr lang="en-US" dirty="0">
                <a:hlinkClick r:id="rId3"/>
              </a:rPr>
              <a:t>https://github.com/colinoflynn/eced4406/releases/download/0.3/ghidra_10.2.3_PUBLIC_withJRE.zip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This should “just work” on Windows.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See Lab #2 instructions for more about getting </a:t>
            </a:r>
            <a:r>
              <a:rPr lang="en-US" dirty="0" err="1"/>
              <a:t>Ghidra</a:t>
            </a:r>
            <a:r>
              <a:rPr lang="en-US" dirty="0"/>
              <a:t> installed.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89038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AFC30-E8FF-40AA-974B-637F23D9A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Ghidra</a:t>
            </a:r>
            <a:r>
              <a:rPr lang="en-US" dirty="0"/>
              <a:t> – Reverse Engineering Tool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A2DF3-9874-49F4-8288-FF7C853AE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Allows inspection of executables – that is binaries which contain runnable code.</a:t>
            </a:r>
          </a:p>
          <a:p>
            <a:endParaRPr lang="en-US" dirty="0"/>
          </a:p>
          <a:p>
            <a:r>
              <a:rPr lang="en-US" dirty="0"/>
              <a:t>Many tools for analysis of the programs.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25678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B69A3-233C-4F31-8C14-164BAA8D4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Ghidra</a:t>
            </a:r>
            <a:r>
              <a:rPr lang="en-US" dirty="0"/>
              <a:t> Resources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D9CA3-DED3-4EBA-8E0C-C1572A1CD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Overview course: </a:t>
            </a:r>
            <a:r>
              <a:rPr lang="en-US" dirty="0">
                <a:hlinkClick r:id="rId2"/>
              </a:rPr>
              <a:t>https://ghidra.re/courses/GhidraClass/Beginner/Introduction_to_Ghidra_Student_Guide_withNotes.html#Introduction_to_Ghidra_Student_Guide.html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Hackaday</a:t>
            </a:r>
            <a:r>
              <a:rPr lang="en-US" dirty="0"/>
              <a:t> full course (x86 based):</a:t>
            </a:r>
          </a:p>
          <a:p>
            <a:pPr marL="0" indent="0">
              <a:buNone/>
            </a:pPr>
            <a:r>
              <a:rPr lang="en-CA" dirty="0">
                <a:hlinkClick r:id="rId3"/>
              </a:rPr>
              <a:t>https://hackaday.io/course/172292-introduction-to-reverse-engineering-with-ghidra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9590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9379A-4D9E-40FC-9694-8797F95A0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Ghidra</a:t>
            </a:r>
            <a:r>
              <a:rPr lang="en-US" dirty="0"/>
              <a:t> 101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ABADF-A789-46D8-B5FF-7EFA189A5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to tell </a:t>
            </a:r>
            <a:r>
              <a:rPr lang="en-US" dirty="0" err="1"/>
              <a:t>Ghidra</a:t>
            </a:r>
            <a:r>
              <a:rPr lang="en-US" dirty="0"/>
              <a:t> the “language” it expects.</a:t>
            </a:r>
          </a:p>
          <a:p>
            <a:pPr lvl="1"/>
            <a:r>
              <a:rPr lang="en-US" dirty="0"/>
              <a:t>This is basically the processor type – such as Arm Cortex-M</a:t>
            </a:r>
          </a:p>
          <a:p>
            <a:pPr lvl="1"/>
            <a:endParaRPr lang="en-US" dirty="0"/>
          </a:p>
          <a:p>
            <a:r>
              <a:rPr lang="en-US" dirty="0" err="1"/>
              <a:t>Ghidra</a:t>
            </a:r>
            <a:r>
              <a:rPr lang="en-US" dirty="0"/>
              <a:t> also needs to know little or big endian code format (if the processor supports both).</a:t>
            </a:r>
          </a:p>
          <a:p>
            <a:pPr lvl="1"/>
            <a:r>
              <a:rPr lang="en-US" dirty="0"/>
              <a:t>Most Arm Cortex-M devices are </a:t>
            </a:r>
            <a:r>
              <a:rPr lang="en-US" i="1" dirty="0"/>
              <a:t>little endian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 err="1"/>
              <a:t>Ghidra</a:t>
            </a:r>
            <a:r>
              <a:rPr lang="en-US" dirty="0"/>
              <a:t> needs to know the </a:t>
            </a:r>
            <a:r>
              <a:rPr lang="en-US" u="sng" dirty="0"/>
              <a:t>starting address</a:t>
            </a:r>
            <a:r>
              <a:rPr lang="en-US" dirty="0"/>
              <a:t> if you are loading a raw binary.</a:t>
            </a:r>
          </a:p>
          <a:p>
            <a:pPr lvl="1"/>
            <a:r>
              <a:rPr lang="en-US" dirty="0"/>
              <a:t>We will start with Intel Hex in lab 3 to simplify things slightly.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27330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5903C-B554-4DD8-96C4-E055589F4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Ghidra</a:t>
            </a:r>
            <a:r>
              <a:rPr lang="en-US" dirty="0"/>
              <a:t> 101 – Cont’d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4FEFF-151D-4ED5-9B1F-CD7FF57EA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Ghidra</a:t>
            </a:r>
            <a:r>
              <a:rPr lang="en-US" dirty="0"/>
              <a:t> performs an </a:t>
            </a:r>
            <a:r>
              <a:rPr lang="en-US" u="sng" dirty="0"/>
              <a:t>auto analysis</a:t>
            </a:r>
            <a:r>
              <a:rPr lang="en-US" dirty="0"/>
              <a:t>, which hopefully identifies instructions.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0915C1-A31E-4B09-AA2B-7D82AA6C4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738" y="2834764"/>
            <a:ext cx="5725324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125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DD385-FD9A-4867-80BA-77E4DBE4D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Decompiler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4A8F2-7DC8-4C6D-AFAE-A607026CA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83760"/>
          </a:xfrm>
        </p:spPr>
        <p:txBody>
          <a:bodyPr/>
          <a:lstStyle/>
          <a:p>
            <a:r>
              <a:rPr lang="en-US" dirty="0" err="1"/>
              <a:t>Ghidra</a:t>
            </a:r>
            <a:r>
              <a:rPr lang="en-US" dirty="0"/>
              <a:t> can “decompile” from assembly to C code.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EB6807-40EB-4C78-B35F-C0DE34D82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024" y="2442901"/>
            <a:ext cx="8697951" cy="361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119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0E99B-3754-4B0A-9707-E0D462082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Decompiled Code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42BA2-2CE1-4B62-ACDF-7FC272BF0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decompiler</a:t>
            </a:r>
            <a:r>
              <a:rPr lang="en-US" dirty="0"/>
              <a:t> does not make </a:t>
            </a:r>
            <a:r>
              <a:rPr lang="en-US" u="sng" dirty="0"/>
              <a:t>nice</a:t>
            </a:r>
            <a:r>
              <a:rPr lang="en-US" dirty="0"/>
              <a:t> C code – we have no idea on what variables are.</a:t>
            </a:r>
          </a:p>
          <a:p>
            <a:r>
              <a:rPr lang="en-US" dirty="0"/>
              <a:t>The </a:t>
            </a:r>
            <a:r>
              <a:rPr lang="en-US" dirty="0" err="1"/>
              <a:t>decompiler</a:t>
            </a:r>
            <a:r>
              <a:rPr lang="en-US" dirty="0"/>
              <a:t> will expose optimizations that make code more confusing.</a:t>
            </a:r>
          </a:p>
          <a:p>
            <a:r>
              <a:rPr lang="en-CA" dirty="0"/>
              <a:t>The </a:t>
            </a:r>
            <a:r>
              <a:rPr lang="en-CA" dirty="0" err="1"/>
              <a:t>decompiler</a:t>
            </a:r>
            <a:r>
              <a:rPr lang="en-CA" dirty="0"/>
              <a:t> has no idea about what function arguments there are: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119BEC-D521-4FA1-BF55-F0DAAE847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010" y="4597258"/>
            <a:ext cx="5024528" cy="189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389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2807F-646D-4164-82D6-7BB66D3B9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Views: Strings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DEA97-A6BA-4EC0-AE55-46B2895BC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Window </a:t>
            </a:r>
            <a:r>
              <a:rPr lang="en-US" dirty="0">
                <a:sym typeface="Wingdings" panose="05000000000000000000" pitchFamily="2" charset="2"/>
              </a:rPr>
              <a:t> Defined Strings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DE951D-DC16-4D3F-B248-3BBB3915B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643" y="2463534"/>
            <a:ext cx="5962781" cy="371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836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D149-A2E8-4ABA-A9E4-499D3F31A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Ghidra</a:t>
            </a:r>
            <a:r>
              <a:rPr lang="en-US" dirty="0"/>
              <a:t> – Cross Reference (“XREF”)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2664E-3082-46AE-8A93-FD2C9E540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most powerful tools – see where code/data is referred to by.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50B861-8936-40A7-8DC7-EF3C04DFE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71" y="2693518"/>
            <a:ext cx="11052457" cy="187848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9A376E7-9AAE-4A23-BB98-F88F05ABA0F4}"/>
              </a:ext>
            </a:extLst>
          </p:cNvPr>
          <p:cNvCxnSpPr/>
          <p:nvPr/>
        </p:nvCxnSpPr>
        <p:spPr>
          <a:xfrm flipV="1">
            <a:off x="7225990" y="3323063"/>
            <a:ext cx="1345581" cy="1903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CFFFD9E-0F92-436E-A727-E6289D020FEE}"/>
              </a:ext>
            </a:extLst>
          </p:cNvPr>
          <p:cNvSpPr txBox="1"/>
          <p:nvPr/>
        </p:nvSpPr>
        <p:spPr>
          <a:xfrm>
            <a:off x="4735551" y="5129561"/>
            <a:ext cx="59621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function is referring to that string! Interesting…</a:t>
            </a:r>
          </a:p>
          <a:p>
            <a:endParaRPr lang="en-US" dirty="0"/>
          </a:p>
          <a:p>
            <a:r>
              <a:rPr lang="en-US" dirty="0"/>
              <a:t>Double-click on it to jump to the function.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67654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09CF5-A7CD-4A8E-BCD4-B34A7493E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Figuring out puts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E0B6392-4168-499B-9FC1-5490164360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9449" y="1690688"/>
            <a:ext cx="10515600" cy="27710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FE4D7D-A442-43E4-8863-3DE171294201}"/>
              </a:ext>
            </a:extLst>
          </p:cNvPr>
          <p:cNvSpPr txBox="1"/>
          <p:nvPr/>
        </p:nvSpPr>
        <p:spPr>
          <a:xfrm>
            <a:off x="2155902" y="5047785"/>
            <a:ext cx="8028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“FUN_08001e38” seems to be called repeatedly, and with a string argument?</a:t>
            </a:r>
            <a:endParaRPr lang="en-CA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E70E875-B651-4A2D-9826-B68B5C62225B}"/>
              </a:ext>
            </a:extLst>
          </p:cNvPr>
          <p:cNvCxnSpPr/>
          <p:nvPr/>
        </p:nvCxnSpPr>
        <p:spPr>
          <a:xfrm flipV="1">
            <a:off x="2386361" y="3062868"/>
            <a:ext cx="2051824" cy="1984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388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ABAB5-1D58-45EC-A08B-ED52E645C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Views: Function Graph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66172-8E34-4C2A-844C-0849DFCDB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83038"/>
          </a:xfrm>
        </p:spPr>
        <p:txBody>
          <a:bodyPr/>
          <a:lstStyle/>
          <a:p>
            <a:r>
              <a:rPr lang="en-US" dirty="0"/>
              <a:t>Window </a:t>
            </a:r>
            <a:r>
              <a:rPr lang="en-US" dirty="0">
                <a:sym typeface="Wingdings" panose="05000000000000000000" pitchFamily="2" charset="2"/>
              </a:rPr>
              <a:t> Function Graph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85EAB4-99B0-4817-9ADF-A549638A0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116" y="1628079"/>
            <a:ext cx="3722938" cy="504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139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AC463-39E6-4670-8FB6-A1CFA4E4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Ghidra</a:t>
            </a:r>
            <a:r>
              <a:rPr lang="en-US" dirty="0"/>
              <a:t> Getting Started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F3413-CF70-4107-987E-8575E08E8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Easiest way is to explore with it a little bit!</a:t>
            </a:r>
          </a:p>
          <a:p>
            <a:r>
              <a:rPr lang="en-US" dirty="0"/>
              <a:t>See Lab #2 “Setup” instructions to be able to load this file.</a:t>
            </a:r>
          </a:p>
          <a:p>
            <a:r>
              <a:rPr lang="en-US" dirty="0"/>
              <a:t>Lab #2 will have you work with it in a little more detail.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44741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1844</TotalTime>
  <Words>465</Words>
  <Application>Microsoft Office PowerPoint</Application>
  <PresentationFormat>Widescreen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0x403 – Introducing Ghidra</vt:lpstr>
      <vt:lpstr>What does Ghidra Do?</vt:lpstr>
      <vt:lpstr>Installing Ghidra</vt:lpstr>
      <vt:lpstr>Ghidra – Reverse Engineering Tool</vt:lpstr>
      <vt:lpstr>Ghidra Resources</vt:lpstr>
      <vt:lpstr>Ghidra 101</vt:lpstr>
      <vt:lpstr>Ghidra 101 – Cont’d</vt:lpstr>
      <vt:lpstr>Decompiler</vt:lpstr>
      <vt:lpstr>About the Decompiled Code</vt:lpstr>
      <vt:lpstr>Useful Views: Strings</vt:lpstr>
      <vt:lpstr>Ghidra – Cross Reference (“XREF”)</vt:lpstr>
      <vt:lpstr>Example – Figuring out puts</vt:lpstr>
      <vt:lpstr>Useful Views: Function Graph</vt:lpstr>
      <vt:lpstr>Ghidra Getting Started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0x101 – Security in History Basic Ciphers</dc:title>
  <dc:creator>Colin O'Flynn</dc:creator>
  <cp:lastModifiedBy>Colin O'Flynn</cp:lastModifiedBy>
  <cp:revision>56</cp:revision>
  <dcterms:created xsi:type="dcterms:W3CDTF">2020-09-07T18:26:19Z</dcterms:created>
  <dcterms:modified xsi:type="dcterms:W3CDTF">2026-02-26T16:22:22Z</dcterms:modified>
</cp:coreProperties>
</file>