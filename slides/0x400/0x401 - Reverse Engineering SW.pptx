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2" r:id="rId5"/>
    <p:sldId id="261" r:id="rId6"/>
    <p:sldId id="257" r:id="rId7"/>
    <p:sldId id="258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0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130" y="8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F220A-DA9B-4BBC-9C75-C66D46F53A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2D5431-D5FF-44BE-B0B0-08FB98FE7B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605585-26EB-401F-A580-C4F7CFA4C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2026-02-24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C0C38E-E9B1-4C96-BCC8-D99371EEC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2FE22-3A5F-4449-8898-C66D83582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84854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E5B47-2EC6-48BC-8DD6-BE05C4B29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6669D-0B7F-4A86-AD0D-C7F8D5192E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414E3D-C639-4A52-BBD4-457536FB7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2026-02-24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156922-F240-4EF3-905E-B9DFB2577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265727-CADB-4DD6-9046-F11008978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86285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A3CCD-9691-4A96-A2D6-D1F53F47F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93C4D3-7251-48A1-AEDE-AEBC7EF1E1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73DB80-1867-4ABC-85FB-CF546D13A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2026-02-24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0258E-3BB7-41C5-B0BC-F8716E7B4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BADF5B-5B74-46CE-A56F-B633CC5AA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64261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31F6C-47D6-4523-87B1-1626B9665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B1AB54-B5F7-4311-8217-7E3769EF6F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5E7B8C-B146-4CDF-B078-67A0EE6B56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B80579-953F-4F41-9BCB-8913DA946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2026-02-24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392BE6-7135-4CB5-89D6-9D9981B1A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E242C2-51E3-4A35-BCB5-C5A81A8CE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60180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4D11A-42A7-412D-87FB-8315E9A58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8968DD-1E3F-4BDF-BCA1-21F3F39748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378E27-D17C-4926-901B-318C040F38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390821-6708-4581-975E-3C87A0BA4D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9D402B-EF6B-4F04-AE9E-58C2D99BA7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4E8121-22E9-4C44-AF20-BE1527F90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2026-02-24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7DF95B-32D7-4CA8-8D6A-2442FE5B4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7E430E-0801-4874-BE8C-20D10F991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3071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A5966-06AD-400E-803A-2830E6518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4EF1C0-915C-4F9F-B6F8-34FCB214F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2026-02-24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A5FAA9-7427-4017-B7F1-61B7297C2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716EB0-0C9E-48B1-A388-ABAF8F8ED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48854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3D9000-27FD-4772-AF4D-93E6A138C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2026-02-24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FBBA7F-CEF3-4200-9B6F-C133A8B7F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0EDEE6-91DB-4D62-A790-7E8D5FE2C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47804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8A595-FB8D-48BF-85CD-0BED13D35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E4A508-8447-429A-8E55-874ACAB9CA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EA9D00-96A5-496F-95ED-A1A592E0E7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EEBFD5-86B6-46A2-81D4-A588B9FB0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2026-02-24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F3C5D8-6C81-46B1-A974-BD2FD2E6E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850BC5-C9A0-434E-9706-6FD8EF18F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36463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036A5-2E6F-451C-BD8A-BBCB3B1FE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705540-3B4E-4D31-B0A6-4FC713EE4F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3EB517-C45B-4940-9B06-4E1F55F5D6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5F53D7-E620-495E-8001-F6989DD33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2026-02-24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D68ACD-B2F0-476E-BD8F-8EB76C9BF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8C4F2B-D316-4097-AE06-FA388F80B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56644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84F19-5B91-4971-9D24-A632D22AD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3F3CFF-4A4B-43E2-BFF5-AE65291855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852F4D-E9D6-4D7B-ABCA-577B628FC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2026-02-24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A47111-CDAF-464F-BD09-99452F604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0CE59C-78F6-4935-AE8B-E3198D8C0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542993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604A56-5CB4-4BC7-BA72-37EC50C12B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07CFD4-6E1D-4973-B922-472C9FB239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901650-46DF-43FB-9A3B-A5CD84F4C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2026-02-24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0F020A-FC80-49E5-9363-F51447315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B1F3C-7EF7-4710-84AF-B799B3DD0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37952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9802F1-E657-4CF1-BD6A-4EFC93A24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27A822-0EBA-48C7-A780-CD8AE4CEED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3EF5F9-0F07-4041-936C-F6A72F130F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4D57D4-96EB-485F-885D-A03F9F5EA4CF}" type="datetimeFigureOut">
              <a:rPr lang="en-CA" smtClean="0"/>
              <a:t>2026-02-24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0C60C3-4B15-4785-B413-CFEA33C508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F7811E-C073-4268-BAEF-6F604A18A6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2033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azeria-labs.com/writing-arm-assembly-part-1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://ftp.indes.com/pub/mirrors/ftp.iar.se/WWWfiles/avr/webic/doc/EWAVR_CompilerGuide.pdf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azeria-labs.com/functions-and-the-stack-part-7/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BEF55-43E3-4350-BE63-9CB115E943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0x401 – SW Reverse Engineering Basics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0F939F-753C-45A0-BC3A-73D8DCDC6BA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b="1" dirty="0"/>
              <a:t>ECED4406 – Computer Security</a:t>
            </a:r>
          </a:p>
          <a:p>
            <a:endParaRPr lang="en-US" sz="2400" b="1" dirty="0"/>
          </a:p>
          <a:p>
            <a:r>
              <a:rPr lang="en-US" sz="2400" b="1" dirty="0"/>
              <a:t>Dr. Colin O’Flynn</a:t>
            </a:r>
          </a:p>
          <a:p>
            <a:r>
              <a:rPr lang="en-US" sz="2400" b="1" dirty="0"/>
              <a:t>Dalhousie University.</a:t>
            </a:r>
            <a:endParaRPr lang="en-CA" sz="2400" b="1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5361149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3CE0A-CD11-4DFC-8678-78B936C3C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Reverse Engineering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016ECC-2C72-4482-8C87-407BDCD427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441575"/>
          </a:xfrm>
        </p:spPr>
        <p:txBody>
          <a:bodyPr/>
          <a:lstStyle/>
          <a:p>
            <a:r>
              <a:rPr lang="en-US" dirty="0"/>
              <a:t>Software reverse engineering is common requirement as part of security research.</a:t>
            </a:r>
          </a:p>
          <a:p>
            <a:endParaRPr lang="en-US" dirty="0"/>
          </a:p>
          <a:p>
            <a:r>
              <a:rPr lang="en-US" dirty="0"/>
              <a:t>We will focus in particular on Arm Cortex-m language reverse engineering.</a:t>
            </a:r>
            <a:endParaRPr lang="en-CA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CDBF4D82-63E8-4BCB-A140-C29B507512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3795" y="4267200"/>
            <a:ext cx="6891454" cy="2328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6459DF7-8331-44BF-BC7D-9BC9B4C67099}"/>
              </a:ext>
            </a:extLst>
          </p:cNvPr>
          <p:cNvSpPr txBox="1"/>
          <p:nvPr/>
        </p:nvSpPr>
        <p:spPr>
          <a:xfrm>
            <a:off x="2245112" y="6550223"/>
            <a:ext cx="85120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400" dirty="0"/>
              <a:t>https://en.wikipedia.org/wiki/ARM_Cortex-M#/media/File:ARM_Cortex-M0_and_M3_ICs_in_SMD_Packages.jpg</a:t>
            </a:r>
          </a:p>
        </p:txBody>
      </p:sp>
    </p:spTree>
    <p:extLst>
      <p:ext uri="{BB962C8B-B14F-4D97-AF65-F5344CB8AC3E}">
        <p14:creationId xmlns:p14="http://schemas.microsoft.com/office/powerpoint/2010/main" val="24140405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F2CAD-10E2-467B-BF8F-52FC0BBE4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 for Arm Reverse Engineering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812E9F-861D-4C58-8A12-236841ACAE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dirty="0"/>
              <a:t>Recommended resource for more in depth - </a:t>
            </a:r>
            <a:r>
              <a:rPr lang="en-CA" dirty="0" err="1"/>
              <a:t>Azeria</a:t>
            </a:r>
            <a:r>
              <a:rPr lang="en-CA" dirty="0"/>
              <a:t> Labs - </a:t>
            </a:r>
          </a:p>
          <a:p>
            <a:pPr marL="0" indent="0">
              <a:buNone/>
            </a:pPr>
            <a:r>
              <a:rPr lang="en-CA" dirty="0">
                <a:hlinkClick r:id="rId2"/>
              </a:rPr>
              <a:t>https://azeria-labs.com/writing-arm-assembly-part-1/</a:t>
            </a:r>
            <a:endParaRPr lang="en-CA" dirty="0"/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A33B4D-F487-4B33-A0AA-E6E052B953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269" y="3031884"/>
            <a:ext cx="8326244" cy="3215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8059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7C8F4-DE31-6D1D-2FA6-8AEB1C69F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3458"/>
            <a:ext cx="10515600" cy="1325563"/>
          </a:xfrm>
        </p:spPr>
        <p:txBody>
          <a:bodyPr/>
          <a:lstStyle/>
          <a:p>
            <a:r>
              <a:rPr lang="en-CA" dirty="0"/>
              <a:t>Books for Reverse Engineering (Going Deeper)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A42A8A7-E6DC-56A0-9CB3-1DFED98AD0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52976" y="1267873"/>
            <a:ext cx="6019801" cy="2429355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7EA4F0E-AE21-D168-C7D4-6AC1BF6FD9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2976" y="3770373"/>
            <a:ext cx="6354856" cy="2722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2956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6DB54-06CB-4317-89BC-B82A03D3D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 are going to cover in this section: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D43AAF-5A20-4B01-AFB1-72D105B2A5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reverse engineering</a:t>
            </a:r>
          </a:p>
          <a:p>
            <a:r>
              <a:rPr lang="en-US" dirty="0"/>
              <a:t>Examples of C </a:t>
            </a:r>
            <a:r>
              <a:rPr lang="en-US" dirty="0">
                <a:sym typeface="Wingdings" panose="05000000000000000000" pitchFamily="2" charset="2"/>
              </a:rPr>
              <a:t> Assembly</a:t>
            </a:r>
          </a:p>
          <a:p>
            <a:r>
              <a:rPr lang="en-US" dirty="0">
                <a:sym typeface="Wingdings" panose="05000000000000000000" pitchFamily="2" charset="2"/>
              </a:rPr>
              <a:t>Exploring Function Calls</a:t>
            </a:r>
          </a:p>
          <a:p>
            <a:r>
              <a:rPr lang="en-US" dirty="0">
                <a:sym typeface="Wingdings" panose="05000000000000000000" pitchFamily="2" charset="2"/>
              </a:rPr>
              <a:t>Looking at a few example binaries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…There is a *lot* more you can do with this 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2710661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ECA7E-51EB-43D3-B480-B3ACCB4A4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Compiler Explorer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91A23E-F639-472E-9BD5-095C60166C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Available online at Godbolt.org (made by Matt Godbolt)</a:t>
            </a:r>
            <a:endParaRPr lang="en-C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D4037A-6FF2-4A4C-9E54-09B14031F9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5580" y="2632975"/>
            <a:ext cx="8958146" cy="385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8489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6884E-E359-4E00-B066-4044A8EBF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the compiler type</a:t>
            </a:r>
            <a:endParaRPr lang="en-CA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D8AD4F5-27EF-448A-BB5F-3DB9A43F10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5272" y="2283522"/>
            <a:ext cx="5249008" cy="19338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096DDDE-3101-4937-8C73-C1F3C693FA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8824" y="2283522"/>
            <a:ext cx="5558638" cy="1933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8573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0369B-4E89-4E28-982F-E36F916C7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Default Example Code</a:t>
            </a:r>
            <a:endParaRPr lang="en-CA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C9055AB-69A4-4238-B650-6101A21E95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39366" y="1825625"/>
            <a:ext cx="951326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668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9CB7F-7384-4DF6-8FB8-325F5B482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it work?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649350-A659-416F-8289-B865EEACFD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Compiles C code on left to ASM on right.</a:t>
            </a:r>
          </a:p>
          <a:p>
            <a:r>
              <a:rPr lang="en-US" dirty="0"/>
              <a:t>Applies optimizations – if your code does nothing it may get optimized away (just like in real life).</a:t>
            </a:r>
          </a:p>
          <a:p>
            <a:r>
              <a:rPr lang="en-US" dirty="0"/>
              <a:t>You can call external functions, the assembly for them won’t show up.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2591108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EF7E3-20E7-4881-8CAA-E4B175C5A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Try the following codes: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6273E1-1478-4D68-A2C9-9562F4AADD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“for” loop</a:t>
            </a:r>
          </a:p>
          <a:p>
            <a:r>
              <a:rPr lang="en-US" dirty="0"/>
              <a:t>Addition operations</a:t>
            </a:r>
          </a:p>
          <a:p>
            <a:r>
              <a:rPr lang="en-CA" dirty="0"/>
              <a:t>Multiply operations</a:t>
            </a:r>
          </a:p>
          <a:p>
            <a:r>
              <a:rPr lang="en-CA" dirty="0"/>
              <a:t>Calling other functions</a:t>
            </a:r>
          </a:p>
        </p:txBody>
      </p:sp>
    </p:spTree>
    <p:extLst>
      <p:ext uri="{BB962C8B-B14F-4D97-AF65-F5344CB8AC3E}">
        <p14:creationId xmlns:p14="http://schemas.microsoft.com/office/powerpoint/2010/main" val="10516200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60C99-A099-4122-98C0-8CC19648F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Calling other functions</a:t>
            </a:r>
            <a:endParaRPr lang="en-CA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33EEEE8-FB3D-41FD-8E42-BC473B5A25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2755" y="1601477"/>
            <a:ext cx="9761493" cy="4955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6268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256DA-8AA1-4BB9-857D-1399DECD4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 for Quiz – use Compiler Explorer to answer the following…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FA4F88-1A75-41C9-89E2-A702FC41A1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the assembly instruction for addition of numbers?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When calling a C function, where does:</a:t>
            </a:r>
          </a:p>
          <a:p>
            <a:pPr lvl="1"/>
            <a:r>
              <a:rPr lang="en-US" dirty="0"/>
              <a:t>The first argument go?</a:t>
            </a:r>
          </a:p>
          <a:p>
            <a:pPr lvl="1"/>
            <a:r>
              <a:rPr lang="en-US" dirty="0"/>
              <a:t>The second argument go?</a:t>
            </a:r>
          </a:p>
          <a:p>
            <a:pPr lvl="1"/>
            <a:r>
              <a:rPr lang="en-US" dirty="0"/>
              <a:t>When does it stop using this method?</a:t>
            </a:r>
            <a:endParaRPr lang="en-C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0B6F6D-C264-4A09-82FB-7B89378058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8560" y="2480998"/>
            <a:ext cx="3741676" cy="1713979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27F0A3B-5593-4BC4-A2D0-B7F5C7C2626B}"/>
              </a:ext>
            </a:extLst>
          </p:cNvPr>
          <p:cNvCxnSpPr>
            <a:cxnSpLocks/>
          </p:cNvCxnSpPr>
          <p:nvPr/>
        </p:nvCxnSpPr>
        <p:spPr>
          <a:xfrm>
            <a:off x="6601522" y="2906751"/>
            <a:ext cx="138275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75600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21A06-C636-48C9-BDBC-F9790C260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Hint – to see how arguments are stored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D4CD8-5893-485E-9A25-9150971860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0000FF"/>
                </a:solidFill>
                <a:effectLst/>
                <a:latin typeface="Consolas, "/>
              </a:rPr>
              <a:t>int</a:t>
            </a:r>
            <a:r>
              <a:rPr lang="en-US" sz="2000" dirty="0">
                <a:solidFill>
                  <a:srgbClr val="000000"/>
                </a:solidFill>
                <a:effectLst/>
                <a:latin typeface="Consolas, "/>
              </a:rPr>
              <a:t> </a:t>
            </a:r>
            <a:r>
              <a:rPr lang="en-US" sz="2000" dirty="0" err="1">
                <a:solidFill>
                  <a:srgbClr val="000000"/>
                </a:solidFill>
                <a:effectLst/>
                <a:latin typeface="Consolas, "/>
              </a:rPr>
              <a:t>another_function</a:t>
            </a:r>
            <a:r>
              <a:rPr lang="en-US" sz="2000" dirty="0">
                <a:solidFill>
                  <a:srgbClr val="000000"/>
                </a:solidFill>
                <a:effectLst/>
                <a:latin typeface="Consolas, "/>
              </a:rPr>
              <a:t>(</a:t>
            </a:r>
            <a:r>
              <a:rPr lang="en-US" sz="2000" dirty="0">
                <a:solidFill>
                  <a:srgbClr val="0000FF"/>
                </a:solidFill>
                <a:effectLst/>
                <a:latin typeface="Consolas, "/>
              </a:rPr>
              <a:t>int</a:t>
            </a:r>
            <a:r>
              <a:rPr lang="en-US" sz="2000" dirty="0">
                <a:solidFill>
                  <a:srgbClr val="000000"/>
                </a:solidFill>
                <a:effectLst/>
                <a:latin typeface="Consolas, "/>
              </a:rPr>
              <a:t> a, </a:t>
            </a:r>
            <a:r>
              <a:rPr lang="en-US" sz="2000" dirty="0">
                <a:solidFill>
                  <a:srgbClr val="0000FF"/>
                </a:solidFill>
                <a:effectLst/>
                <a:latin typeface="Consolas, "/>
              </a:rPr>
              <a:t>int</a:t>
            </a:r>
            <a:r>
              <a:rPr lang="en-US" sz="2000" dirty="0">
                <a:solidFill>
                  <a:srgbClr val="000000"/>
                </a:solidFill>
                <a:effectLst/>
                <a:latin typeface="Consolas, "/>
              </a:rPr>
              <a:t> b, </a:t>
            </a:r>
            <a:r>
              <a:rPr lang="en-US" sz="2000" dirty="0">
                <a:solidFill>
                  <a:srgbClr val="0000FF"/>
                </a:solidFill>
                <a:effectLst/>
                <a:latin typeface="Consolas, "/>
              </a:rPr>
              <a:t>int</a:t>
            </a:r>
            <a:r>
              <a:rPr lang="en-US" sz="2000" dirty="0">
                <a:solidFill>
                  <a:srgbClr val="000000"/>
                </a:solidFill>
                <a:effectLst/>
                <a:latin typeface="Consolas, "/>
              </a:rPr>
              <a:t> c, </a:t>
            </a:r>
            <a:r>
              <a:rPr lang="en-US" sz="2000" dirty="0">
                <a:solidFill>
                  <a:srgbClr val="0000FF"/>
                </a:solidFill>
                <a:effectLst/>
                <a:latin typeface="Consolas, "/>
              </a:rPr>
              <a:t>int</a:t>
            </a:r>
            <a:r>
              <a:rPr lang="en-US" sz="2000" dirty="0">
                <a:solidFill>
                  <a:srgbClr val="000000"/>
                </a:solidFill>
                <a:effectLst/>
                <a:latin typeface="Consolas, "/>
              </a:rPr>
              <a:t> d, </a:t>
            </a:r>
            <a:r>
              <a:rPr lang="en-US" sz="2000" dirty="0">
                <a:solidFill>
                  <a:srgbClr val="0000FF"/>
                </a:solidFill>
                <a:effectLst/>
                <a:latin typeface="Consolas, "/>
              </a:rPr>
              <a:t>int</a:t>
            </a:r>
            <a:r>
              <a:rPr lang="en-US" sz="2000" dirty="0">
                <a:solidFill>
                  <a:srgbClr val="000000"/>
                </a:solidFill>
                <a:effectLst/>
                <a:latin typeface="Consolas, "/>
              </a:rPr>
              <a:t> e, </a:t>
            </a:r>
            <a:r>
              <a:rPr lang="en-US" sz="2000" dirty="0">
                <a:solidFill>
                  <a:srgbClr val="0000FF"/>
                </a:solidFill>
                <a:effectLst/>
                <a:latin typeface="Consolas, "/>
              </a:rPr>
              <a:t>int</a:t>
            </a:r>
            <a:r>
              <a:rPr lang="en-US" sz="2000" dirty="0">
                <a:solidFill>
                  <a:srgbClr val="000000"/>
                </a:solidFill>
                <a:effectLst/>
                <a:latin typeface="Consolas, "/>
              </a:rPr>
              <a:t> f, </a:t>
            </a:r>
            <a:r>
              <a:rPr lang="en-US" sz="2000" dirty="0">
                <a:solidFill>
                  <a:srgbClr val="0000FF"/>
                </a:solidFill>
                <a:effectLst/>
                <a:latin typeface="Consolas, "/>
              </a:rPr>
              <a:t>int</a:t>
            </a:r>
            <a:r>
              <a:rPr lang="en-US" sz="2000" dirty="0">
                <a:solidFill>
                  <a:srgbClr val="000000"/>
                </a:solidFill>
                <a:effectLst/>
                <a:latin typeface="Consolas, "/>
              </a:rPr>
              <a:t> g)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effectLst/>
                <a:latin typeface="Consolas, "/>
              </a:rPr>
              <a:t>{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effectLst/>
                <a:latin typeface="Consolas, "/>
              </a:rPr>
              <a:t>    </a:t>
            </a:r>
            <a:r>
              <a:rPr lang="en-US" sz="2000" dirty="0">
                <a:solidFill>
                  <a:srgbClr val="0000FF"/>
                </a:solidFill>
                <a:effectLst/>
                <a:latin typeface="Consolas, "/>
              </a:rPr>
              <a:t>return</a:t>
            </a:r>
            <a:r>
              <a:rPr lang="en-US" sz="2000" dirty="0">
                <a:solidFill>
                  <a:srgbClr val="000000"/>
                </a:solidFill>
                <a:effectLst/>
                <a:latin typeface="Consolas, "/>
              </a:rPr>
              <a:t> a + b;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effectLst/>
                <a:latin typeface="Consolas, "/>
              </a:rPr>
              <a:t>}</a:t>
            </a:r>
          </a:p>
          <a:p>
            <a:pPr marL="0" indent="0">
              <a:buNone/>
            </a:pPr>
            <a:br>
              <a:rPr lang="en-US" sz="2000" dirty="0">
                <a:solidFill>
                  <a:srgbClr val="000000"/>
                </a:solidFill>
                <a:effectLst/>
                <a:latin typeface="Consolas, "/>
              </a:rPr>
            </a:br>
            <a:r>
              <a:rPr lang="en-US" sz="2000" dirty="0">
                <a:solidFill>
                  <a:srgbClr val="0000FF"/>
                </a:solidFill>
                <a:effectLst/>
                <a:latin typeface="Consolas, "/>
              </a:rPr>
              <a:t>int</a:t>
            </a:r>
            <a:r>
              <a:rPr lang="en-US" sz="2000" dirty="0">
                <a:solidFill>
                  <a:srgbClr val="000000"/>
                </a:solidFill>
                <a:effectLst/>
                <a:latin typeface="Consolas, "/>
              </a:rPr>
              <a:t> main(</a:t>
            </a:r>
            <a:r>
              <a:rPr lang="en-US" sz="2000" dirty="0">
                <a:solidFill>
                  <a:srgbClr val="0000FF"/>
                </a:solidFill>
                <a:effectLst/>
                <a:latin typeface="Consolas, "/>
              </a:rPr>
              <a:t>void</a:t>
            </a:r>
            <a:r>
              <a:rPr lang="en-US" sz="2000" dirty="0">
                <a:solidFill>
                  <a:srgbClr val="000000"/>
                </a:solidFill>
                <a:effectLst/>
                <a:latin typeface="Consolas, "/>
              </a:rPr>
              <a:t>)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effectLst/>
                <a:latin typeface="Consolas, "/>
              </a:rPr>
              <a:t>{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effectLst/>
                <a:latin typeface="Consolas, "/>
              </a:rPr>
              <a:t>    </a:t>
            </a:r>
            <a:r>
              <a:rPr lang="en-US" sz="2000" dirty="0" err="1">
                <a:solidFill>
                  <a:srgbClr val="000000"/>
                </a:solidFill>
                <a:effectLst/>
                <a:latin typeface="Consolas, "/>
              </a:rPr>
              <a:t>another_function</a:t>
            </a:r>
            <a:r>
              <a:rPr lang="en-US" sz="2000" dirty="0">
                <a:solidFill>
                  <a:srgbClr val="000000"/>
                </a:solidFill>
                <a:effectLst/>
                <a:latin typeface="Consolas, "/>
              </a:rPr>
              <a:t>(</a:t>
            </a:r>
            <a:r>
              <a:rPr lang="en-US" sz="2000" dirty="0">
                <a:solidFill>
                  <a:srgbClr val="098658"/>
                </a:solidFill>
                <a:effectLst/>
                <a:latin typeface="Consolas, "/>
              </a:rPr>
              <a:t>4</a:t>
            </a:r>
            <a:r>
              <a:rPr lang="en-US" sz="2000" dirty="0">
                <a:solidFill>
                  <a:srgbClr val="000000"/>
                </a:solidFill>
                <a:effectLst/>
                <a:latin typeface="Consolas, "/>
              </a:rPr>
              <a:t>, </a:t>
            </a:r>
            <a:r>
              <a:rPr lang="en-US" sz="2000" dirty="0">
                <a:solidFill>
                  <a:srgbClr val="098658"/>
                </a:solidFill>
                <a:effectLst/>
                <a:latin typeface="Consolas, "/>
              </a:rPr>
              <a:t>2</a:t>
            </a:r>
            <a:r>
              <a:rPr lang="en-US" sz="2000" dirty="0">
                <a:solidFill>
                  <a:srgbClr val="000000"/>
                </a:solidFill>
                <a:effectLst/>
                <a:latin typeface="Consolas, "/>
              </a:rPr>
              <a:t>, </a:t>
            </a:r>
            <a:r>
              <a:rPr lang="en-US" sz="2000" dirty="0">
                <a:solidFill>
                  <a:srgbClr val="098658"/>
                </a:solidFill>
                <a:effectLst/>
                <a:latin typeface="Consolas, "/>
              </a:rPr>
              <a:t>5</a:t>
            </a:r>
            <a:r>
              <a:rPr lang="en-US" sz="2000" dirty="0">
                <a:solidFill>
                  <a:srgbClr val="000000"/>
                </a:solidFill>
                <a:effectLst/>
                <a:latin typeface="Consolas, "/>
              </a:rPr>
              <a:t>, </a:t>
            </a:r>
            <a:r>
              <a:rPr lang="en-US" sz="2000" dirty="0">
                <a:solidFill>
                  <a:srgbClr val="098658"/>
                </a:solidFill>
                <a:effectLst/>
                <a:latin typeface="Consolas, "/>
              </a:rPr>
              <a:t>6</a:t>
            </a:r>
            <a:r>
              <a:rPr lang="en-US" sz="2000" dirty="0">
                <a:solidFill>
                  <a:srgbClr val="000000"/>
                </a:solidFill>
                <a:effectLst/>
                <a:latin typeface="Consolas, "/>
              </a:rPr>
              <a:t>, </a:t>
            </a:r>
            <a:r>
              <a:rPr lang="en-US" sz="2000" dirty="0">
                <a:solidFill>
                  <a:srgbClr val="098658"/>
                </a:solidFill>
                <a:effectLst/>
                <a:latin typeface="Consolas, "/>
              </a:rPr>
              <a:t>2</a:t>
            </a:r>
            <a:r>
              <a:rPr lang="en-US" sz="2000" dirty="0">
                <a:solidFill>
                  <a:srgbClr val="000000"/>
                </a:solidFill>
                <a:effectLst/>
                <a:latin typeface="Consolas, "/>
              </a:rPr>
              <a:t>, </a:t>
            </a:r>
            <a:r>
              <a:rPr lang="en-US" sz="2000" dirty="0">
                <a:solidFill>
                  <a:srgbClr val="098658"/>
                </a:solidFill>
                <a:effectLst/>
                <a:latin typeface="Consolas, "/>
              </a:rPr>
              <a:t>4</a:t>
            </a:r>
            <a:r>
              <a:rPr lang="en-US" sz="2000" dirty="0">
                <a:solidFill>
                  <a:srgbClr val="000000"/>
                </a:solidFill>
                <a:effectLst/>
                <a:latin typeface="Consolas, "/>
              </a:rPr>
              <a:t>, </a:t>
            </a:r>
            <a:r>
              <a:rPr lang="en-US" sz="2000" dirty="0">
                <a:solidFill>
                  <a:srgbClr val="098658"/>
                </a:solidFill>
                <a:effectLst/>
                <a:latin typeface="Consolas, "/>
              </a:rPr>
              <a:t>2</a:t>
            </a:r>
            <a:r>
              <a:rPr lang="en-US" sz="2000" dirty="0">
                <a:solidFill>
                  <a:srgbClr val="000000"/>
                </a:solidFill>
                <a:effectLst/>
                <a:latin typeface="Consolas, "/>
              </a:rPr>
              <a:t>);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effectLst/>
                <a:latin typeface="Consolas, "/>
              </a:rPr>
              <a:t>}</a:t>
            </a:r>
          </a:p>
          <a:p>
            <a:pPr marL="0" indent="0">
              <a:buNone/>
            </a:pPr>
            <a:endParaRPr lang="en-CA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91012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A019F-0D8C-4186-98A9-5D4549B49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Calls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71B074-D68E-420A-A710-40FF569741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Calling convention is how various function calls pass arguments.</a:t>
            </a:r>
          </a:p>
          <a:p>
            <a:r>
              <a:rPr lang="en-US" dirty="0"/>
              <a:t>Calling conventions vary for architectures &amp; compilers.</a:t>
            </a:r>
          </a:p>
          <a:p>
            <a:r>
              <a:rPr lang="en-US" dirty="0"/>
              <a:t>Can find calling convention information (normally) in compiler documentation.</a:t>
            </a:r>
          </a:p>
          <a:p>
            <a:r>
              <a:rPr lang="en-US" dirty="0"/>
              <a:t>Functions themselves will normally do setup (prologue) &amp; teardown (epilogue)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4673302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6795F-9543-4957-BBAA-24BCAFF68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</a:t>
            </a:r>
            <a:r>
              <a:rPr lang="en-US" dirty="0" err="1"/>
              <a:t>avr-gcc</a:t>
            </a:r>
            <a:r>
              <a:rPr lang="en-US" dirty="0"/>
              <a:t> calling convention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BE099D-526F-47AE-AA3D-9B493C4BBC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Function call conventions:</a:t>
            </a:r>
          </a:p>
          <a:p>
            <a:r>
              <a:rPr lang="en-US" dirty="0"/>
              <a:t>Arguments - allocated left to right, r25 to r8.</a:t>
            </a:r>
          </a:p>
          <a:p>
            <a:r>
              <a:rPr lang="en-US" dirty="0"/>
              <a:t>All arguments are aligned to start in even-numbered registers (odd-sized arguments, including char, have one free register above them). This allows making better use of the </a:t>
            </a:r>
            <a:r>
              <a:rPr lang="en-US" dirty="0" err="1"/>
              <a:t>movw</a:t>
            </a:r>
            <a:r>
              <a:rPr lang="en-US" dirty="0"/>
              <a:t> instruction on the enhanced core.</a:t>
            </a:r>
          </a:p>
          <a:p>
            <a:r>
              <a:rPr lang="en-US" dirty="0"/>
              <a:t>If too many, those that don't fit are passed on the stack.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Return values:</a:t>
            </a:r>
          </a:p>
          <a:p>
            <a:pPr lvl="1"/>
            <a:r>
              <a:rPr lang="en-US" dirty="0"/>
              <a:t>8-bit in r24 (not r25!)</a:t>
            </a:r>
          </a:p>
          <a:p>
            <a:pPr lvl="1"/>
            <a:r>
              <a:rPr lang="en-US" dirty="0"/>
              <a:t>16-bit in r25:r24</a:t>
            </a:r>
          </a:p>
          <a:p>
            <a:pPr lvl="1"/>
            <a:r>
              <a:rPr lang="en-US" dirty="0"/>
              <a:t>up to 32 bits in r22-r25</a:t>
            </a:r>
          </a:p>
          <a:p>
            <a:pPr lvl="1"/>
            <a:r>
              <a:rPr lang="en-US" dirty="0"/>
              <a:t>up to 64 bits in r18-r25</a:t>
            </a:r>
          </a:p>
          <a:p>
            <a:pPr lvl="1"/>
            <a:r>
              <a:rPr lang="en-US" dirty="0"/>
              <a:t> 8-bit return values are zero/sign-extended to 16 bits by the called function (unsigned char is more efficient than signed char - just </a:t>
            </a:r>
            <a:r>
              <a:rPr lang="en-US" dirty="0" err="1"/>
              <a:t>clr</a:t>
            </a:r>
            <a:r>
              <a:rPr lang="en-US" dirty="0"/>
              <a:t> r25).</a:t>
            </a:r>
          </a:p>
          <a:p>
            <a:r>
              <a:rPr lang="en-US" dirty="0"/>
              <a:t>Arguments to functions with variable argument lists (</a:t>
            </a:r>
            <a:r>
              <a:rPr lang="en-US" dirty="0" err="1"/>
              <a:t>printf</a:t>
            </a:r>
            <a:r>
              <a:rPr lang="en-US" dirty="0"/>
              <a:t> etc.) are all passed on stack, and char is extended to int.</a:t>
            </a:r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E89416-3594-48B1-8E8C-DCCDAF486382}"/>
              </a:ext>
            </a:extLst>
          </p:cNvPr>
          <p:cNvSpPr txBox="1"/>
          <p:nvPr/>
        </p:nvSpPr>
        <p:spPr>
          <a:xfrm>
            <a:off x="2676293" y="61272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https://www.nongnu.org/avr-libc/user-manual/FAQ.html</a:t>
            </a:r>
          </a:p>
        </p:txBody>
      </p:sp>
    </p:spTree>
    <p:extLst>
      <p:ext uri="{BB962C8B-B14F-4D97-AF65-F5344CB8AC3E}">
        <p14:creationId xmlns:p14="http://schemas.microsoft.com/office/powerpoint/2010/main" val="14022160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B2CC8-11EC-426D-8973-4D6CE9022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IAR </a:t>
            </a:r>
            <a:r>
              <a:rPr lang="en-US" dirty="0" err="1"/>
              <a:t>avr</a:t>
            </a:r>
            <a:r>
              <a:rPr lang="en-US" dirty="0"/>
              <a:t> calling convention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032EA3-0E32-4CBC-82C7-31BC67C14E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Recognizing calling conventions </a:t>
            </a:r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B1C959-4D5B-4681-B730-7E919EE53248}"/>
              </a:ext>
            </a:extLst>
          </p:cNvPr>
          <p:cNvSpPr txBox="1"/>
          <p:nvPr/>
        </p:nvSpPr>
        <p:spPr>
          <a:xfrm>
            <a:off x="639336" y="5988734"/>
            <a:ext cx="107144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hlinkClick r:id="rId2"/>
              </a:rPr>
              <a:t>http://ftp.indes.com/pub/mirrors/ftp.iar.se/WWWfiles/avr/webic/doc/EWAVR_CompilerGuide.pdf</a:t>
            </a:r>
            <a:endParaRPr lang="en-CA" dirty="0"/>
          </a:p>
          <a:p>
            <a:r>
              <a:rPr lang="en-CA" dirty="0"/>
              <a:t>Flip to page 159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99B679-49CB-4F7B-9BC9-F07B8A3DEA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5996" y="2421712"/>
            <a:ext cx="7381100" cy="3499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1838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0D604-DD36-4C7B-9DEE-A0681FDEF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Calling Convention – Different Compilers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645D7A-2A68-4951-8608-EE6B439683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Calling convention of the two compilers is different, even with same target (AVR in this case).</a:t>
            </a:r>
          </a:p>
          <a:p>
            <a:endParaRPr lang="en-US" dirty="0"/>
          </a:p>
          <a:p>
            <a:r>
              <a:rPr lang="en-US" dirty="0"/>
              <a:t>Recognizing calling conventions important for reverse engineering.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6013288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ADF74-1D9E-4A0C-B4E8-008DF2FAE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Recognizing function calls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C35C6D-FEEF-4059-A760-B20D98FAD5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see call to function.</a:t>
            </a:r>
          </a:p>
          <a:p>
            <a:r>
              <a:rPr lang="en-US" dirty="0"/>
              <a:t>We normally see return at end of function.</a:t>
            </a:r>
          </a:p>
          <a:p>
            <a:r>
              <a:rPr lang="en-US" dirty="0"/>
              <a:t>..What about in between?</a:t>
            </a:r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965B2D-8F77-4F37-A127-4257E10357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241" y="4384448"/>
            <a:ext cx="3534268" cy="10478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94B4E2B-3C35-4346-AEE8-F3CBD4A55B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4953" y="3031709"/>
            <a:ext cx="4896533" cy="3753374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3F03094-42CA-41E0-BEC2-D3E8AF477086}"/>
              </a:ext>
            </a:extLst>
          </p:cNvPr>
          <p:cNvCxnSpPr/>
          <p:nvPr/>
        </p:nvCxnSpPr>
        <p:spPr>
          <a:xfrm flipV="1">
            <a:off x="4118517" y="6482576"/>
            <a:ext cx="1709854" cy="1412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6C62103-C1BA-4AAA-829B-C14FFFD459C3}"/>
              </a:ext>
            </a:extLst>
          </p:cNvPr>
          <p:cNvSpPr txBox="1"/>
          <p:nvPr/>
        </p:nvSpPr>
        <p:spPr>
          <a:xfrm>
            <a:off x="3187079" y="6427432"/>
            <a:ext cx="1590859" cy="3746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return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9509791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D6ACF-C771-4A66-8306-815A7FE69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Calls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4C06FA-B733-426D-8506-137902D12C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Much of this deals around the usage of the </a:t>
            </a:r>
            <a:r>
              <a:rPr lang="en-US" i="1" dirty="0"/>
              <a:t>stack</a:t>
            </a:r>
            <a:r>
              <a:rPr lang="en-US" dirty="0"/>
              <a:t> – this should have been covered in your computer architecture classes and this is just a refresher.</a:t>
            </a:r>
          </a:p>
          <a:p>
            <a:endParaRPr lang="en-US" dirty="0"/>
          </a:p>
          <a:p>
            <a:r>
              <a:rPr lang="en-US" dirty="0"/>
              <a:t>If you need a refresher:</a:t>
            </a:r>
            <a:r>
              <a:rPr lang="en-CA" dirty="0"/>
              <a:t> </a:t>
            </a:r>
            <a:r>
              <a:rPr lang="en-CA" dirty="0">
                <a:hlinkClick r:id="rId2"/>
              </a:rPr>
              <a:t>https://azeria-labs.com/functions-and-the-stack-part-7/</a:t>
            </a:r>
            <a:r>
              <a:rPr lang="en-CA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90436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0775BE8-AA8E-4E6F-919D-2DDF9A78BB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6865" y="1429698"/>
            <a:ext cx="11694147" cy="54283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4A8111B-4625-42CA-9C5F-F6EE27D92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Local Variables</a:t>
            </a:r>
            <a:endParaRPr lang="en-CA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49BD12-E91A-455C-8A92-5B277DAEEEDF}"/>
              </a:ext>
            </a:extLst>
          </p:cNvPr>
          <p:cNvSpPr/>
          <p:nvPr/>
        </p:nvSpPr>
        <p:spPr>
          <a:xfrm>
            <a:off x="1278903" y="2228270"/>
            <a:ext cx="321297" cy="1910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2BF0BC8-9D2E-423E-8387-DFCBAEC21C24}"/>
              </a:ext>
            </a:extLst>
          </p:cNvPr>
          <p:cNvSpPr/>
          <p:nvPr/>
        </p:nvSpPr>
        <p:spPr>
          <a:xfrm>
            <a:off x="7251700" y="2755261"/>
            <a:ext cx="1676400" cy="36893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235306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E51D4-C607-42D6-8B3C-11CAC2434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do local variables get stored?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7857A1-FF24-494D-9408-9DFDD7ED21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Often stored in </a:t>
            </a:r>
            <a:r>
              <a:rPr lang="en-US" i="1" dirty="0"/>
              <a:t>registers</a:t>
            </a:r>
            <a:r>
              <a:rPr lang="en-US" dirty="0"/>
              <a:t>.</a:t>
            </a:r>
          </a:p>
          <a:p>
            <a:r>
              <a:rPr lang="en-US" dirty="0"/>
              <a:t>May also be stored in memory (RAM), normally when:</a:t>
            </a:r>
          </a:p>
          <a:p>
            <a:pPr lvl="1"/>
            <a:r>
              <a:rPr lang="en-US" dirty="0"/>
              <a:t>Compiler has run out of registers to use.</a:t>
            </a:r>
          </a:p>
          <a:p>
            <a:pPr lvl="1"/>
            <a:r>
              <a:rPr lang="en-US" dirty="0"/>
              <a:t>Variable is declared static (stays around).</a:t>
            </a:r>
          </a:p>
          <a:p>
            <a:pPr lvl="1"/>
            <a:r>
              <a:rPr lang="en-US" dirty="0"/>
              <a:t>Variable is declared volatile.</a:t>
            </a:r>
          </a:p>
          <a:p>
            <a:pPr lvl="1"/>
            <a:r>
              <a:rPr lang="en-US" dirty="0"/>
              <a:t>Compiler feels like it (optimization disabled, other reasons).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0441487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E5506-D5E9-457B-A823-5C7BC1F0C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Registers vs. Memory?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6D3E45-0E25-476A-A7C7-341C154403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CPU can only perform operations (such as comparisons, additions, </a:t>
            </a:r>
            <a:r>
              <a:rPr lang="en-US" dirty="0" err="1"/>
              <a:t>etc</a:t>
            </a:r>
            <a:r>
              <a:rPr lang="en-US" dirty="0"/>
              <a:t>) on registers.</a:t>
            </a:r>
          </a:p>
          <a:p>
            <a:r>
              <a:rPr lang="en-US" dirty="0"/>
              <a:t>Therefor </a:t>
            </a:r>
            <a:r>
              <a:rPr lang="en-US" u="sng" dirty="0"/>
              <a:t>all</a:t>
            </a:r>
            <a:r>
              <a:rPr lang="en-US" dirty="0"/>
              <a:t> variables will get moved from memory into registers when used.</a:t>
            </a:r>
          </a:p>
          <a:p>
            <a:endParaRPr lang="en-US" dirty="0"/>
          </a:p>
          <a:p>
            <a:pPr marL="0" indent="0">
              <a:buNone/>
            </a:pPr>
            <a:endParaRPr lang="en-C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71F1CA-205C-4416-ADF5-7D550EE4AA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2922" y="3611366"/>
            <a:ext cx="5410955" cy="2810267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7477BA7-01ED-4235-9D67-CA81FD881B0C}"/>
              </a:ext>
            </a:extLst>
          </p:cNvPr>
          <p:cNvCxnSpPr/>
          <p:nvPr/>
        </p:nvCxnSpPr>
        <p:spPr>
          <a:xfrm flipH="1">
            <a:off x="7188200" y="4451350"/>
            <a:ext cx="2222500" cy="1587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8BBA5B7-9C23-4359-A6EB-CCDFB8FDA71F}"/>
              </a:ext>
            </a:extLst>
          </p:cNvPr>
          <p:cNvCxnSpPr>
            <a:cxnSpLocks/>
          </p:cNvCxnSpPr>
          <p:nvPr/>
        </p:nvCxnSpPr>
        <p:spPr>
          <a:xfrm flipH="1" flipV="1">
            <a:off x="7188200" y="5097681"/>
            <a:ext cx="2266950" cy="1347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11B4DFE7-985B-4681-83C7-25D04AD451EC}"/>
              </a:ext>
            </a:extLst>
          </p:cNvPr>
          <p:cNvSpPr txBox="1"/>
          <p:nvPr/>
        </p:nvSpPr>
        <p:spPr>
          <a:xfrm>
            <a:off x="9410700" y="4240768"/>
            <a:ext cx="27495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Set r3 to 0, then store to address [</a:t>
            </a:r>
            <a:r>
              <a:rPr lang="en-US" dirty="0" err="1"/>
              <a:t>fp</a:t>
            </a:r>
            <a:r>
              <a:rPr lang="en-US" dirty="0"/>
              <a:t>, #-8]</a:t>
            </a:r>
            <a:endParaRPr lang="en-CA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6C822F-327C-4A72-A932-20BE03C6B2D7}"/>
              </a:ext>
            </a:extLst>
          </p:cNvPr>
          <p:cNvSpPr txBox="1"/>
          <p:nvPr/>
        </p:nvSpPr>
        <p:spPr>
          <a:xfrm>
            <a:off x="9410700" y="5070366"/>
            <a:ext cx="27495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Load from address [</a:t>
            </a:r>
            <a:r>
              <a:rPr lang="en-US" dirty="0" err="1"/>
              <a:t>fp</a:t>
            </a:r>
            <a:r>
              <a:rPr lang="en-US" dirty="0"/>
              <a:t>, #-8] into r3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289875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D1D71-FB04-423A-9890-73C90FA4B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 vs. Static</a:t>
            </a:r>
            <a:endParaRPr lang="en-CA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DE8DD91-FB4E-4E7B-971D-463637D2E1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6080" y="1349374"/>
            <a:ext cx="9157420" cy="532590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878C3C3-FEB4-41B8-9A7F-9101D04B611D}"/>
              </a:ext>
            </a:extLst>
          </p:cNvPr>
          <p:cNvSpPr/>
          <p:nvPr/>
        </p:nvSpPr>
        <p:spPr>
          <a:xfrm>
            <a:off x="1695450" y="1690688"/>
            <a:ext cx="431800" cy="15716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EF1997-89BA-46C7-BF46-712A83E73D8F}"/>
              </a:ext>
            </a:extLst>
          </p:cNvPr>
          <p:cNvSpPr/>
          <p:nvPr/>
        </p:nvSpPr>
        <p:spPr>
          <a:xfrm>
            <a:off x="7245350" y="3062288"/>
            <a:ext cx="431800" cy="15716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74BB79-8ABA-4C2C-A105-049A3373E98B}"/>
              </a:ext>
            </a:extLst>
          </p:cNvPr>
          <p:cNvSpPr txBox="1"/>
          <p:nvPr/>
        </p:nvSpPr>
        <p:spPr>
          <a:xfrm>
            <a:off x="9804400" y="2851834"/>
            <a:ext cx="2387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Define variable static -&gt; now stored at some </a:t>
            </a:r>
            <a:r>
              <a:rPr lang="en-US" b="1" u="sng" dirty="0"/>
              <a:t>specific location</a:t>
            </a:r>
            <a:r>
              <a:rPr lang="en-US" dirty="0"/>
              <a:t>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1995265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9E604-E175-47D5-A8CB-CF60836FA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was this [</a:t>
            </a:r>
            <a:r>
              <a:rPr lang="en-US" dirty="0" err="1"/>
              <a:t>fp</a:t>
            </a:r>
            <a:r>
              <a:rPr lang="en-US" dirty="0"/>
              <a:t>, #-8] thingy?</a:t>
            </a:r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FDEA74-A9B1-45D7-8C61-A3957120E4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1372" y="2385816"/>
            <a:ext cx="5410955" cy="2810267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464303E-EF67-40C8-A658-636EAAB5B2C3}"/>
              </a:ext>
            </a:extLst>
          </p:cNvPr>
          <p:cNvCxnSpPr/>
          <p:nvPr/>
        </p:nvCxnSpPr>
        <p:spPr>
          <a:xfrm flipV="1">
            <a:off x="4260850" y="2190750"/>
            <a:ext cx="2978150" cy="1117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F5F051E-A228-43D8-893B-766840C1AD31}"/>
              </a:ext>
            </a:extLst>
          </p:cNvPr>
          <p:cNvSpPr txBox="1"/>
          <p:nvPr/>
        </p:nvSpPr>
        <p:spPr>
          <a:xfrm>
            <a:off x="7239000" y="1993900"/>
            <a:ext cx="4546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fp</a:t>
            </a:r>
            <a:r>
              <a:rPr lang="en-US" dirty="0"/>
              <a:t> = “Frame Pointer”</a:t>
            </a:r>
            <a:endParaRPr lang="en-CA" dirty="0"/>
          </a:p>
        </p:txBody>
      </p:sp>
      <p:pic>
        <p:nvPicPr>
          <p:cNvPr id="1026" name="Picture 2" descr="Stack-based memory allocation - Wikipedia">
            <a:extLst>
              <a:ext uri="{FF2B5EF4-FFF2-40B4-BE49-F238E27FC236}">
                <a16:creationId xmlns:a16="http://schemas.microsoft.com/office/drawing/2014/main" id="{68E0458A-5783-4CDF-8F4F-E456839FC4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6750" y="2385816"/>
            <a:ext cx="3336925" cy="3963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7492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D6CE9-79A1-4C7B-911F-BC9581BD4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Variables in Functions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C204F4-3A84-4798-ACDC-B56AC81949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CPU only functions on registers.</a:t>
            </a:r>
          </a:p>
          <a:p>
            <a:r>
              <a:rPr lang="en-US" dirty="0"/>
              <a:t>When tracking </a:t>
            </a:r>
            <a:r>
              <a:rPr lang="en-US" i="1" dirty="0"/>
              <a:t>where</a:t>
            </a:r>
            <a:r>
              <a:rPr lang="en-US" dirty="0"/>
              <a:t> in memory things are stored – may need to look back a little to see if load/store happens.</a:t>
            </a:r>
          </a:p>
          <a:p>
            <a:endParaRPr lang="en-US" dirty="0"/>
          </a:p>
          <a:p>
            <a:r>
              <a:rPr lang="en-US" dirty="0"/>
              <a:t>Local variables are stored on the stack frame – this will be reused in other functions.</a:t>
            </a:r>
          </a:p>
          <a:p>
            <a:endParaRPr lang="en-US" dirty="0"/>
          </a:p>
          <a:p>
            <a:r>
              <a:rPr lang="en-US" dirty="0"/>
              <a:t>Global or static variables are stored at a specific location in memory (and never re-used).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3172455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336BD-030A-0617-1B64-1C09DC274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Summary – SW Reversing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B75680-5E91-2984-E7CF-8D3865B786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These slides </a:t>
            </a:r>
            <a:r>
              <a:rPr lang="en-CA" i="1" dirty="0"/>
              <a:t>should</a:t>
            </a:r>
            <a:r>
              <a:rPr lang="en-CA" dirty="0"/>
              <a:t> have been mostly a refresher on computer architecture topics.</a:t>
            </a:r>
          </a:p>
          <a:p>
            <a:endParaRPr lang="en-CA" dirty="0"/>
          </a:p>
          <a:p>
            <a:r>
              <a:rPr lang="en-CA" dirty="0"/>
              <a:t>We’ll use Compiler Explorer to observe how C/ASM mapping works (later we need to do the </a:t>
            </a:r>
            <a:r>
              <a:rPr lang="en-CA" i="1" dirty="0"/>
              <a:t>reverse</a:t>
            </a:r>
            <a:r>
              <a:rPr lang="en-CA" dirty="0"/>
              <a:t>, where we only have ASM).</a:t>
            </a:r>
          </a:p>
          <a:p>
            <a:endParaRPr lang="en-CA" dirty="0"/>
          </a:p>
          <a:p>
            <a:r>
              <a:rPr lang="en-CA" dirty="0"/>
              <a:t>Next we’ll explore what a “binary” exactly consists of…</a:t>
            </a:r>
          </a:p>
        </p:txBody>
      </p:sp>
    </p:spTree>
    <p:extLst>
      <p:ext uri="{BB962C8B-B14F-4D97-AF65-F5344CB8AC3E}">
        <p14:creationId xmlns:p14="http://schemas.microsoft.com/office/powerpoint/2010/main" val="34817202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536</TotalTime>
  <Words>998</Words>
  <Application>Microsoft Office PowerPoint</Application>
  <PresentationFormat>Widescreen</PresentationFormat>
  <Paragraphs>120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Arial</vt:lpstr>
      <vt:lpstr>Calibri</vt:lpstr>
      <vt:lpstr>Calibri Light</vt:lpstr>
      <vt:lpstr>Consolas, </vt:lpstr>
      <vt:lpstr>Courier New</vt:lpstr>
      <vt:lpstr>Wingdings</vt:lpstr>
      <vt:lpstr>Office Theme</vt:lpstr>
      <vt:lpstr>0x401 – SW Reverse Engineering Basics</vt:lpstr>
      <vt:lpstr>Software Reverse Engineering</vt:lpstr>
      <vt:lpstr>Resources for Arm Reverse Engineering</vt:lpstr>
      <vt:lpstr>Books for Reverse Engineering (Going Deeper)</vt:lpstr>
      <vt:lpstr>What we are going to cover in this section:</vt:lpstr>
      <vt:lpstr>Using Compiler Explorer</vt:lpstr>
      <vt:lpstr>Set the compiler type</vt:lpstr>
      <vt:lpstr>Default Example Code</vt:lpstr>
      <vt:lpstr>How does it work?</vt:lpstr>
      <vt:lpstr>Try the following codes:</vt:lpstr>
      <vt:lpstr>Example: Calling other functions</vt:lpstr>
      <vt:lpstr>Questions for Quiz – use Compiler Explorer to answer the following…</vt:lpstr>
      <vt:lpstr>Hint – to see how arguments are stored</vt:lpstr>
      <vt:lpstr>Function Calls</vt:lpstr>
      <vt:lpstr>Example: avr-gcc calling convention</vt:lpstr>
      <vt:lpstr>Example IAR avr calling convention</vt:lpstr>
      <vt:lpstr>Calling Convention – Different Compilers</vt:lpstr>
      <vt:lpstr>Recognizing function calls</vt:lpstr>
      <vt:lpstr>Function Calls</vt:lpstr>
      <vt:lpstr>Example of Local Variables</vt:lpstr>
      <vt:lpstr>Where do local variables get stored?</vt:lpstr>
      <vt:lpstr>Registers vs. Memory?</vt:lpstr>
      <vt:lpstr>Stack vs. Static</vt:lpstr>
      <vt:lpstr>What was this [fp, #-8] thingy?</vt:lpstr>
      <vt:lpstr>Variables in Functions</vt:lpstr>
      <vt:lpstr>Summary – SW Reversing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0x101 – Security in History Basic Ciphers</dc:title>
  <dc:creator>Colin O'Flynn</dc:creator>
  <cp:lastModifiedBy>Colin O'Flynn</cp:lastModifiedBy>
  <cp:revision>39</cp:revision>
  <dcterms:created xsi:type="dcterms:W3CDTF">2020-09-07T18:26:19Z</dcterms:created>
  <dcterms:modified xsi:type="dcterms:W3CDTF">2026-02-24T10:59:34Z</dcterms:modified>
</cp:coreProperties>
</file>