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57" r:id="rId3"/>
    <p:sldId id="270" r:id="rId4"/>
    <p:sldId id="271" r:id="rId5"/>
    <p:sldId id="258" r:id="rId6"/>
    <p:sldId id="273" r:id="rId7"/>
    <p:sldId id="261" r:id="rId8"/>
    <p:sldId id="263" r:id="rId9"/>
    <p:sldId id="264" r:id="rId10"/>
    <p:sldId id="265" r:id="rId11"/>
    <p:sldId id="266" r:id="rId12"/>
    <p:sldId id="274" r:id="rId13"/>
    <p:sldId id="275" r:id="rId14"/>
    <p:sldId id="276" r:id="rId15"/>
    <p:sldId id="268" r:id="rId16"/>
    <p:sldId id="269" r:id="rId17"/>
    <p:sldId id="277" r:id="rId18"/>
    <p:sldId id="278" r:id="rId19"/>
    <p:sldId id="279" r:id="rId20"/>
    <p:sldId id="282" r:id="rId21"/>
    <p:sldId id="283" r:id="rId22"/>
    <p:sldId id="284" r:id="rId23"/>
    <p:sldId id="285" r:id="rId24"/>
    <p:sldId id="286" r:id="rId25"/>
    <p:sldId id="287" r:id="rId26"/>
    <p:sldId id="289" r:id="rId27"/>
    <p:sldId id="288" r:id="rId28"/>
    <p:sldId id="290" r:id="rId29"/>
    <p:sldId id="291" r:id="rId30"/>
    <p:sldId id="292" r:id="rId31"/>
    <p:sldId id="294" r:id="rId32"/>
    <p:sldId id="293" r:id="rId33"/>
    <p:sldId id="295" r:id="rId34"/>
    <p:sldId id="381" r:id="rId35"/>
    <p:sldId id="297" r:id="rId36"/>
    <p:sldId id="298" r:id="rId37"/>
    <p:sldId id="345" r:id="rId38"/>
    <p:sldId id="380" r:id="rId39"/>
    <p:sldId id="332" r:id="rId40"/>
    <p:sldId id="296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159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92" y="5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2AABA-558E-5097-677C-7E8F34EC51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79923D-FFC5-5F64-7D39-06B5E1B176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363DC-D6D4-680F-17A8-C686DD6B3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4060D-3409-4A45-B3C6-0A414C16BEB2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1A46E-1C6A-E258-5FA1-A24202649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064A1-0429-CF3E-502A-B733A2866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96901-DDB8-483A-B8E6-3D886B467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6363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9E479-D66D-A412-03D8-36834AC02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5D454-9996-9E67-7318-A9F7A10EE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7C46E-DB8F-0D75-586B-6A914742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4060D-3409-4A45-B3C6-0A414C16BEB2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2C706-10CC-B221-05AA-CB9CDFAFC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8C642-CF6B-BC77-E1BE-060972582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96901-DDB8-483A-B8E6-3D886B467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824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E875A-DE0F-96FB-A130-3E0417AF2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861BC-DA2E-FF63-F861-394655B21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D807E-ED6A-4432-327E-79762F7EE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4060D-3409-4A45-B3C6-0A414C16BEB2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52397-9CA9-6962-82FC-E2397659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CC374-A211-83FB-49C5-38A60AC27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96901-DDB8-483A-B8E6-3D886B467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5997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FF962-B424-D4DD-5FEE-48044FB68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412DE0-9505-BE82-B238-FB4B8FE834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02CDBE-954E-9E55-003F-A719B6D24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4CB226-2F5F-459D-5C45-570A80E13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4060D-3409-4A45-B3C6-0A414C16BEB2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09D293-2838-BE56-1734-6206F8665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17FD04-2103-E17E-3BF2-B42A03060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96901-DDB8-483A-B8E6-3D886B467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2273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35D93-DE48-EAB8-86F7-52DE0D729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83ED4B-7492-182B-6E33-D50EDBC7C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F7074B-371F-E398-3B98-A014B5244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10F65C-4755-EEFA-3D22-D2DD63782B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58B80D-1A0F-5EAD-CBBB-6C4F9E6860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B4DB18-CB78-D4A6-ECD7-1B35E6BBB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4060D-3409-4A45-B3C6-0A414C16BEB2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C37144-E5F4-599B-D974-C577E554B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A4A03A-D5E1-F8FD-6BBC-17855440E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96901-DDB8-483A-B8E6-3D886B467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8875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83268-C6B3-C79F-F5FE-5EF6BD94E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E8DA13-46E4-607F-0386-B8CEB1B34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4060D-3409-4A45-B3C6-0A414C16BEB2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73A102-0FB8-98CD-30F1-13852D9BB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06841E-AC71-3C4C-BE77-787081EC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96901-DDB8-483A-B8E6-3D886B467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9382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71EF8E-233B-7AF3-9DED-2A3030955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4060D-3409-4A45-B3C6-0A414C16BEB2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04CBD5-5BA1-08E9-CEC7-6C4722D65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CCD59-30CC-AFE1-C561-93CC792CD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96901-DDB8-483A-B8E6-3D886B467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4657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E32B-4F53-AA56-C240-328A05C7E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AE9F3-D9B7-68C1-E828-306F9A9C1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0E55A6-3CED-7637-1E3D-9E238E013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585E26-B056-9882-8FE8-8959642C5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4060D-3409-4A45-B3C6-0A414C16BEB2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F79B27-2664-7E7B-5FC8-35C916FE4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BB0F67-9C07-2E53-B67E-956D8BAD8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96901-DDB8-483A-B8E6-3D886B467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3441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0C9F3-F078-F60E-C1A5-1E7972AB8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23E4C7-7AC0-161F-EE12-34B7930CF7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07405E-947E-0973-7A35-14D45DFB5E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98801-E7C0-3EFC-C83C-7C2B0563A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4060D-3409-4A45-B3C6-0A414C16BEB2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3651EF-F075-A6F6-755A-4FA058577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AE596-4561-1A74-0CA2-8FE6104F4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96901-DDB8-483A-B8E6-3D886B467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5608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8FE6E-14B9-AF98-F8F9-3F9DEA985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E00C7-5A1C-18D3-C887-98142BCA2C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2D252-DF02-A82F-098F-77E804BEE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4060D-3409-4A45-B3C6-0A414C16BEB2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15494-CF23-7188-F506-7FEE8CEA4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76660-0F11-6F87-AB2C-42213148D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96901-DDB8-483A-B8E6-3D886B467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8563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135D95-F23F-36A3-4679-76F3C03C98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10CB1B-8388-146C-CB7C-964543B5B8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AA74D-90EE-400A-646E-9AE412149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4060D-3409-4A45-B3C6-0A414C16BEB2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08074-D127-313F-4338-92B71BE06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C5D7F-A740-D341-39EE-6F1F6C5E3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96901-DDB8-483A-B8E6-3D886B467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0889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6D7CB3-C186-755B-E45A-7CF88B698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6884A-4668-03BB-CAD0-1E30E0D47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BF81A-34F4-0AB4-9B19-4E73C0F1BC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4060D-3409-4A45-B3C6-0A414C16BEB2}" type="datetimeFigureOut">
              <a:rPr lang="en-CA" smtClean="0"/>
              <a:t>2026-03-10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D45EC-E973-785A-C213-35BD1EF206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BE2D8-D2E5-63DD-8173-74E78C325B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E96901-DDB8-483A-B8E6-3D886B4674E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6114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ourses.cs.washington.edu/courses/cse484/14au/assignments/blended.attacks.pdf" TargetMode="External"/><Relationship Id="rId2" Type="http://schemas.openxmlformats.org/officeDocument/2006/relationships/hyperlink" Target="https://inst.eecs.berkeley.edu/~cs161/fa08/papers/stack_smashing.pdf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BEF55-43E3-4350-BE63-9CB115E943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0x406 – </a:t>
            </a:r>
            <a:r>
              <a:rPr lang="en-CA" dirty="0"/>
              <a:t>Buffer Overflows &amp; Lab Instructions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F939F-753C-45A0-BC3A-73D8DCDC6B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/>
              <a:t>ECED4406 – Computer Security</a:t>
            </a:r>
          </a:p>
          <a:p>
            <a:endParaRPr lang="en-US" sz="2400" b="1" dirty="0"/>
          </a:p>
          <a:p>
            <a:r>
              <a:rPr lang="en-US" sz="2400" b="1" dirty="0"/>
              <a:t>Dr. Colin O’Flynn</a:t>
            </a:r>
          </a:p>
          <a:p>
            <a:r>
              <a:rPr lang="en-US" sz="2400" b="1" dirty="0"/>
              <a:t>Dalhousie University.</a:t>
            </a:r>
            <a:endParaRPr lang="en-CA" sz="2400" b="1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36114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E6963-D42A-2E4E-9C3C-F443ECE0B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More Resources on Buffer Overflow Attacks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D531D-6582-E46F-EDD8-C1167DAE9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Original article, “Smashing the Stack for Fun &amp; Profit”:</a:t>
            </a:r>
          </a:p>
          <a:p>
            <a:pPr marL="0" indent="0">
              <a:buNone/>
            </a:pPr>
            <a:r>
              <a:rPr lang="en-CA" dirty="0">
                <a:hlinkClick r:id="rId2"/>
              </a:rPr>
              <a:t>https://inst.eecs.berkeley.edu/~cs161/fa08/papers/stack_smashing.pdf</a:t>
            </a:r>
            <a:r>
              <a:rPr lang="en-CA" dirty="0"/>
              <a:t> 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Blended attack exploits also an early ref:</a:t>
            </a:r>
          </a:p>
          <a:p>
            <a:pPr marL="0" indent="0">
              <a:buNone/>
            </a:pPr>
            <a:r>
              <a:rPr lang="en-CA" dirty="0">
                <a:hlinkClick r:id="rId3"/>
              </a:rPr>
              <a:t>https://courses.cs.washington.edu/courses/cse484/14au/assignments/blended.attacks.pdf</a:t>
            </a:r>
            <a:r>
              <a:rPr lang="en-C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5062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3812A-192A-94BA-54B1-F6213B961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is a Buffer?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3D0AF-CDAC-EB4E-7156-1B8227A77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…you should know this by 4</a:t>
            </a:r>
            <a:r>
              <a:rPr lang="en-CA" baseline="30000" dirty="0"/>
              <a:t>th</a:t>
            </a:r>
            <a:r>
              <a:rPr lang="en-CA" dirty="0"/>
              <a:t> year CE….</a:t>
            </a:r>
          </a:p>
        </p:txBody>
      </p:sp>
    </p:spTree>
    <p:extLst>
      <p:ext uri="{BB962C8B-B14F-4D97-AF65-F5344CB8AC3E}">
        <p14:creationId xmlns:p14="http://schemas.microsoft.com/office/powerpoint/2010/main" val="170119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9AE2D-D5DE-9BED-6279-8801AB52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is a Buffer Overflow?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CFF76-2D78-DA2A-51F8-6F123A0CB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Writing data beyond the expected end point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Typically means you may have:</a:t>
            </a:r>
          </a:p>
          <a:p>
            <a:pPr lvl="1"/>
            <a:r>
              <a:rPr lang="en-CA" dirty="0"/>
              <a:t>Data corruption</a:t>
            </a:r>
          </a:p>
          <a:p>
            <a:pPr lvl="1"/>
            <a:r>
              <a:rPr lang="en-CA" dirty="0"/>
              <a:t>Control flow changes</a:t>
            </a:r>
          </a:p>
          <a:p>
            <a:pPr lvl="1"/>
            <a:r>
              <a:rPr lang="en-CA" dirty="0"/>
              <a:t>Crashes (most likely!)</a:t>
            </a:r>
          </a:p>
        </p:txBody>
      </p:sp>
    </p:spTree>
    <p:extLst>
      <p:ext uri="{BB962C8B-B14F-4D97-AF65-F5344CB8AC3E}">
        <p14:creationId xmlns:p14="http://schemas.microsoft.com/office/powerpoint/2010/main" val="3833432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B937C4-91A9-ABA2-F3E8-9BA4446DC12D}"/>
              </a:ext>
            </a:extLst>
          </p:cNvPr>
          <p:cNvSpPr/>
          <p:nvPr/>
        </p:nvSpPr>
        <p:spPr>
          <a:xfrm>
            <a:off x="4610488" y="3313185"/>
            <a:ext cx="2743200" cy="5741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Function Arguments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84ECFE-9BF7-A03C-17EC-E90AE0FC72E4}"/>
              </a:ext>
            </a:extLst>
          </p:cNvPr>
          <p:cNvSpPr/>
          <p:nvPr/>
        </p:nvSpPr>
        <p:spPr>
          <a:xfrm>
            <a:off x="4610488" y="3970089"/>
            <a:ext cx="2743200" cy="5741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Saved Return Address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825A43-8FD1-BA0F-5F60-5D690406EE91}"/>
              </a:ext>
            </a:extLst>
          </p:cNvPr>
          <p:cNvSpPr/>
          <p:nvPr/>
        </p:nvSpPr>
        <p:spPr>
          <a:xfrm>
            <a:off x="4610488" y="4638029"/>
            <a:ext cx="2743200" cy="5741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Saved Frame Pointer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A1865D-CACD-2F7B-664D-DAA2B758F1E0}"/>
              </a:ext>
            </a:extLst>
          </p:cNvPr>
          <p:cNvSpPr/>
          <p:nvPr/>
        </p:nvSpPr>
        <p:spPr>
          <a:xfrm>
            <a:off x="4610488" y="5305969"/>
            <a:ext cx="2743200" cy="9262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Local Variables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3B7A9E-FAF0-C671-7A90-4D365E47C37B}"/>
              </a:ext>
            </a:extLst>
          </p:cNvPr>
          <p:cNvSpPr/>
          <p:nvPr/>
        </p:nvSpPr>
        <p:spPr>
          <a:xfrm>
            <a:off x="4610488" y="300358"/>
            <a:ext cx="2743200" cy="57415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Function Arguments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C8005C-C7EE-DD31-0E2E-656C82DED2F9}"/>
              </a:ext>
            </a:extLst>
          </p:cNvPr>
          <p:cNvSpPr/>
          <p:nvPr/>
        </p:nvSpPr>
        <p:spPr>
          <a:xfrm>
            <a:off x="4610488" y="957262"/>
            <a:ext cx="2743200" cy="57415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Saved Return Address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E5007F-FFE3-5767-8A1F-A41CAAFE55C4}"/>
              </a:ext>
            </a:extLst>
          </p:cNvPr>
          <p:cNvSpPr/>
          <p:nvPr/>
        </p:nvSpPr>
        <p:spPr>
          <a:xfrm>
            <a:off x="4610488" y="1625202"/>
            <a:ext cx="2743200" cy="57415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Saved Frame Pointer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B9A9AD-17F8-3AE9-D222-BFEE5BA2D9B8}"/>
              </a:ext>
            </a:extLst>
          </p:cNvPr>
          <p:cNvSpPr/>
          <p:nvPr/>
        </p:nvSpPr>
        <p:spPr>
          <a:xfrm>
            <a:off x="4610488" y="2293142"/>
            <a:ext cx="2743200" cy="92626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Local Variables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B42162A-DDA9-314F-CFA2-3BCA835C8B96}"/>
              </a:ext>
            </a:extLst>
          </p:cNvPr>
          <p:cNvCxnSpPr/>
          <p:nvPr/>
        </p:nvCxnSpPr>
        <p:spPr>
          <a:xfrm>
            <a:off x="4131868" y="487923"/>
            <a:ext cx="0" cy="5650523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6F7A0E0-131C-507B-673B-49869569FB10}"/>
              </a:ext>
            </a:extLst>
          </p:cNvPr>
          <p:cNvSpPr txBox="1"/>
          <p:nvPr/>
        </p:nvSpPr>
        <p:spPr>
          <a:xfrm>
            <a:off x="1696370" y="4936637"/>
            <a:ext cx="2586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Stack Growth Direction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6BAF508-625A-93CF-E308-CA43FE33C0C7}"/>
              </a:ext>
            </a:extLst>
          </p:cNvPr>
          <p:cNvCxnSpPr>
            <a:cxnSpLocks/>
          </p:cNvCxnSpPr>
          <p:nvPr/>
        </p:nvCxnSpPr>
        <p:spPr>
          <a:xfrm flipH="1">
            <a:off x="7624204" y="6232230"/>
            <a:ext cx="1545021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613F79B-7715-E6F6-D567-CEF72A56C4CA}"/>
              </a:ext>
            </a:extLst>
          </p:cNvPr>
          <p:cNvSpPr txBox="1"/>
          <p:nvPr/>
        </p:nvSpPr>
        <p:spPr>
          <a:xfrm>
            <a:off x="9207862" y="6047564"/>
            <a:ext cx="2586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Stack Pointer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CCED21-4D62-5599-B646-C81991B56954}"/>
              </a:ext>
            </a:extLst>
          </p:cNvPr>
          <p:cNvSpPr txBox="1"/>
          <p:nvPr/>
        </p:nvSpPr>
        <p:spPr>
          <a:xfrm>
            <a:off x="1326657" y="118591"/>
            <a:ext cx="2805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Higher Address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2D6922-0493-F159-678D-C66193950935}"/>
              </a:ext>
            </a:extLst>
          </p:cNvPr>
          <p:cNvSpPr txBox="1"/>
          <p:nvPr/>
        </p:nvSpPr>
        <p:spPr>
          <a:xfrm>
            <a:off x="1268599" y="6232230"/>
            <a:ext cx="1663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Lower Address</a:t>
            </a:r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FC6ED79E-476A-0FA5-D4A5-1595C4732141}"/>
              </a:ext>
            </a:extLst>
          </p:cNvPr>
          <p:cNvSpPr/>
          <p:nvPr/>
        </p:nvSpPr>
        <p:spPr>
          <a:xfrm>
            <a:off x="7750328" y="384679"/>
            <a:ext cx="630613" cy="2834724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50BCDD-9376-B107-C23D-E07DF1EFBA50}"/>
              </a:ext>
            </a:extLst>
          </p:cNvPr>
          <p:cNvSpPr txBox="1"/>
          <p:nvPr/>
        </p:nvSpPr>
        <p:spPr>
          <a:xfrm>
            <a:off x="8477393" y="1625202"/>
            <a:ext cx="2586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Stack Frame</a:t>
            </a:r>
          </a:p>
        </p:txBody>
      </p:sp>
    </p:spTree>
    <p:extLst>
      <p:ext uri="{BB962C8B-B14F-4D97-AF65-F5344CB8AC3E}">
        <p14:creationId xmlns:p14="http://schemas.microsoft.com/office/powerpoint/2010/main" val="3878957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3DB0A-ACBA-6A3C-C709-97987CBAA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Function Setup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EB9188-6D47-71EF-56A3-73FDDB4DD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378" y="3045328"/>
            <a:ext cx="6328275" cy="97255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1A4BF89-C269-B3CC-EE0D-084D2994CC11}"/>
              </a:ext>
            </a:extLst>
          </p:cNvPr>
          <p:cNvSpPr/>
          <p:nvPr/>
        </p:nvSpPr>
        <p:spPr>
          <a:xfrm>
            <a:off x="1360967" y="2300544"/>
            <a:ext cx="2743200" cy="5741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Function Arguments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17B169-117A-62C2-FA02-3A1DC4911BE6}"/>
              </a:ext>
            </a:extLst>
          </p:cNvPr>
          <p:cNvSpPr/>
          <p:nvPr/>
        </p:nvSpPr>
        <p:spPr>
          <a:xfrm>
            <a:off x="1360967" y="2957448"/>
            <a:ext cx="2743200" cy="5741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Saved Return Address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E7FC6A-FB5D-E719-7B0C-9B97DDA56D4B}"/>
              </a:ext>
            </a:extLst>
          </p:cNvPr>
          <p:cNvSpPr/>
          <p:nvPr/>
        </p:nvSpPr>
        <p:spPr>
          <a:xfrm>
            <a:off x="1360967" y="3625388"/>
            <a:ext cx="2743200" cy="5741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Saved Frame Pointer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04D9D7-15A2-EE4D-DA60-D93EA95BAF99}"/>
              </a:ext>
            </a:extLst>
          </p:cNvPr>
          <p:cNvSpPr/>
          <p:nvPr/>
        </p:nvSpPr>
        <p:spPr>
          <a:xfrm>
            <a:off x="1360967" y="4293328"/>
            <a:ext cx="2743200" cy="9262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Local Variables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BAA2DE6-D882-019C-888D-FAD12E84A6B3}"/>
              </a:ext>
            </a:extLst>
          </p:cNvPr>
          <p:cNvCxnSpPr>
            <a:cxnSpLocks/>
          </p:cNvCxnSpPr>
          <p:nvPr/>
        </p:nvCxnSpPr>
        <p:spPr>
          <a:xfrm>
            <a:off x="882347" y="2300544"/>
            <a:ext cx="0" cy="2825261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A235360-5F3B-B12C-87DE-2A81B03D9EE1}"/>
              </a:ext>
            </a:extLst>
          </p:cNvPr>
          <p:cNvCxnSpPr>
            <a:cxnSpLocks/>
          </p:cNvCxnSpPr>
          <p:nvPr/>
        </p:nvCxnSpPr>
        <p:spPr>
          <a:xfrm flipH="1">
            <a:off x="4374683" y="5219589"/>
            <a:ext cx="1545021" cy="0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CCB2191-BEFF-EC50-CD17-4A79742F3E2F}"/>
              </a:ext>
            </a:extLst>
          </p:cNvPr>
          <p:cNvSpPr txBox="1"/>
          <p:nvPr/>
        </p:nvSpPr>
        <p:spPr>
          <a:xfrm>
            <a:off x="6030506" y="5034923"/>
            <a:ext cx="3355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Stack Pointer</a:t>
            </a:r>
          </a:p>
        </p:txBody>
      </p:sp>
    </p:spTree>
    <p:extLst>
      <p:ext uri="{BB962C8B-B14F-4D97-AF65-F5344CB8AC3E}">
        <p14:creationId xmlns:p14="http://schemas.microsoft.com/office/powerpoint/2010/main" val="3752248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F6213-F9AD-7816-4275-3F60E3DC8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ARM Important Registers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7DE5A2-4ABD-1ECB-9473-2968B0688E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0309" y="1523733"/>
            <a:ext cx="5366061" cy="480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359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55D88-877F-0169-1E8C-0235BCB35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AA6F0-2EE0-9221-A5DD-CCF01293A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e.g., when returning from function</a:t>
            </a:r>
            <a:br>
              <a:rPr lang="en-CA" dirty="0"/>
            </a:br>
            <a:r>
              <a:rPr lang="en-CA" i="1" dirty="0"/>
              <a:t>Using “bx </a:t>
            </a:r>
            <a:r>
              <a:rPr lang="en-CA" i="1" dirty="0" err="1"/>
              <a:t>lr</a:t>
            </a:r>
            <a:r>
              <a:rPr lang="en-CA" i="1" dirty="0"/>
              <a:t>” instruction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A90EF025-45F5-45EC-178E-6679E065DA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191" y="1821145"/>
            <a:ext cx="4079032" cy="36501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042592-B241-88F3-544F-783C8DA55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44" y="5623066"/>
            <a:ext cx="4286848" cy="2572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A4CAF2-8D66-8896-E72C-C2D701990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349" y="1815135"/>
            <a:ext cx="4908524" cy="36501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DA016B-A766-9F14-28EB-39C23DCEE8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9349" y="5589724"/>
            <a:ext cx="6296904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159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B41E1-3DF5-D17B-DE78-56CE4142E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1D6CA-A37A-6484-BC45-EA8749FCE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e.g., when returning from function</a:t>
            </a:r>
            <a:br>
              <a:rPr lang="en-CA" dirty="0"/>
            </a:br>
            <a:r>
              <a:rPr lang="en-CA" i="1" dirty="0"/>
              <a:t>Using “pop” instruction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8EA16D-6DE8-212C-25BB-A543070AF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08" y="5997506"/>
            <a:ext cx="4124901" cy="4953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3EE15C5-9ABD-8206-2361-9782A6D27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308" y="1807983"/>
            <a:ext cx="5172751" cy="40139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499EEB3-00EE-F5FB-7E01-6D457EF080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2821" y="3532172"/>
            <a:ext cx="6601746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25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B86E94-AC9A-8005-66FF-4A615C29B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354" y="2111212"/>
            <a:ext cx="5534797" cy="38295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BBE101-3015-CF25-7093-5D81E1FA9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2821" y="3532172"/>
            <a:ext cx="6601746" cy="85737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04C91E6-4BD0-31F3-A197-7808932513B9}"/>
              </a:ext>
            </a:extLst>
          </p:cNvPr>
          <p:cNvSpPr/>
          <p:nvPr/>
        </p:nvSpPr>
        <p:spPr>
          <a:xfrm>
            <a:off x="6096000" y="3532172"/>
            <a:ext cx="909362" cy="1783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8B5B9B-2C6F-0526-336B-9C0517B17E45}"/>
              </a:ext>
            </a:extLst>
          </p:cNvPr>
          <p:cNvSpPr/>
          <p:nvPr/>
        </p:nvSpPr>
        <p:spPr>
          <a:xfrm>
            <a:off x="7040497" y="3532171"/>
            <a:ext cx="909362" cy="1783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594D86-B910-CA95-A2D3-7BC83C87CD39}"/>
              </a:ext>
            </a:extLst>
          </p:cNvPr>
          <p:cNvSpPr/>
          <p:nvPr/>
        </p:nvSpPr>
        <p:spPr>
          <a:xfrm>
            <a:off x="8026921" y="3532170"/>
            <a:ext cx="909362" cy="1783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EB7135-BE9A-F4BD-46B2-44BC8A8E9F83}"/>
              </a:ext>
            </a:extLst>
          </p:cNvPr>
          <p:cNvSpPr/>
          <p:nvPr/>
        </p:nvSpPr>
        <p:spPr>
          <a:xfrm>
            <a:off x="8968022" y="3532170"/>
            <a:ext cx="909362" cy="1783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8F62C5A-0887-EBBB-51E2-E6B9CE3B918C}"/>
              </a:ext>
            </a:extLst>
          </p:cNvPr>
          <p:cNvCxnSpPr/>
          <p:nvPr/>
        </p:nvCxnSpPr>
        <p:spPr>
          <a:xfrm flipH="1">
            <a:off x="2686444" y="3710497"/>
            <a:ext cx="6281578" cy="19713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3D83A70-C1B7-B5EF-E56E-C1B906DF6CC3}"/>
              </a:ext>
            </a:extLst>
          </p:cNvPr>
          <p:cNvCxnSpPr>
            <a:cxnSpLocks/>
          </p:cNvCxnSpPr>
          <p:nvPr/>
        </p:nvCxnSpPr>
        <p:spPr>
          <a:xfrm flipH="1">
            <a:off x="2774731" y="3532169"/>
            <a:ext cx="3321269" cy="1783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700F508-1E64-65B1-FF68-F8CDCBCE48CD}"/>
              </a:ext>
            </a:extLst>
          </p:cNvPr>
          <p:cNvCxnSpPr>
            <a:cxnSpLocks/>
          </p:cNvCxnSpPr>
          <p:nvPr/>
        </p:nvCxnSpPr>
        <p:spPr>
          <a:xfrm flipH="1">
            <a:off x="2790600" y="3621332"/>
            <a:ext cx="4246501" cy="2674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965DC62-3293-901A-1C04-40F113755CFF}"/>
              </a:ext>
            </a:extLst>
          </p:cNvPr>
          <p:cNvCxnSpPr>
            <a:cxnSpLocks/>
          </p:cNvCxnSpPr>
          <p:nvPr/>
        </p:nvCxnSpPr>
        <p:spPr>
          <a:xfrm flipH="1">
            <a:off x="2790600" y="3621331"/>
            <a:ext cx="5236321" cy="4626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8463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F5CD2-9283-8E46-0A60-1E10E6DE1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Code Flow Execution Attacks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6BF65-B55E-8DC3-0507-A8A339884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If we could control the return value – could we not jump </a:t>
            </a:r>
            <a:r>
              <a:rPr lang="en-CA" u="sng" dirty="0"/>
              <a:t>anywhere</a:t>
            </a:r>
            <a:r>
              <a:rPr lang="en-CA" dirty="0"/>
              <a:t>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6B8AAE-8E56-4530-A71E-9010072A6CDC}"/>
              </a:ext>
            </a:extLst>
          </p:cNvPr>
          <p:cNvSpPr/>
          <p:nvPr/>
        </p:nvSpPr>
        <p:spPr>
          <a:xfrm>
            <a:off x="3726316" y="4764133"/>
            <a:ext cx="2743200" cy="5741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Function Arguments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6DA02E-EAA0-2F7B-3E23-19326F6AA9C0}"/>
              </a:ext>
            </a:extLst>
          </p:cNvPr>
          <p:cNvSpPr/>
          <p:nvPr/>
        </p:nvSpPr>
        <p:spPr>
          <a:xfrm>
            <a:off x="3726316" y="5421037"/>
            <a:ext cx="2743200" cy="5741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Saved Return Address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054566-595D-4D58-CDF0-F4B938283B26}"/>
              </a:ext>
            </a:extLst>
          </p:cNvPr>
          <p:cNvSpPr/>
          <p:nvPr/>
        </p:nvSpPr>
        <p:spPr>
          <a:xfrm>
            <a:off x="3726316" y="6088977"/>
            <a:ext cx="2743200" cy="5741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Saved Frame Pointer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0EB35A-EA63-2027-537C-95E1C9C488DA}"/>
              </a:ext>
            </a:extLst>
          </p:cNvPr>
          <p:cNvSpPr/>
          <p:nvPr/>
        </p:nvSpPr>
        <p:spPr>
          <a:xfrm>
            <a:off x="3726316" y="2408210"/>
            <a:ext cx="2743200" cy="57415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Saved Return Address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7A21CC-051C-4294-D726-C6E1F61CD6AD}"/>
              </a:ext>
            </a:extLst>
          </p:cNvPr>
          <p:cNvSpPr/>
          <p:nvPr/>
        </p:nvSpPr>
        <p:spPr>
          <a:xfrm>
            <a:off x="3726316" y="3076150"/>
            <a:ext cx="2743200" cy="574158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Saved Frame Pointer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A58815-596E-B4EC-B3ED-EFD3D99A1E58}"/>
              </a:ext>
            </a:extLst>
          </p:cNvPr>
          <p:cNvSpPr/>
          <p:nvPr/>
        </p:nvSpPr>
        <p:spPr>
          <a:xfrm>
            <a:off x="3726316" y="3744090"/>
            <a:ext cx="2743200" cy="92626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Local Variables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443F088E-2D83-7C6A-8D82-9BCA0E7D1D9F}"/>
              </a:ext>
            </a:extLst>
          </p:cNvPr>
          <p:cNvCxnSpPr>
            <a:cxnSpLocks/>
            <a:stCxn id="5" idx="3"/>
            <a:endCxn id="11" idx="3"/>
          </p:cNvCxnSpPr>
          <p:nvPr/>
        </p:nvCxnSpPr>
        <p:spPr>
          <a:xfrm flipV="1">
            <a:off x="6469516" y="4207221"/>
            <a:ext cx="12700" cy="1500895"/>
          </a:xfrm>
          <a:prstGeom prst="bentConnector3">
            <a:avLst>
              <a:gd name="adj1" fmla="val 8492307"/>
            </a:avLst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B49C4CA-B98F-8C09-0E7B-3401E32094F7}"/>
              </a:ext>
            </a:extLst>
          </p:cNvPr>
          <p:cNvSpPr txBox="1"/>
          <p:nvPr/>
        </p:nvSpPr>
        <p:spPr>
          <a:xfrm>
            <a:off x="6999890" y="3188643"/>
            <a:ext cx="43006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Example: Jump to somewhere in the previous function stack (maybe a buffer we wrote code to?)</a:t>
            </a:r>
          </a:p>
        </p:txBody>
      </p:sp>
    </p:spTree>
    <p:extLst>
      <p:ext uri="{BB962C8B-B14F-4D97-AF65-F5344CB8AC3E}">
        <p14:creationId xmlns:p14="http://schemas.microsoft.com/office/powerpoint/2010/main" val="1589808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2D818-520B-5511-4308-55D8394E5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Shellcode In Buffer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351AC-E722-96FD-EB43-8CCCAFB54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Requires us to write </a:t>
            </a:r>
            <a:r>
              <a:rPr lang="en-CA" i="1" dirty="0"/>
              <a:t>shellcode</a:t>
            </a:r>
            <a:r>
              <a:rPr lang="en-CA" dirty="0"/>
              <a:t> into a buffer</a:t>
            </a:r>
          </a:p>
          <a:p>
            <a:r>
              <a:rPr lang="en-CA" dirty="0"/>
              <a:t>Requires that we:</a:t>
            </a:r>
          </a:p>
          <a:p>
            <a:pPr marL="514350" indent="-514350">
              <a:buAutoNum type="alphaLcParenR"/>
            </a:pPr>
            <a:r>
              <a:rPr lang="en-CA" dirty="0"/>
              <a:t>Know the location of the buffer.</a:t>
            </a:r>
          </a:p>
          <a:p>
            <a:pPr marL="514350" indent="-514350">
              <a:buAutoNum type="alphaLcParenR"/>
            </a:pPr>
            <a:r>
              <a:rPr lang="en-CA" dirty="0"/>
              <a:t>Know something about the stack layout.</a:t>
            </a:r>
          </a:p>
          <a:p>
            <a:pPr marL="514350" indent="-514350">
              <a:buAutoNum type="alphaLcParenR"/>
            </a:pPr>
            <a:r>
              <a:rPr lang="en-CA" dirty="0"/>
              <a:t>Can write &amp; execute code from the buffer.</a:t>
            </a:r>
          </a:p>
        </p:txBody>
      </p:sp>
    </p:spTree>
    <p:extLst>
      <p:ext uri="{BB962C8B-B14F-4D97-AF65-F5344CB8AC3E}">
        <p14:creationId xmlns:p14="http://schemas.microsoft.com/office/powerpoint/2010/main" val="3084707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6FFAA-11A2-57CB-6A17-3056631A5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Return Oriented Programming (ROP)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1C16B-967D-133F-192E-7F8663A83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We could also string together </a:t>
            </a:r>
            <a:r>
              <a:rPr lang="en-CA" i="1" dirty="0"/>
              <a:t>existing</a:t>
            </a:r>
            <a:r>
              <a:rPr lang="en-CA" dirty="0"/>
              <a:t> functions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9FE50A-71A8-5C0D-61ED-974C0ED203FD}"/>
              </a:ext>
            </a:extLst>
          </p:cNvPr>
          <p:cNvSpPr/>
          <p:nvPr/>
        </p:nvSpPr>
        <p:spPr>
          <a:xfrm>
            <a:off x="2963057" y="4412898"/>
            <a:ext cx="2743200" cy="574158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Function Arguments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59241C-A3F8-54BB-12CC-7D37C6E068B6}"/>
              </a:ext>
            </a:extLst>
          </p:cNvPr>
          <p:cNvSpPr/>
          <p:nvPr/>
        </p:nvSpPr>
        <p:spPr>
          <a:xfrm>
            <a:off x="2963057" y="5069802"/>
            <a:ext cx="2743200" cy="574158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Saved Return Address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CB1355-D9D9-0DB5-957F-C65D75CCB96A}"/>
              </a:ext>
            </a:extLst>
          </p:cNvPr>
          <p:cNvSpPr/>
          <p:nvPr/>
        </p:nvSpPr>
        <p:spPr>
          <a:xfrm>
            <a:off x="2963057" y="5737742"/>
            <a:ext cx="2743200" cy="574158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Saved Frame Pointer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39DCE9-A7B9-8BAE-B584-1BFBA26FBD8E}"/>
              </a:ext>
            </a:extLst>
          </p:cNvPr>
          <p:cNvSpPr/>
          <p:nvPr/>
        </p:nvSpPr>
        <p:spPr>
          <a:xfrm>
            <a:off x="2963057" y="2420114"/>
            <a:ext cx="2743200" cy="5741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Function Arguments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BAD8CF-CEEA-DDF7-793C-700265BBFAB5}"/>
              </a:ext>
            </a:extLst>
          </p:cNvPr>
          <p:cNvSpPr/>
          <p:nvPr/>
        </p:nvSpPr>
        <p:spPr>
          <a:xfrm>
            <a:off x="2963057" y="3077018"/>
            <a:ext cx="2743200" cy="5741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Saved Return Address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9AE3FC-3520-2A1B-7116-BFBF55D51AFB}"/>
              </a:ext>
            </a:extLst>
          </p:cNvPr>
          <p:cNvSpPr/>
          <p:nvPr/>
        </p:nvSpPr>
        <p:spPr>
          <a:xfrm>
            <a:off x="2963057" y="3744958"/>
            <a:ext cx="2743200" cy="574158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Saved Frame Pointer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1A16B8EF-F1C9-FED7-77AC-A1A45C31ECF9}"/>
              </a:ext>
            </a:extLst>
          </p:cNvPr>
          <p:cNvSpPr/>
          <p:nvPr/>
        </p:nvSpPr>
        <p:spPr>
          <a:xfrm>
            <a:off x="5974428" y="2420114"/>
            <a:ext cx="630613" cy="389178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DB3C59-1DF0-619B-F606-D58AA30B07BC}"/>
              </a:ext>
            </a:extLst>
          </p:cNvPr>
          <p:cNvSpPr txBox="1"/>
          <p:nvPr/>
        </p:nvSpPr>
        <p:spPr>
          <a:xfrm>
            <a:off x="6684579" y="4001294"/>
            <a:ext cx="43006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Malicious Stack Frames (maybe hundreds or thousands!)</a:t>
            </a:r>
          </a:p>
          <a:p>
            <a:endParaRPr lang="en-CA" dirty="0"/>
          </a:p>
          <a:p>
            <a:r>
              <a:rPr lang="en-CA" dirty="0"/>
              <a:t>We write a code out of small existing functions we know the address of.</a:t>
            </a:r>
          </a:p>
        </p:txBody>
      </p:sp>
    </p:spTree>
    <p:extLst>
      <p:ext uri="{BB962C8B-B14F-4D97-AF65-F5344CB8AC3E}">
        <p14:creationId xmlns:p14="http://schemas.microsoft.com/office/powerpoint/2010/main" val="40077916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60423-3B29-6589-8312-CB5A50357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ROP vs. Shellcode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334AA-3029-381F-7183-5E2039708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With ROP we are executing from </a:t>
            </a:r>
            <a:r>
              <a:rPr lang="en-CA" u="sng" dirty="0"/>
              <a:t>valid addresses</a:t>
            </a:r>
          </a:p>
          <a:p>
            <a:r>
              <a:rPr lang="en-CA" dirty="0"/>
              <a:t>Works even if memory is not executable</a:t>
            </a:r>
          </a:p>
        </p:txBody>
      </p:sp>
    </p:spTree>
    <p:extLst>
      <p:ext uri="{BB962C8B-B14F-4D97-AF65-F5344CB8AC3E}">
        <p14:creationId xmlns:p14="http://schemas.microsoft.com/office/powerpoint/2010/main" val="1322596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8EA29-0B1E-A292-1236-FAD045E96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Protection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9073B-F213-B366-F452-F691A4BA2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GCC Stack Protector (You will explore in Assignment 2)</a:t>
            </a:r>
          </a:p>
          <a:p>
            <a:endParaRPr lang="en-CA" dirty="0"/>
          </a:p>
          <a:p>
            <a:r>
              <a:rPr lang="en-CA" dirty="0"/>
              <a:t>Write a </a:t>
            </a:r>
            <a:r>
              <a:rPr lang="en-CA" u="sng" dirty="0"/>
              <a:t>known value</a:t>
            </a:r>
            <a:r>
              <a:rPr lang="en-CA" i="1" dirty="0"/>
              <a:t> </a:t>
            </a:r>
            <a:r>
              <a:rPr lang="en-CA" dirty="0"/>
              <a:t>to the stack</a:t>
            </a:r>
          </a:p>
          <a:p>
            <a:r>
              <a:rPr lang="en-CA" dirty="0"/>
              <a:t>Check this value is the same </a:t>
            </a:r>
            <a:r>
              <a:rPr lang="en-CA" u="sng" dirty="0"/>
              <a:t>before</a:t>
            </a:r>
            <a:r>
              <a:rPr lang="en-CA" dirty="0"/>
              <a:t> returning from the function</a:t>
            </a:r>
          </a:p>
        </p:txBody>
      </p:sp>
    </p:spTree>
    <p:extLst>
      <p:ext uri="{BB962C8B-B14F-4D97-AF65-F5344CB8AC3E}">
        <p14:creationId xmlns:p14="http://schemas.microsoft.com/office/powerpoint/2010/main" val="691423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26757-050D-101A-A0F3-B92BEF27B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Protection Methods: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CE7D3-5924-FB36-D3AF-9D1EC5045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Memory-Safe Languages, e.g.:</a:t>
            </a:r>
          </a:p>
          <a:p>
            <a:pPr lvl="1"/>
            <a:r>
              <a:rPr lang="en-CA" dirty="0"/>
              <a:t>Rust</a:t>
            </a:r>
          </a:p>
          <a:p>
            <a:pPr lvl="1"/>
            <a:r>
              <a:rPr lang="en-CA" dirty="0"/>
              <a:t>Python</a:t>
            </a:r>
          </a:p>
          <a:p>
            <a:pPr lvl="1"/>
            <a:r>
              <a:rPr lang="en-CA" dirty="0"/>
              <a:t>..many more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06E5FA-C457-CF02-8832-F08A87B461D8}"/>
              </a:ext>
            </a:extLst>
          </p:cNvPr>
          <p:cNvSpPr/>
          <p:nvPr/>
        </p:nvSpPr>
        <p:spPr>
          <a:xfrm>
            <a:off x="2115967" y="4390631"/>
            <a:ext cx="4058122" cy="7254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Buffer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8DC545-E28D-9C20-7540-0B7B0A58CC4B}"/>
              </a:ext>
            </a:extLst>
          </p:cNvPr>
          <p:cNvSpPr/>
          <p:nvPr/>
        </p:nvSpPr>
        <p:spPr>
          <a:xfrm>
            <a:off x="6174089" y="4390630"/>
            <a:ext cx="2465414" cy="7254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Buffer Metadata</a:t>
            </a:r>
          </a:p>
        </p:txBody>
      </p:sp>
    </p:spTree>
    <p:extLst>
      <p:ext uri="{BB962C8B-B14F-4D97-AF65-F5344CB8AC3E}">
        <p14:creationId xmlns:p14="http://schemas.microsoft.com/office/powerpoint/2010/main" val="2692576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DF77B-EA1F-16EB-69AB-DE3EFF3E6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8593F-9EDD-78BF-170E-402493739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Protection Methods: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B729B-C0B8-8EC3-96A6-25EAE8CC3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Non-Executable Code Sections</a:t>
            </a:r>
          </a:p>
          <a:p>
            <a:pPr lvl="1"/>
            <a:endParaRPr lang="en-C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ADEEEA-FB89-8469-45A2-40E108CD2C35}"/>
              </a:ext>
            </a:extLst>
          </p:cNvPr>
          <p:cNvSpPr/>
          <p:nvPr/>
        </p:nvSpPr>
        <p:spPr>
          <a:xfrm>
            <a:off x="2115967" y="4390631"/>
            <a:ext cx="4058122" cy="7254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Buffer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4C15E7-85D4-CC44-99C9-F13D41163A48}"/>
              </a:ext>
            </a:extLst>
          </p:cNvPr>
          <p:cNvSpPr/>
          <p:nvPr/>
        </p:nvSpPr>
        <p:spPr>
          <a:xfrm>
            <a:off x="6174089" y="4390630"/>
            <a:ext cx="4058122" cy="7254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 Data</a:t>
            </a:r>
          </a:p>
        </p:txBody>
      </p:sp>
    </p:spTree>
    <p:extLst>
      <p:ext uri="{BB962C8B-B14F-4D97-AF65-F5344CB8AC3E}">
        <p14:creationId xmlns:p14="http://schemas.microsoft.com/office/powerpoint/2010/main" val="4416884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00791-9D4A-CC7F-46DA-FDA873426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Slightly Insane Protective Methods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7A8D54AA-301C-FFC7-4F87-0B3AA080E21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859" y="1790641"/>
            <a:ext cx="58017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5C9D75-885A-6094-3335-4F90941B7F16}"/>
              </a:ext>
            </a:extLst>
          </p:cNvPr>
          <p:cNvSpPr txBox="1"/>
          <p:nvPr/>
        </p:nvSpPr>
        <p:spPr>
          <a:xfrm>
            <a:off x="2940165" y="6241933"/>
            <a:ext cx="60947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https://en.wikipedia.org/wiki/Intel_iAPX_432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D6BBCC-0118-D39E-DDE7-72875F007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242" y="2806263"/>
            <a:ext cx="5261414" cy="20669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22B791-12D2-6C36-41B7-D63FF29BB438}"/>
              </a:ext>
            </a:extLst>
          </p:cNvPr>
          <p:cNvSpPr txBox="1"/>
          <p:nvPr/>
        </p:nvSpPr>
        <p:spPr>
          <a:xfrm>
            <a:off x="1603354" y="6492875"/>
            <a:ext cx="81334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https://homes.cs.washington.edu/~levy/capabook/Chapter9.pdf</a:t>
            </a:r>
          </a:p>
        </p:txBody>
      </p:sp>
    </p:spTree>
    <p:extLst>
      <p:ext uri="{BB962C8B-B14F-4D97-AF65-F5344CB8AC3E}">
        <p14:creationId xmlns:p14="http://schemas.microsoft.com/office/powerpoint/2010/main" val="24817151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377CA-6C6F-E15A-7BF5-4A6F0BDB2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Ozone Introduction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A62A27-8B8C-1173-D8AA-A876A93412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7235" y="2788542"/>
            <a:ext cx="5876153" cy="2466464"/>
          </a:xfrm>
          <a:prstGeom prst="rect">
            <a:avLst/>
          </a:prstGeom>
        </p:spPr>
      </p:pic>
      <p:pic>
        <p:nvPicPr>
          <p:cNvPr id="1026" name="Picture 2" descr="Cartoon illustration of, from left to right, Radu Sîrbu, Arsenie Todiraş, and Dan Bălan, with a flying airplane in the background. Radu is shown in gray with sunglasses, Arsenie is shown in blue with sunglasses, and Dan is shown in a yellow t-shirt. The caption on the bottom reads &quot;O-Zone&quot; while the caption on the top-right reads &quot;DiscO-Zone.&quot;">
            <a:extLst>
              <a:ext uri="{FF2B5EF4-FFF2-40B4-BE49-F238E27FC236}">
                <a16:creationId xmlns:a16="http://schemas.microsoft.com/office/drawing/2014/main" id="{F78F23DC-1946-2EA8-5196-E4CB73FBA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0019" y="2655687"/>
            <a:ext cx="2390488" cy="2382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C0BFEB-7110-6EE5-D170-C9B2DE15E417}"/>
              </a:ext>
            </a:extLst>
          </p:cNvPr>
          <p:cNvSpPr txBox="1"/>
          <p:nvPr/>
        </p:nvSpPr>
        <p:spPr>
          <a:xfrm>
            <a:off x="6096000" y="1360264"/>
            <a:ext cx="4279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This Ozone when googling it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D299F62-6F30-DFB3-93C6-20386647ECEF}"/>
              </a:ext>
            </a:extLst>
          </p:cNvPr>
          <p:cNvCxnSpPr>
            <a:stCxn id="6" idx="1"/>
          </p:cNvCxnSpPr>
          <p:nvPr/>
        </p:nvCxnSpPr>
        <p:spPr>
          <a:xfrm flipH="1">
            <a:off x="3831412" y="1544930"/>
            <a:ext cx="2264588" cy="11107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8102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831AE-E1D8-2140-D96A-F534ED11D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STM32 </a:t>
            </a:r>
            <a:r>
              <a:rPr lang="en-CA" dirty="0" err="1"/>
              <a:t>Nucleo</a:t>
            </a:r>
            <a:r>
              <a:rPr lang="en-CA" dirty="0"/>
              <a:t> Board in “J-Link Mode”</a:t>
            </a:r>
          </a:p>
        </p:txBody>
      </p:sp>
      <p:pic>
        <p:nvPicPr>
          <p:cNvPr id="2050" name="Picture 2" descr="NUCLEO-F303RE">
            <a:extLst>
              <a:ext uri="{FF2B5EF4-FFF2-40B4-BE49-F238E27FC236}">
                <a16:creationId xmlns:a16="http://schemas.microsoft.com/office/drawing/2014/main" id="{63B1E74C-38EB-2110-3643-B1D6DB87C9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1338" y="1425103"/>
            <a:ext cx="5223669" cy="5223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420E83-E00C-98CD-2B03-59B25BA61D96}"/>
              </a:ext>
            </a:extLst>
          </p:cNvPr>
          <p:cNvSpPr txBox="1"/>
          <p:nvPr/>
        </p:nvSpPr>
        <p:spPr>
          <a:xfrm>
            <a:off x="1070580" y="1836356"/>
            <a:ext cx="4279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Debugger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2511A7-155B-175A-66F1-F1E835833B4F}"/>
              </a:ext>
            </a:extLst>
          </p:cNvPr>
          <p:cNvSpPr txBox="1"/>
          <p:nvPr/>
        </p:nvSpPr>
        <p:spPr>
          <a:xfrm>
            <a:off x="8167886" y="1836356"/>
            <a:ext cx="4279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Target</a:t>
            </a:r>
          </a:p>
        </p:txBody>
      </p:sp>
    </p:spTree>
    <p:extLst>
      <p:ext uri="{BB962C8B-B14F-4D97-AF65-F5344CB8AC3E}">
        <p14:creationId xmlns:p14="http://schemas.microsoft.com/office/powerpoint/2010/main" val="7306318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8A085-EC41-4B3C-21C1-C59B742D9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Ozone with Debug Symbols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0DE11B-2348-1FB8-74AB-C160F0824C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1642" y="1313786"/>
            <a:ext cx="8463529" cy="5472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57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A1D87-8C31-25C8-6B8D-AF0F6A679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you will see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C16565-D0EC-0609-559F-A13E780F7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988" y="1328158"/>
            <a:ext cx="8327870" cy="5424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8456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8AD88-92C8-2427-9696-9CAC3C43E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Brief Intro to Ozone: Stepping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0235CE-811A-0549-56C1-9F0DD03FA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406" y="1968069"/>
            <a:ext cx="1895740" cy="35247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DC93662-276E-A7F3-AF32-E725F5DFC92B}"/>
              </a:ext>
            </a:extLst>
          </p:cNvPr>
          <p:cNvCxnSpPr>
            <a:cxnSpLocks/>
          </p:cNvCxnSpPr>
          <p:nvPr/>
        </p:nvCxnSpPr>
        <p:spPr>
          <a:xfrm flipH="1">
            <a:off x="4540469" y="2320543"/>
            <a:ext cx="945931" cy="25163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0068C34-13E4-7A56-CA35-F1BEA3E4CA3D}"/>
              </a:ext>
            </a:extLst>
          </p:cNvPr>
          <p:cNvCxnSpPr>
            <a:cxnSpLocks/>
          </p:cNvCxnSpPr>
          <p:nvPr/>
        </p:nvCxnSpPr>
        <p:spPr>
          <a:xfrm flipH="1">
            <a:off x="3607150" y="2227001"/>
            <a:ext cx="1616550" cy="25404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F6529AD-A0B6-15D1-BF15-06A3DC253869}"/>
              </a:ext>
            </a:extLst>
          </p:cNvPr>
          <p:cNvCxnSpPr>
            <a:cxnSpLocks/>
          </p:cNvCxnSpPr>
          <p:nvPr/>
        </p:nvCxnSpPr>
        <p:spPr>
          <a:xfrm flipH="1">
            <a:off x="5486400" y="2248512"/>
            <a:ext cx="362548" cy="26388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66CE9F3-7C9E-731E-4957-67EC4272ED32}"/>
              </a:ext>
            </a:extLst>
          </p:cNvPr>
          <p:cNvCxnSpPr>
            <a:cxnSpLocks/>
          </p:cNvCxnSpPr>
          <p:nvPr/>
        </p:nvCxnSpPr>
        <p:spPr>
          <a:xfrm>
            <a:off x="6096000" y="2227001"/>
            <a:ext cx="247052" cy="2660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7883A54-E491-CAD6-DAF9-5E2E1B90F832}"/>
              </a:ext>
            </a:extLst>
          </p:cNvPr>
          <p:cNvCxnSpPr>
            <a:cxnSpLocks/>
          </p:cNvCxnSpPr>
          <p:nvPr/>
        </p:nvCxnSpPr>
        <p:spPr>
          <a:xfrm>
            <a:off x="6292922" y="2248511"/>
            <a:ext cx="990747" cy="2588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ABB9C6C-B17C-FA26-E96A-7F914C213B3D}"/>
              </a:ext>
            </a:extLst>
          </p:cNvPr>
          <p:cNvSpPr txBox="1"/>
          <p:nvPr/>
        </p:nvSpPr>
        <p:spPr>
          <a:xfrm>
            <a:off x="2926109" y="4750634"/>
            <a:ext cx="18224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Go (Run)</a:t>
            </a:r>
          </a:p>
          <a:p>
            <a:endParaRPr lang="en-CA" dirty="0"/>
          </a:p>
          <a:p>
            <a:r>
              <a:rPr lang="en-CA" dirty="0"/>
              <a:t>Or</a:t>
            </a:r>
          </a:p>
          <a:p>
            <a:endParaRPr lang="en-CA" dirty="0"/>
          </a:p>
          <a:p>
            <a:r>
              <a:rPr lang="en-CA" dirty="0"/>
              <a:t>Pause (when running)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B68618-5A13-2547-FAAB-04ED7D475F6B}"/>
              </a:ext>
            </a:extLst>
          </p:cNvPr>
          <p:cNvSpPr txBox="1"/>
          <p:nvPr/>
        </p:nvSpPr>
        <p:spPr>
          <a:xfrm>
            <a:off x="4074905" y="4820003"/>
            <a:ext cx="1822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Reset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1017C1-D58C-1F31-3F6D-E5371C4DF8D8}"/>
              </a:ext>
            </a:extLst>
          </p:cNvPr>
          <p:cNvSpPr txBox="1"/>
          <p:nvPr/>
        </p:nvSpPr>
        <p:spPr>
          <a:xfrm>
            <a:off x="5085453" y="4870523"/>
            <a:ext cx="18224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Step</a:t>
            </a:r>
          </a:p>
          <a:p>
            <a:r>
              <a:rPr lang="en-CA" dirty="0"/>
              <a:t>Over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2336D3-00A6-FD57-B092-103F10759BA5}"/>
              </a:ext>
            </a:extLst>
          </p:cNvPr>
          <p:cNvSpPr txBox="1"/>
          <p:nvPr/>
        </p:nvSpPr>
        <p:spPr>
          <a:xfrm>
            <a:off x="6089259" y="4870523"/>
            <a:ext cx="18224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Step</a:t>
            </a:r>
          </a:p>
          <a:p>
            <a:r>
              <a:rPr lang="en-CA" dirty="0"/>
              <a:t>Into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EC0C91-2836-1D91-21D8-FA375E4790CD}"/>
              </a:ext>
            </a:extLst>
          </p:cNvPr>
          <p:cNvSpPr txBox="1"/>
          <p:nvPr/>
        </p:nvSpPr>
        <p:spPr>
          <a:xfrm>
            <a:off x="7093065" y="4794137"/>
            <a:ext cx="18224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Step</a:t>
            </a:r>
          </a:p>
          <a:p>
            <a:r>
              <a:rPr lang="en-CA" dirty="0"/>
              <a:t>Out</a:t>
            </a:r>
          </a:p>
        </p:txBody>
      </p:sp>
    </p:spTree>
    <p:extLst>
      <p:ext uri="{BB962C8B-B14F-4D97-AF65-F5344CB8AC3E}">
        <p14:creationId xmlns:p14="http://schemas.microsoft.com/office/powerpoint/2010/main" val="7889487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49E96-F13A-307E-CCA2-6C32EC511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D869-24FD-E70C-4946-43BD0DE4A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Brief Intro to Ozone: Memory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90BB1E-F4D3-09B8-57DE-95D8B2F20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807" y="1931960"/>
            <a:ext cx="6830378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9417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0CA68-30C3-A4D4-77C4-2B476CFE3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B1EC6-D92C-4843-64B1-F402B1B5B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Brief Intro to Ozone: Memory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CCD324-4D39-3498-2ADA-CED584CC6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936" y="1521180"/>
            <a:ext cx="9164329" cy="27435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72B5AA-30CE-2009-AE32-5DD83D1B3032}"/>
              </a:ext>
            </a:extLst>
          </p:cNvPr>
          <p:cNvSpPr txBox="1"/>
          <p:nvPr/>
        </p:nvSpPr>
        <p:spPr>
          <a:xfrm>
            <a:off x="1160342" y="4458488"/>
            <a:ext cx="101934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You can go to any memory address, even invalid ones. If you see “-” you might be on invalid memory.</a:t>
            </a:r>
          </a:p>
          <a:p>
            <a:endParaRPr lang="en-CA" dirty="0"/>
          </a:p>
          <a:p>
            <a:r>
              <a:rPr lang="en-CA" dirty="0"/>
              <a:t>Memory is NOT updated when running – need to pause the program to do that.</a:t>
            </a:r>
          </a:p>
        </p:txBody>
      </p:sp>
    </p:spTree>
    <p:extLst>
      <p:ext uri="{BB962C8B-B14F-4D97-AF65-F5344CB8AC3E}">
        <p14:creationId xmlns:p14="http://schemas.microsoft.com/office/powerpoint/2010/main" val="25486628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E144E-0B62-5EDF-C4FB-F41189091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Registers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CC799E-07BC-4C01-6B49-526432B647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1781" y="1838237"/>
            <a:ext cx="6538374" cy="435133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E9BC615-23CA-F84B-73C5-803AA45F21A3}"/>
              </a:ext>
            </a:extLst>
          </p:cNvPr>
          <p:cNvCxnSpPr/>
          <p:nvPr/>
        </p:nvCxnSpPr>
        <p:spPr>
          <a:xfrm flipH="1">
            <a:off x="3209859" y="882869"/>
            <a:ext cx="4149484" cy="22450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9B5ECBB-B862-9181-CE0D-B200FD71C09B}"/>
              </a:ext>
            </a:extLst>
          </p:cNvPr>
          <p:cNvCxnSpPr/>
          <p:nvPr/>
        </p:nvCxnSpPr>
        <p:spPr>
          <a:xfrm flipH="1">
            <a:off x="5392858" y="3730122"/>
            <a:ext cx="4149484" cy="22450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97930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B9959-7393-8F01-A431-F634227FE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Registers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7A4FFE-C38C-2716-4749-90F288DD84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9952" y="1690688"/>
            <a:ext cx="4358530" cy="435133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4EB367C-4718-9817-5F5B-54B141F53157}"/>
              </a:ext>
            </a:extLst>
          </p:cNvPr>
          <p:cNvCxnSpPr/>
          <p:nvPr/>
        </p:nvCxnSpPr>
        <p:spPr>
          <a:xfrm flipH="1">
            <a:off x="1246909" y="1171339"/>
            <a:ext cx="5743339" cy="899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4BC71C0-2D8E-DDFC-290D-8EDEA5C324F7}"/>
              </a:ext>
            </a:extLst>
          </p:cNvPr>
          <p:cNvSpPr txBox="1"/>
          <p:nvPr/>
        </p:nvSpPr>
        <p:spPr>
          <a:xfrm>
            <a:off x="6990248" y="974651"/>
            <a:ext cx="3295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Be sure to expand (+) these so you see “Core” registers.</a:t>
            </a:r>
          </a:p>
        </p:txBody>
      </p:sp>
    </p:spTree>
    <p:extLst>
      <p:ext uri="{BB962C8B-B14F-4D97-AF65-F5344CB8AC3E}">
        <p14:creationId xmlns:p14="http://schemas.microsoft.com/office/powerpoint/2010/main" val="12557817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D5DAE-1010-B19D-061D-AF1076737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9924"/>
            <a:ext cx="10515600" cy="1325563"/>
          </a:xfrm>
        </p:spPr>
        <p:txBody>
          <a:bodyPr/>
          <a:lstStyle/>
          <a:p>
            <a:r>
              <a:rPr lang="en-CA" dirty="0"/>
              <a:t>Registers &amp; Memory Jumping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09B1D6B-51FC-22C1-A5A4-622FA74996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1936" y="3032355"/>
            <a:ext cx="6468378" cy="151468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46B772A-6120-6C6E-65C3-D29AF404B49A}"/>
              </a:ext>
            </a:extLst>
          </p:cNvPr>
          <p:cNvCxnSpPr>
            <a:cxnSpLocks/>
          </p:cNvCxnSpPr>
          <p:nvPr/>
        </p:nvCxnSpPr>
        <p:spPr>
          <a:xfrm flipH="1" flipV="1">
            <a:off x="4162044" y="4027165"/>
            <a:ext cx="2835761" cy="15348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2898B99-FF16-8E98-0AFC-9F18F385B9F4}"/>
              </a:ext>
            </a:extLst>
          </p:cNvPr>
          <p:cNvCxnSpPr>
            <a:cxnSpLocks/>
          </p:cNvCxnSpPr>
          <p:nvPr/>
        </p:nvCxnSpPr>
        <p:spPr>
          <a:xfrm flipH="1">
            <a:off x="4508298" y="2395577"/>
            <a:ext cx="2799345" cy="13840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144CCB5-915D-BE73-70B9-8373AB4A229A}"/>
              </a:ext>
            </a:extLst>
          </p:cNvPr>
          <p:cNvSpPr txBox="1"/>
          <p:nvPr/>
        </p:nvSpPr>
        <p:spPr>
          <a:xfrm>
            <a:off x="7307643" y="2189255"/>
            <a:ext cx="3448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Show code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B8E24A-EA63-313A-3537-70FC79BE615E}"/>
              </a:ext>
            </a:extLst>
          </p:cNvPr>
          <p:cNvSpPr txBox="1"/>
          <p:nvPr/>
        </p:nvSpPr>
        <p:spPr>
          <a:xfrm>
            <a:off x="6997805" y="5377304"/>
            <a:ext cx="3448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Show data (useful for stack!)</a:t>
            </a:r>
          </a:p>
        </p:txBody>
      </p:sp>
    </p:spTree>
    <p:extLst>
      <p:ext uri="{BB962C8B-B14F-4D97-AF65-F5344CB8AC3E}">
        <p14:creationId xmlns:p14="http://schemas.microsoft.com/office/powerpoint/2010/main" val="31303706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1C5B7-23B9-1B43-F9D7-0E95E7245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Breakpoints (Data &amp; Code)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01B049-38C7-084D-2032-F24264848D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3624" y="2249362"/>
            <a:ext cx="5382376" cy="2838846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6B47E02-961A-02CA-1095-6C5774289F6B}"/>
              </a:ext>
            </a:extLst>
          </p:cNvPr>
          <p:cNvCxnSpPr>
            <a:cxnSpLocks/>
          </p:cNvCxnSpPr>
          <p:nvPr/>
        </p:nvCxnSpPr>
        <p:spPr>
          <a:xfrm flipH="1">
            <a:off x="2747511" y="1897010"/>
            <a:ext cx="2799345" cy="13840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6822CAC-A844-2D93-0D7B-0C02D77B2E86}"/>
              </a:ext>
            </a:extLst>
          </p:cNvPr>
          <p:cNvSpPr txBox="1"/>
          <p:nvPr/>
        </p:nvSpPr>
        <p:spPr>
          <a:xfrm>
            <a:off x="5546856" y="1690688"/>
            <a:ext cx="3448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Right click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A67BCE3-CBB1-ECCD-1288-F6063824292D}"/>
              </a:ext>
            </a:extLst>
          </p:cNvPr>
          <p:cNvCxnSpPr>
            <a:cxnSpLocks/>
          </p:cNvCxnSpPr>
          <p:nvPr/>
        </p:nvCxnSpPr>
        <p:spPr>
          <a:xfrm flipH="1" flipV="1">
            <a:off x="4169854" y="3796433"/>
            <a:ext cx="2608797" cy="8889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B506645-0153-303E-FE6A-C024E40E3770}"/>
              </a:ext>
            </a:extLst>
          </p:cNvPr>
          <p:cNvSpPr txBox="1"/>
          <p:nvPr/>
        </p:nvSpPr>
        <p:spPr>
          <a:xfrm>
            <a:off x="6778651" y="4500689"/>
            <a:ext cx="3448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Example: Breakpoint on UART2 peripheral setup</a:t>
            </a:r>
          </a:p>
        </p:txBody>
      </p:sp>
    </p:spTree>
    <p:extLst>
      <p:ext uri="{BB962C8B-B14F-4D97-AF65-F5344CB8AC3E}">
        <p14:creationId xmlns:p14="http://schemas.microsoft.com/office/powerpoint/2010/main" val="22329697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2D55E-10F7-9E1B-2928-66A825668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5AC0-CF39-ADA1-25BE-9D7CAF71A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Breakpoints (Data &amp; Code)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C7B7E03-646B-0275-E4A5-60FE52C4C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4090"/>
            <a:ext cx="12192000" cy="456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0752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4657F-EBEF-2605-C5F6-0E348B476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82551-0262-7903-41A0-D0923C385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Breakpoints (Data &amp; Code)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22C6C6-03DC-7F85-2499-5C1651F3F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212" y="2328060"/>
            <a:ext cx="10126488" cy="7811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418817-A25C-2C1A-FB7C-D1D9EEAF7EF9}"/>
              </a:ext>
            </a:extLst>
          </p:cNvPr>
          <p:cNvSpPr txBox="1"/>
          <p:nvPr/>
        </p:nvSpPr>
        <p:spPr>
          <a:xfrm>
            <a:off x="838200" y="4345289"/>
            <a:ext cx="8744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0x40004400 + 0x04 = 0x40004404</a:t>
            </a:r>
          </a:p>
        </p:txBody>
      </p:sp>
    </p:spTree>
    <p:extLst>
      <p:ext uri="{BB962C8B-B14F-4D97-AF65-F5344CB8AC3E}">
        <p14:creationId xmlns:p14="http://schemas.microsoft.com/office/powerpoint/2010/main" val="31156139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CC780-0043-6851-869B-57E80366B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Running into Breakpoint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39C6A9-3C28-8E4D-24FE-2333013D5A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710257"/>
            <a:ext cx="10515600" cy="258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584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F14E4-9544-263B-9DF9-1FD55D8E5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Enabling/Disabling Breakpoints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EE805-E37E-5FE9-D466-7F6B5EF7E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r>
              <a:rPr lang="en-CA" dirty="0"/>
              <a:t>Uncheck the box to disable – handy when you don’t want it to trigger as only want it </a:t>
            </a:r>
            <a:r>
              <a:rPr lang="en-CA" u="sng" dirty="0"/>
              <a:t>after</a:t>
            </a:r>
            <a:r>
              <a:rPr lang="en-CA" dirty="0"/>
              <a:t> something like your user input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5C552C-52CF-F98B-62EF-0FE566D4F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416" y="3792842"/>
            <a:ext cx="4934639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4804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19704-60D5-3960-AA14-4F8707855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Running Python 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94BC-0F37-13AE-1625-FECC536EE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Can run "raw" Python programs, but for evaluations interactive can be useful</a:t>
            </a:r>
          </a:p>
          <a:p>
            <a:endParaRPr lang="en-CA" dirty="0"/>
          </a:p>
          <a:p>
            <a:r>
              <a:rPr lang="en-CA" dirty="0"/>
              <a:t>We'll use this with ChipWhisperer on the final (4</a:t>
            </a:r>
            <a:r>
              <a:rPr lang="en-CA" baseline="30000" dirty="0"/>
              <a:t>th</a:t>
            </a:r>
            <a:r>
              <a:rPr lang="en-CA" dirty="0"/>
              <a:t>) lab</a:t>
            </a:r>
          </a:p>
        </p:txBody>
      </p:sp>
    </p:spTree>
    <p:extLst>
      <p:ext uri="{BB962C8B-B14F-4D97-AF65-F5344CB8AC3E}">
        <p14:creationId xmlns:p14="http://schemas.microsoft.com/office/powerpoint/2010/main" val="37653756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E839B-530F-7E6F-32F5-4A9729177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Python &amp; ChipWhisperer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656B87-B96B-5F14-AF4F-A5AF824BB8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488" y="1356701"/>
            <a:ext cx="9039675" cy="543682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6488651-AD49-DF81-418D-FAB55AB58279}"/>
              </a:ext>
            </a:extLst>
          </p:cNvPr>
          <p:cNvSpPr/>
          <p:nvPr/>
        </p:nvSpPr>
        <p:spPr>
          <a:xfrm>
            <a:off x="838200" y="4788877"/>
            <a:ext cx="826477" cy="5861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1EA5C4-4A42-5DC6-DBAA-F2D206AB8A51}"/>
              </a:ext>
            </a:extLst>
          </p:cNvPr>
          <p:cNvSpPr/>
          <p:nvPr/>
        </p:nvSpPr>
        <p:spPr>
          <a:xfrm>
            <a:off x="1799493" y="5990493"/>
            <a:ext cx="4220307" cy="2872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99672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736FC-DF55-A9B6-A112-5E6547590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5D237-96DC-848F-5C5B-8C2190DFA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Python &amp; ChipWhisperer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6689C2-23A9-D8E2-C384-FEF5DEE7C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985" y="1550803"/>
            <a:ext cx="10696063" cy="504758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3C7CD07-7173-E7F2-23B5-42D4823776E8}"/>
              </a:ext>
            </a:extLst>
          </p:cNvPr>
          <p:cNvSpPr/>
          <p:nvPr/>
        </p:nvSpPr>
        <p:spPr>
          <a:xfrm>
            <a:off x="232775" y="3717039"/>
            <a:ext cx="2064948" cy="11245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10755A-FA90-551C-AF23-20841B5D184D}"/>
              </a:ext>
            </a:extLst>
          </p:cNvPr>
          <p:cNvSpPr/>
          <p:nvPr/>
        </p:nvSpPr>
        <p:spPr>
          <a:xfrm>
            <a:off x="8960606" y="3264877"/>
            <a:ext cx="2604652" cy="8796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41232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Running </a:t>
            </a:r>
            <a:r>
              <a:rPr lang="en-CA" dirty="0" err="1"/>
              <a:t>Jupyter</a:t>
            </a:r>
            <a:r>
              <a:rPr lang="en-CA" dirty="0"/>
              <a:t> Tutorials</a:t>
            </a:r>
          </a:p>
        </p:txBody>
      </p:sp>
      <p:pic>
        <p:nvPicPr>
          <p:cNvPr id="3" name="Picture 5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653146DF-E87A-4161-8D1D-5BB7492DF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010" y="1691268"/>
            <a:ext cx="4759712" cy="455342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V="1">
            <a:off x="2031841" y="1920378"/>
            <a:ext cx="1432795" cy="473262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7" name="Picture 8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6B828D66-5418-4D9D-B1C3-4D6106BFE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546" y="2249411"/>
            <a:ext cx="8383857" cy="2721591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D3396EE-894F-4773-8B04-C538C54B4A3C}"/>
              </a:ext>
            </a:extLst>
          </p:cNvPr>
          <p:cNvCxnSpPr>
            <a:cxnSpLocks/>
          </p:cNvCxnSpPr>
          <p:nvPr/>
        </p:nvCxnSpPr>
        <p:spPr>
          <a:xfrm>
            <a:off x="2013256" y="3025543"/>
            <a:ext cx="977453" cy="548931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2FA8D7-EE4C-4348-A0B4-5C2E7913954B}"/>
              </a:ext>
            </a:extLst>
          </p:cNvPr>
          <p:cNvSpPr txBox="1"/>
          <p:nvPr/>
        </p:nvSpPr>
        <p:spPr>
          <a:xfrm>
            <a:off x="263912" y="2382644"/>
            <a:ext cx="2743200" cy="646331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Run highlighted block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7DD697-98D4-49CF-9C37-5FE3F0E8023F}"/>
              </a:ext>
            </a:extLst>
          </p:cNvPr>
          <p:cNvSpPr/>
          <p:nvPr/>
        </p:nvSpPr>
        <p:spPr>
          <a:xfrm>
            <a:off x="3445726" y="1754458"/>
            <a:ext cx="737840" cy="338255"/>
          </a:xfrm>
          <a:prstGeom prst="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943AD7-B0A5-4122-A1BD-29CAFAEE1071}"/>
              </a:ext>
            </a:extLst>
          </p:cNvPr>
          <p:cNvSpPr txBox="1"/>
          <p:nvPr/>
        </p:nvSpPr>
        <p:spPr>
          <a:xfrm>
            <a:off x="271345" y="3829026"/>
            <a:ext cx="2964223" cy="1200329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u="sng" dirty="0"/>
              <a:t>Shift-Enter </a:t>
            </a:r>
            <a:r>
              <a:rPr lang="en-US" dirty="0"/>
              <a:t>runs and moves to next.</a:t>
            </a:r>
          </a:p>
          <a:p>
            <a:pPr marL="342900" indent="-342900">
              <a:buAutoNum type="arabicPeriod"/>
            </a:pPr>
            <a:r>
              <a:rPr lang="en-US" u="sng" dirty="0"/>
              <a:t>Ctrl-Enter </a:t>
            </a:r>
            <a:r>
              <a:rPr lang="en-US" dirty="0"/>
              <a:t>runs and stays on cell.</a:t>
            </a:r>
          </a:p>
        </p:txBody>
      </p:sp>
    </p:spTree>
    <p:extLst>
      <p:ext uri="{BB962C8B-B14F-4D97-AF65-F5344CB8AC3E}">
        <p14:creationId xmlns:p14="http://schemas.microsoft.com/office/powerpoint/2010/main" val="22494099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4897F-B5B0-48DD-BD2A-544CE8B2B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Jupyter</a:t>
            </a:r>
            <a:r>
              <a:rPr lang="en-US" dirty="0"/>
              <a:t>?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BE713-7842-48DB-9EAC-A5D2AD8D0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Interactive Python 3! Many advantages:</a:t>
            </a:r>
          </a:p>
          <a:p>
            <a:endParaRPr lang="en-US" dirty="0"/>
          </a:p>
          <a:p>
            <a:pPr lvl="1"/>
            <a:r>
              <a:rPr lang="en-US" dirty="0"/>
              <a:t>Can move to “pure” Python easily afterwards.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During development, interactive nature makes discoveries easier.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707691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CD3D5-9AD4-41BF-BA9E-12B3D0B2C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Jupyter</a:t>
            </a:r>
            <a:r>
              <a:rPr lang="en-CA" dirty="0"/>
              <a:t> is not Perfect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E2655-890A-4FAE-8351-60F716964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77600" cy="4351338"/>
          </a:xfrm>
        </p:spPr>
        <p:txBody>
          <a:bodyPr/>
          <a:lstStyle/>
          <a:p>
            <a:pPr fontAlgn="base"/>
            <a:r>
              <a:rPr lang="en-CA" dirty="0"/>
              <a:t>Hidden state problems.</a:t>
            </a:r>
          </a:p>
          <a:p>
            <a:pPr fontAlgn="base"/>
            <a:r>
              <a:rPr lang="en-CA" dirty="0"/>
              <a:t>People don't ship notebooks with requirements.txt, etc.</a:t>
            </a:r>
          </a:p>
          <a:p>
            <a:pPr fontAlgn="base"/>
            <a:r>
              <a:rPr lang="en-CA" dirty="0"/>
              <a:t>No testing/linting that's any good built-in.</a:t>
            </a:r>
          </a:p>
          <a:p>
            <a:pPr fontAlgn="base"/>
            <a:r>
              <a:rPr lang="en-CA" dirty="0"/>
              <a:t>Very useless code completion (have to run the cell first, etc.).</a:t>
            </a:r>
          </a:p>
          <a:p>
            <a:pPr fontAlgn="base"/>
            <a:r>
              <a:rPr lang="en-CA" dirty="0"/>
              <a:t>Can't take advantage of type hints.</a:t>
            </a:r>
          </a:p>
          <a:p>
            <a:pPr fontAlgn="base"/>
            <a:r>
              <a:rPr lang="en-CA" dirty="0"/>
              <a:t>Several other things.</a:t>
            </a:r>
          </a:p>
        </p:txBody>
      </p:sp>
    </p:spTree>
    <p:extLst>
      <p:ext uri="{BB962C8B-B14F-4D97-AF65-F5344CB8AC3E}">
        <p14:creationId xmlns:p14="http://schemas.microsoft.com/office/powerpoint/2010/main" val="5746404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86A70-DA95-57D7-1712-2E46D4CB5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Lab #3 &amp; Assignment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FE5A3-718F-BABE-D724-5DB027CA0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You will cover this in Lab #3 (groups allowed) + Assignment #2 (Individual)</a:t>
            </a:r>
          </a:p>
          <a:p>
            <a:pPr marL="514350" indent="-514350">
              <a:buAutoNum type="arabicParenR"/>
            </a:pPr>
            <a:r>
              <a:rPr lang="en-CA" dirty="0"/>
              <a:t>In Lab #3 perform a buffer overflow and inspect the running hardware.</a:t>
            </a:r>
          </a:p>
          <a:p>
            <a:pPr marL="514350" indent="-514350">
              <a:buAutoNum type="arabicParenR"/>
            </a:pPr>
            <a:endParaRPr lang="en-CA" dirty="0"/>
          </a:p>
          <a:p>
            <a:pPr marL="514350" indent="-514350">
              <a:buAutoNum type="arabicParenR"/>
            </a:pPr>
            <a:r>
              <a:rPr lang="en-CA" dirty="0"/>
              <a:t>In Assignment #2 investigate buffer overflow prevention methods and related topics (to be completed individually).</a:t>
            </a:r>
          </a:p>
          <a:p>
            <a:pPr marL="514350" indent="-514350">
              <a:buAutoNum type="arabicParenR"/>
            </a:pPr>
            <a:endParaRPr lang="en-CA" dirty="0"/>
          </a:p>
          <a:p>
            <a:pPr marL="0" indent="0">
              <a:buNone/>
            </a:pPr>
            <a:r>
              <a:rPr lang="en-CA" dirty="0"/>
              <a:t>You can choose to install Ozone on your computer or complete in the lab.</a:t>
            </a:r>
          </a:p>
        </p:txBody>
      </p:sp>
    </p:spTree>
    <p:extLst>
      <p:ext uri="{BB962C8B-B14F-4D97-AF65-F5344CB8AC3E}">
        <p14:creationId xmlns:p14="http://schemas.microsoft.com/office/powerpoint/2010/main" val="3426554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871</Words>
  <Application>Microsoft Office PowerPoint</Application>
  <PresentationFormat>Widescreen</PresentationFormat>
  <Paragraphs>160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Aptos</vt:lpstr>
      <vt:lpstr>Aptos Display</vt:lpstr>
      <vt:lpstr>Arial</vt:lpstr>
      <vt:lpstr>Office Theme</vt:lpstr>
      <vt:lpstr>0x406 – Buffer Overflows &amp; Lab Instructions</vt:lpstr>
      <vt:lpstr>More Resources on Buffer Overflow Attacks</vt:lpstr>
      <vt:lpstr>What is a Buffer?</vt:lpstr>
      <vt:lpstr>What is a Buffer Overflow?</vt:lpstr>
      <vt:lpstr>PowerPoint Presentation</vt:lpstr>
      <vt:lpstr>Function Setup</vt:lpstr>
      <vt:lpstr>ARM Important Registers</vt:lpstr>
      <vt:lpstr>e.g., when returning from function Using “bx lr” instruction</vt:lpstr>
      <vt:lpstr>e.g., when returning from function Using “pop” instruction</vt:lpstr>
      <vt:lpstr>PowerPoint Presentation</vt:lpstr>
      <vt:lpstr>Code Flow Execution Attacks</vt:lpstr>
      <vt:lpstr>Shellcode In Buffer</vt:lpstr>
      <vt:lpstr>Return Oriented Programming (ROP)</vt:lpstr>
      <vt:lpstr>ROP vs. Shellcode</vt:lpstr>
      <vt:lpstr>Protection Methods</vt:lpstr>
      <vt:lpstr>Protection Methods: Continued</vt:lpstr>
      <vt:lpstr>Protection Methods: Continued</vt:lpstr>
      <vt:lpstr>Slightly Insane Protective Methods</vt:lpstr>
      <vt:lpstr>Ozone Introduction</vt:lpstr>
      <vt:lpstr>STM32 Nucleo Board in “J-Link Mode”</vt:lpstr>
      <vt:lpstr>Ozone with Debug Symbols</vt:lpstr>
      <vt:lpstr>What you will see</vt:lpstr>
      <vt:lpstr>Brief Intro to Ozone: Stepping</vt:lpstr>
      <vt:lpstr>Brief Intro to Ozone: Memory</vt:lpstr>
      <vt:lpstr>Brief Intro to Ozone: Memory</vt:lpstr>
      <vt:lpstr>Registers</vt:lpstr>
      <vt:lpstr>Registers</vt:lpstr>
      <vt:lpstr>Registers &amp; Memory Jumping</vt:lpstr>
      <vt:lpstr>Breakpoints (Data &amp; Code)</vt:lpstr>
      <vt:lpstr>Breakpoints (Data &amp; Code)</vt:lpstr>
      <vt:lpstr>Breakpoints (Data &amp; Code)</vt:lpstr>
      <vt:lpstr>Running into Breakpoint</vt:lpstr>
      <vt:lpstr>Enabling/Disabling Breakpoints</vt:lpstr>
      <vt:lpstr>Running Python Programs</vt:lpstr>
      <vt:lpstr>Python &amp; ChipWhisperer</vt:lpstr>
      <vt:lpstr>Python &amp; ChipWhisperer</vt:lpstr>
      <vt:lpstr>Running Jupyter Tutorials</vt:lpstr>
      <vt:lpstr>What is Jupyter?</vt:lpstr>
      <vt:lpstr>Jupyter is not Perfect</vt:lpstr>
      <vt:lpstr>Lab #3 &amp; Assignment #2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Colin O'Flynn</dc:creator>
  <cp:lastModifiedBy>Colin O'Flynn</cp:lastModifiedBy>
  <cp:revision>7</cp:revision>
  <dcterms:created xsi:type="dcterms:W3CDTF">2025-11-21T16:38:29Z</dcterms:created>
  <dcterms:modified xsi:type="dcterms:W3CDTF">2026-03-10T15:26:51Z</dcterms:modified>
</cp:coreProperties>
</file>