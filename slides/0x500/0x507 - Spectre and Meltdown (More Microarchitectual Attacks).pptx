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4" r:id="rId4"/>
    <p:sldId id="306" r:id="rId5"/>
    <p:sldId id="307" r:id="rId6"/>
    <p:sldId id="284" r:id="rId7"/>
    <p:sldId id="282" r:id="rId8"/>
    <p:sldId id="277" r:id="rId9"/>
    <p:sldId id="279" r:id="rId10"/>
    <p:sldId id="285" r:id="rId11"/>
    <p:sldId id="286" r:id="rId12"/>
    <p:sldId id="287" r:id="rId13"/>
    <p:sldId id="288" r:id="rId14"/>
    <p:sldId id="289" r:id="rId15"/>
    <p:sldId id="290" r:id="rId16"/>
    <p:sldId id="295" r:id="rId17"/>
    <p:sldId id="308" r:id="rId18"/>
    <p:sldId id="296" r:id="rId19"/>
    <p:sldId id="297" r:id="rId20"/>
    <p:sldId id="298" r:id="rId21"/>
    <p:sldId id="301" r:id="rId22"/>
    <p:sldId id="299" r:id="rId23"/>
    <p:sldId id="300" r:id="rId24"/>
    <p:sldId id="303" r:id="rId25"/>
    <p:sldId id="304" r:id="rId26"/>
    <p:sldId id="302" r:id="rId27"/>
    <p:sldId id="30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0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7BF9-C96D-B21A-F286-4ACD767AD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74BA0-F071-12F2-787C-28FB0C9CD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1F705-BA38-AEBE-875F-258D870F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B3684-E7EB-3C8F-5056-5C8B5A09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FA7D1-0EA6-285A-2781-414E6BAE8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104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6987-2036-E3B3-6E7C-8A4F1ABE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15EE3-AEA9-BD5A-EEB8-64E8C87D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66F8C-0A8A-1B1D-3030-4AF4F30C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804FB-15CF-0AB5-D505-4A2795B0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2C4C1-6AEE-804A-DF0C-842B9262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589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AA56-790A-C5E0-2B4F-9266A357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ABC8E-D75D-3AFC-DFFB-AAA2991D9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63CF1-1589-9609-A10F-5407DFC1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41920-9DF2-9F55-D004-1823A249A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62FB1-6AB9-23C7-6C9E-638091085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1330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A627-CDEE-E97E-605A-4176D20E8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03E9F-CC7A-C8C2-9626-4A9AC67A4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ACD1D-C33B-8DE9-694B-BF5A4E4D7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1B973-57B5-6EEF-3BEA-07D8BF3A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57E89-8ACF-08A2-8CA0-ADBA211A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F8CC4-917A-17E9-97E5-32C0110D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8410-B0BA-97CA-1044-C852F6017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280BC-0B3E-7C0B-8BB9-D2D43E5CF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24FE6-F3D7-D7B3-284B-9FCD2D4F0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88A27-D76B-537F-277A-45475C34E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4B284-61C0-0569-94D8-68B3B7A85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846AB-1E2A-59AA-1612-5ED8F242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6BA9F8-27EA-5F70-205E-3724ACC7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8029F-1A8C-7E5E-161E-E01DDDC6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785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9D3F-4E63-31AD-2E3E-A17E4B30C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037B7-ED9A-74BB-6BC8-85292393D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A167E-6F84-7425-407D-02B43A75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E4A11-E7BD-68C1-770B-D025B8A6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830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CB2236-EA95-24EC-B776-FEFF04A8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58F4D-C63E-9CAB-F30B-8F6C34306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0BB99-6E57-262A-0D86-A4C698AE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578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48B2-DDB6-9FA6-C2A3-06C96B718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35CBA-69BA-BF91-7AB4-E7C96DE00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385A3-AC6F-400E-BE3E-ED5D2EC87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B4261-FDF7-F3FE-F136-776E47CA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D1BC1-CA36-E488-8CB0-045F7CB9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37792-1426-27F1-C9AB-A3663792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836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7DC3F-B0E1-33BB-590D-F3A0F184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67A60-EE1D-B30A-93FF-AB50C2759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0C34A-286B-DD48-12AC-9866115CD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60FD7-28A8-76A3-898A-927EC9C9C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F039F-CEBC-7DC7-B0BE-BD0E91D47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62399-EE41-3787-D56A-BB0F52083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118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8AFA-FB99-6D5B-D737-434557F8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9D3A5-5FFA-994C-7D22-95CE25E2E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7D0E2-1263-E7C7-9E63-EF2A446C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8CD77-AADE-F463-FDE5-76DE8E32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EF2AF-9E47-7F9C-EDC3-2426D947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922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57599-9C5D-432B-0575-AA03F3C1A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C7AB9-8922-3D92-F364-33B7C46F1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3FDF5-C9A7-74A7-B094-DD9AAEAF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25089-DE31-6C23-28DE-2291F1D4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FC19F-2287-5611-7C95-3DDD2BFA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4139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41F2E5-1604-0EA8-088A-51C8081F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133A8-77F5-9CB3-384C-470D9BE80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B9005-19C2-E2AA-9723-F607489AA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D40CD-0041-4755-8865-AE0553713BCC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79CDC-CFE1-4509-744E-F9B522971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6DF5B-9E55-1522-9C61-A48B133F4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C5E57-6668-4944-84ED-86D8C6AAB2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106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EA7A-2099-12B1-3F61-7C20A5560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0x507 – </a:t>
            </a:r>
            <a:r>
              <a:rPr lang="en-US" dirty="0" err="1"/>
              <a:t>Spectre</a:t>
            </a:r>
            <a:r>
              <a:rPr lang="en-US" dirty="0"/>
              <a:t> &amp; Meltdown (More Microarchitectural)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ABF04-2850-7C4A-4AD9-5F3995669F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ECED4406 – Computer Security</a:t>
            </a:r>
          </a:p>
          <a:p>
            <a:endParaRPr lang="en-CA" dirty="0"/>
          </a:p>
          <a:p>
            <a:r>
              <a:rPr lang="en-CA" dirty="0"/>
              <a:t>Dr. Colin O’Flynn</a:t>
            </a:r>
          </a:p>
          <a:p>
            <a:r>
              <a:rPr lang="en-CA" dirty="0"/>
              <a:t>Dalhousie University</a:t>
            </a:r>
          </a:p>
        </p:txBody>
      </p:sp>
    </p:spTree>
    <p:extLst>
      <p:ext uri="{BB962C8B-B14F-4D97-AF65-F5344CB8AC3E}">
        <p14:creationId xmlns:p14="http://schemas.microsoft.com/office/powerpoint/2010/main" val="2487750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AE1A-B1DB-1942-FDA0-66F5DF74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Basic Cache Timing Attack (Again)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3A1B4-13E7-B13F-E488-EBEECDA7398C}"/>
              </a:ext>
            </a:extLst>
          </p:cNvPr>
          <p:cNvSpPr txBox="1"/>
          <p:nvPr/>
        </p:nvSpPr>
        <p:spPr>
          <a:xfrm>
            <a:off x="1289594" y="2585219"/>
            <a:ext cx="84378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CA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aes_roundkey</a:t>
            </a: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(uint8_t input)</a:t>
            </a:r>
          </a:p>
          <a:p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CA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sbox</a:t>
            </a: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[input ^ key];</a:t>
            </a:r>
          </a:p>
          <a:p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2F8ECA-24ED-28A7-C1EB-D2048EC17170}"/>
              </a:ext>
            </a:extLst>
          </p:cNvPr>
          <p:cNvCxnSpPr>
            <a:cxnSpLocks/>
          </p:cNvCxnSpPr>
          <p:nvPr/>
        </p:nvCxnSpPr>
        <p:spPr>
          <a:xfrm flipH="1">
            <a:off x="6457950" y="2550160"/>
            <a:ext cx="1725930" cy="878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E9F8D8-ACD4-88F5-429F-57E3C4B2D080}"/>
              </a:ext>
            </a:extLst>
          </p:cNvPr>
          <p:cNvSpPr txBox="1"/>
          <p:nvPr/>
        </p:nvSpPr>
        <p:spPr>
          <a:xfrm>
            <a:off x="7345680" y="2215887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The value (should) be secret.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A8BF4A-8603-2F69-271E-5430461A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7CC79-D0F0-2773-DE04-2C3A52A8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886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27CD9-C74C-8C3C-E391-9D4FE52D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Cache-Timing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485DE-41EF-3443-E41D-5E295DB7A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4531043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Accessing part of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sbox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will cause it to get loaded into the cache.</a:t>
            </a:r>
          </a:p>
          <a:p>
            <a:r>
              <a:rPr lang="en-CA" dirty="0"/>
              <a:t>Subsequent “hits” to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sbox</a:t>
            </a:r>
            <a:r>
              <a:rPr lang="en-CA" dirty="0"/>
              <a:t> will be </a:t>
            </a:r>
            <a:r>
              <a:rPr lang="en-CA" i="1" dirty="0"/>
              <a:t>noticeably faster if previous address accessed.</a:t>
            </a:r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Cache-Timing Attack Looks like:</a:t>
            </a:r>
          </a:p>
          <a:p>
            <a:pPr marL="514350" indent="-514350">
              <a:buAutoNum type="arabicPeriod"/>
            </a:pPr>
            <a:r>
              <a:rPr lang="en-CA" dirty="0"/>
              <a:t>Ask for a bunch of unrelated data to “clear” the Cache.</a:t>
            </a:r>
          </a:p>
          <a:p>
            <a:pPr marL="514350" indent="-514350">
              <a:buAutoNum type="arabicPeriod"/>
            </a:pPr>
            <a:r>
              <a:rPr lang="en-CA" dirty="0"/>
              <a:t>Call encryption routine so that section of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sbox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gets loaded.</a:t>
            </a:r>
          </a:p>
          <a:p>
            <a:pPr marL="514350" indent="-514350">
              <a:buAutoNum type="arabicPeriod"/>
            </a:pPr>
            <a:r>
              <a:rPr lang="en-CA" dirty="0"/>
              <a:t>Try reading from addresses in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sbox</a:t>
            </a:r>
            <a:r>
              <a:rPr lang="en-CA" dirty="0"/>
              <a:t> (probe), timing the access to see if it’s “fast” or “slow”. If “fast” then you can discover index used!</a:t>
            </a:r>
          </a:p>
          <a:p>
            <a:pPr marL="514350" indent="-514350">
              <a:buAutoNum type="arabicPeriod"/>
            </a:pPr>
            <a:r>
              <a:rPr lang="en-CA" dirty="0"/>
              <a:t>BIG CAVEAT: Requires (1) you to have ability to read or cause array to be read, and (2) requires the </a:t>
            </a:r>
            <a:r>
              <a:rPr lang="en-CA" i="1" dirty="0"/>
              <a:t>index</a:t>
            </a:r>
            <a:r>
              <a:rPr lang="en-CA" dirty="0"/>
              <a:t> or </a:t>
            </a:r>
            <a:r>
              <a:rPr lang="en-CA" i="1" dirty="0"/>
              <a:t>address</a:t>
            </a:r>
            <a:r>
              <a:rPr lang="en-CA" dirty="0"/>
              <a:t> is a secret. Not directly dumping values.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2A582-F2DE-26AC-73B7-1B456CBB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17489-B3E3-5FE9-5F5F-CEA565DC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002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66AD-C6E5-BBBF-4C12-B6BD5B204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 for the Pedantic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E68FF-6933-BBA0-9EE3-A0154D988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Cache loads </a:t>
            </a:r>
            <a:r>
              <a:rPr lang="en-US" i="1" dirty="0"/>
              <a:t>sections</a:t>
            </a:r>
            <a:r>
              <a:rPr lang="en-US" dirty="0"/>
              <a:t> of memory, not just one address.</a:t>
            </a:r>
          </a:p>
          <a:p>
            <a:endParaRPr lang="en-US" dirty="0"/>
          </a:p>
          <a:p>
            <a:r>
              <a:rPr lang="en-US" dirty="0"/>
              <a:t>32-bit implementations use larger tables (T-Tables) to encode the S-Box which improves cache attack efficiency.</a:t>
            </a:r>
          </a:p>
          <a:p>
            <a:endParaRPr lang="en-CA" dirty="0"/>
          </a:p>
          <a:p>
            <a:r>
              <a:rPr lang="en-CA" dirty="0"/>
              <a:t>At an abstract level you can imagine finding the index of the S-Box from the cache attack.</a:t>
            </a:r>
          </a:p>
          <a:p>
            <a:endParaRPr lang="en-CA" dirty="0"/>
          </a:p>
          <a:p>
            <a:r>
              <a:rPr lang="en-CA" dirty="0"/>
              <a:t>The Spectre attack will perfectly work around this minimum cache size problem to achieve highly efficient leakage, so we don't need to go further.</a:t>
            </a:r>
          </a:p>
        </p:txBody>
      </p:sp>
    </p:spTree>
    <p:extLst>
      <p:ext uri="{BB962C8B-B14F-4D97-AF65-F5344CB8AC3E}">
        <p14:creationId xmlns:p14="http://schemas.microsoft.com/office/powerpoint/2010/main" val="2994743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9290-5FC3-6103-F6A2-EF4198AA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Cache Attack </a:t>
            </a:r>
            <a:r>
              <a:rPr lang="en-CA" dirty="0">
                <a:sym typeface="Wingdings" panose="05000000000000000000" pitchFamily="2" charset="2"/>
              </a:rPr>
              <a:t> Memory Leakage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F74B2-F1D9-7ADF-6B8F-B5CE56554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15" y="1690688"/>
            <a:ext cx="6870224" cy="4333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8E5217-EC6E-D8D9-07A0-27C99D26F33B}"/>
              </a:ext>
            </a:extLst>
          </p:cNvPr>
          <p:cNvSpPr txBox="1"/>
          <p:nvPr/>
        </p:nvSpPr>
        <p:spPr>
          <a:xfrm>
            <a:off x="7620000" y="1575884"/>
            <a:ext cx="4017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array2[ </a:t>
            </a:r>
            <a:r>
              <a:rPr lang="en-CA" sz="2400" b="1" dirty="0" err="1">
                <a:solidFill>
                  <a:srgbClr val="FF0000"/>
                </a:solidFill>
              </a:rPr>
              <a:t>secret_value</a:t>
            </a:r>
            <a:r>
              <a:rPr lang="en-CA" sz="2400" b="1" dirty="0">
                <a:solidFill>
                  <a:srgbClr val="FF0000"/>
                </a:solidFill>
              </a:rPr>
              <a:t> </a:t>
            </a:r>
            <a:r>
              <a:rPr lang="en-CA" sz="2400" b="1" dirty="0"/>
              <a:t>* 128 ]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92C490-8D1E-C920-123E-58D3E99393C1}"/>
              </a:ext>
            </a:extLst>
          </p:cNvPr>
          <p:cNvSpPr txBox="1"/>
          <p:nvPr/>
        </p:nvSpPr>
        <p:spPr>
          <a:xfrm>
            <a:off x="7620000" y="2846076"/>
            <a:ext cx="40171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We use </a:t>
            </a:r>
            <a:r>
              <a:rPr lang="en-CA" sz="2400" b="1" dirty="0" err="1">
                <a:solidFill>
                  <a:srgbClr val="FF0000"/>
                </a:solidFill>
              </a:rPr>
              <a:t>secret_value</a:t>
            </a:r>
            <a:r>
              <a:rPr lang="en-CA" sz="2400" b="1" dirty="0">
                <a:solidFill>
                  <a:srgbClr val="FF0000"/>
                </a:solidFill>
              </a:rPr>
              <a:t> </a:t>
            </a:r>
            <a:r>
              <a:rPr lang="en-CA" sz="2400" dirty="0"/>
              <a:t>as an index into an array </a:t>
            </a:r>
            <a:r>
              <a:rPr lang="en-CA" sz="2400" b="1" dirty="0"/>
              <a:t>we control</a:t>
            </a:r>
          </a:p>
          <a:p>
            <a:endParaRPr lang="en-CA" sz="2400" b="1" dirty="0"/>
          </a:p>
          <a:p>
            <a:endParaRPr lang="en-CA" sz="2400" b="1" dirty="0"/>
          </a:p>
          <a:p>
            <a:r>
              <a:rPr lang="en-CA" sz="2400" dirty="0"/>
              <a:t>This solves the “cache means we don’t learn exact value” problem.</a:t>
            </a:r>
          </a:p>
          <a:p>
            <a:endParaRPr lang="en-CA" sz="2400" dirty="0"/>
          </a:p>
          <a:p>
            <a:r>
              <a:rPr lang="en-CA" sz="2400" dirty="0"/>
              <a:t>But we don’t </a:t>
            </a:r>
            <a:r>
              <a:rPr lang="en-CA" sz="2400" i="1" dirty="0"/>
              <a:t>actually have ability to read </a:t>
            </a:r>
            <a:r>
              <a:rPr lang="en-CA" sz="2400" b="1" dirty="0" err="1">
                <a:solidFill>
                  <a:srgbClr val="FF0000"/>
                </a:solidFill>
              </a:rPr>
              <a:t>secret_value</a:t>
            </a:r>
            <a:endParaRPr lang="en-CA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1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8AC2-B344-65B0-F86B-BA4D29A9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Pipeline with Branch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97812935-42EF-C6E5-0C7B-D3C1B802CD0D}"/>
              </a:ext>
            </a:extLst>
          </p:cNvPr>
          <p:cNvSpPr/>
          <p:nvPr/>
        </p:nvSpPr>
        <p:spPr>
          <a:xfrm>
            <a:off x="227136" y="2526342"/>
            <a:ext cx="1929539" cy="221880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10D50-BAC2-87AD-D067-9DBF4C65CED4}"/>
              </a:ext>
            </a:extLst>
          </p:cNvPr>
          <p:cNvSpPr txBox="1"/>
          <p:nvPr/>
        </p:nvSpPr>
        <p:spPr>
          <a:xfrm>
            <a:off x="358872" y="4783897"/>
            <a:ext cx="176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Storage Media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B4B53-AA1D-0088-25D7-739824F443D9}"/>
              </a:ext>
            </a:extLst>
          </p:cNvPr>
          <p:cNvSpPr txBox="1"/>
          <p:nvPr/>
        </p:nvSpPr>
        <p:spPr>
          <a:xfrm>
            <a:off x="2422815" y="2229899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2566A-A55E-7218-C1BA-64BFF2E6375D}"/>
              </a:ext>
            </a:extLst>
          </p:cNvPr>
          <p:cNvSpPr txBox="1"/>
          <p:nvPr/>
        </p:nvSpPr>
        <p:spPr>
          <a:xfrm>
            <a:off x="2382409" y="2953776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389C1-B2E4-3C43-16FE-3CCC4EE1C461}"/>
              </a:ext>
            </a:extLst>
          </p:cNvPr>
          <p:cNvSpPr txBox="1"/>
          <p:nvPr/>
        </p:nvSpPr>
        <p:spPr>
          <a:xfrm>
            <a:off x="2388823" y="3579649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C5D38E-CAB3-B82B-C54D-25E212B21A8D}"/>
              </a:ext>
            </a:extLst>
          </p:cNvPr>
          <p:cNvSpPr/>
          <p:nvPr/>
        </p:nvSpPr>
        <p:spPr>
          <a:xfrm>
            <a:off x="3341799" y="2194114"/>
            <a:ext cx="15010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DE6094-6536-CFDB-70B2-1D3C54AE0A44}"/>
              </a:ext>
            </a:extLst>
          </p:cNvPr>
          <p:cNvSpPr/>
          <p:nvPr/>
        </p:nvSpPr>
        <p:spPr>
          <a:xfrm>
            <a:off x="5146255" y="2902728"/>
            <a:ext cx="163061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bge</a:t>
            </a:r>
            <a:r>
              <a:rPr lang="en-C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a1,a0,16 &lt;.L3&gt;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D8603-BF14-87F7-556C-C6E10F1F5B23}"/>
              </a:ext>
            </a:extLst>
          </p:cNvPr>
          <p:cNvSpPr/>
          <p:nvPr/>
        </p:nvSpPr>
        <p:spPr>
          <a:xfrm>
            <a:off x="7023101" y="3579649"/>
            <a:ext cx="162299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 =.L3 if a1 ≥ a0</a:t>
            </a:r>
            <a:endParaRPr lang="en-CA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6007BE-FBD2-2EFA-50A9-097D85A46925}"/>
              </a:ext>
            </a:extLst>
          </p:cNvPr>
          <p:cNvSpPr/>
          <p:nvPr/>
        </p:nvSpPr>
        <p:spPr>
          <a:xfrm>
            <a:off x="5153875" y="2194114"/>
            <a:ext cx="155822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A88B0-09D4-8389-2907-B15B6B0BAAAF}"/>
              </a:ext>
            </a:extLst>
          </p:cNvPr>
          <p:cNvSpPr/>
          <p:nvPr/>
        </p:nvSpPr>
        <p:spPr>
          <a:xfrm>
            <a:off x="7015481" y="2902728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add    a0,a0,a1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0ED530-4D4D-FF15-C88E-DCA632E11195}"/>
              </a:ext>
            </a:extLst>
          </p:cNvPr>
          <p:cNvSpPr/>
          <p:nvPr/>
        </p:nvSpPr>
        <p:spPr>
          <a:xfrm>
            <a:off x="7023101" y="2200707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9995CA-C110-B25F-8AAF-24ADCBB6962D}"/>
              </a:ext>
            </a:extLst>
          </p:cNvPr>
          <p:cNvSpPr/>
          <p:nvPr/>
        </p:nvSpPr>
        <p:spPr>
          <a:xfrm>
            <a:off x="8934237" y="3615761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💀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870B20-8ED5-4D74-FB51-57729668468E}"/>
              </a:ext>
            </a:extLst>
          </p:cNvPr>
          <p:cNvSpPr/>
          <p:nvPr/>
        </p:nvSpPr>
        <p:spPr>
          <a:xfrm>
            <a:off x="8934237" y="2897992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💀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5FE54-61FE-8E64-BD48-BD45F2338517}"/>
              </a:ext>
            </a:extLst>
          </p:cNvPr>
          <p:cNvSpPr/>
          <p:nvPr/>
        </p:nvSpPr>
        <p:spPr>
          <a:xfrm>
            <a:off x="8934237" y="2200707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  <a:endParaRPr lang="en-CA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8688A7-1041-F6CF-B30F-74645ED857EA}"/>
              </a:ext>
            </a:extLst>
          </p:cNvPr>
          <p:cNvCxnSpPr>
            <a:cxnSpLocks/>
          </p:cNvCxnSpPr>
          <p:nvPr/>
        </p:nvCxnSpPr>
        <p:spPr>
          <a:xfrm>
            <a:off x="4842875" y="2715744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045267-2B44-22C0-D9D1-69AB053176E2}"/>
              </a:ext>
            </a:extLst>
          </p:cNvPr>
          <p:cNvCxnSpPr>
            <a:cxnSpLocks/>
          </p:cNvCxnSpPr>
          <p:nvPr/>
        </p:nvCxnSpPr>
        <p:spPr>
          <a:xfrm>
            <a:off x="6712101" y="3407361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45F32F-59FF-EC2D-43C4-A69E2782E906}"/>
              </a:ext>
            </a:extLst>
          </p:cNvPr>
          <p:cNvCxnSpPr>
            <a:cxnSpLocks/>
          </p:cNvCxnSpPr>
          <p:nvPr/>
        </p:nvCxnSpPr>
        <p:spPr>
          <a:xfrm>
            <a:off x="6712101" y="2712104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1FCCA9-F966-5CB2-0C89-203A022B7F04}"/>
              </a:ext>
            </a:extLst>
          </p:cNvPr>
          <p:cNvCxnSpPr>
            <a:cxnSpLocks/>
          </p:cNvCxnSpPr>
          <p:nvPr/>
        </p:nvCxnSpPr>
        <p:spPr>
          <a:xfrm>
            <a:off x="8630857" y="3417765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91215C-801D-D1C1-DD46-FC0DE7E8D2EB}"/>
              </a:ext>
            </a:extLst>
          </p:cNvPr>
          <p:cNvCxnSpPr>
            <a:cxnSpLocks/>
          </p:cNvCxnSpPr>
          <p:nvPr/>
        </p:nvCxnSpPr>
        <p:spPr>
          <a:xfrm>
            <a:off x="8646097" y="2720480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9858123-1D08-A43C-8A4E-DCA4D94A74A8}"/>
              </a:ext>
            </a:extLst>
          </p:cNvPr>
          <p:cNvSpPr txBox="1"/>
          <p:nvPr/>
        </p:nvSpPr>
        <p:spPr>
          <a:xfrm>
            <a:off x="1682512" y="1506022"/>
            <a:ext cx="1043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1                               2                               3                               4                            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E24A63-2145-2AB2-57B6-08977180261C}"/>
              </a:ext>
            </a:extLst>
          </p:cNvPr>
          <p:cNvSpPr txBox="1"/>
          <p:nvPr/>
        </p:nvSpPr>
        <p:spPr>
          <a:xfrm>
            <a:off x="5340501" y="406706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1D10E3-4AF0-0333-9769-AC3AB9493B1D}"/>
              </a:ext>
            </a:extLst>
          </p:cNvPr>
          <p:cNvCxnSpPr>
            <a:cxnSpLocks/>
          </p:cNvCxnSpPr>
          <p:nvPr/>
        </p:nvCxnSpPr>
        <p:spPr>
          <a:xfrm>
            <a:off x="3595823" y="4436401"/>
            <a:ext cx="83929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1E9C20-CBBB-94DD-2A5F-BDA1AF00A5E1}"/>
              </a:ext>
            </a:extLst>
          </p:cNvPr>
          <p:cNvSpPr txBox="1"/>
          <p:nvPr/>
        </p:nvSpPr>
        <p:spPr>
          <a:xfrm>
            <a:off x="3008694" y="6078775"/>
            <a:ext cx="806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NOTE: in RISC-V </a:t>
            </a:r>
            <a:r>
              <a:rPr lang="en-CA" b="1" i="1" dirty="0">
                <a:latin typeface="Consolas" panose="020B0609020204030204" pitchFamily="49" charset="0"/>
              </a:rPr>
              <a:t>a0/a1</a:t>
            </a:r>
            <a:r>
              <a:rPr lang="en-CA" i="1" dirty="0"/>
              <a:t>/</a:t>
            </a:r>
            <a:r>
              <a:rPr lang="en-CA" i="1" dirty="0" err="1"/>
              <a:t>etc</a:t>
            </a:r>
            <a:r>
              <a:rPr lang="en-CA" i="1" dirty="0"/>
              <a:t> are general-purpose registers.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FD81F-1A01-9352-D4AF-62E8E90B902A}"/>
              </a:ext>
            </a:extLst>
          </p:cNvPr>
          <p:cNvSpPr/>
          <p:nvPr/>
        </p:nvSpPr>
        <p:spPr>
          <a:xfrm>
            <a:off x="638358" y="3532582"/>
            <a:ext cx="1399754" cy="2937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BA33F-8759-6ADA-B75C-42D32003C9D6}"/>
              </a:ext>
            </a:extLst>
          </p:cNvPr>
          <p:cNvSpPr/>
          <p:nvPr/>
        </p:nvSpPr>
        <p:spPr>
          <a:xfrm>
            <a:off x="638358" y="3826286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1B598B-DFB2-1F54-E69F-97986D76B1D3}"/>
              </a:ext>
            </a:extLst>
          </p:cNvPr>
          <p:cNvSpPr/>
          <p:nvPr/>
        </p:nvSpPr>
        <p:spPr>
          <a:xfrm>
            <a:off x="638358" y="4087129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9C736F-1403-BC57-76BE-C594FDE71F59}"/>
              </a:ext>
            </a:extLst>
          </p:cNvPr>
          <p:cNvSpPr/>
          <p:nvPr/>
        </p:nvSpPr>
        <p:spPr>
          <a:xfrm>
            <a:off x="638358" y="3271737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5AAC3B-8910-FBFD-7BDE-D8DE0CEEA4AC}"/>
              </a:ext>
            </a:extLst>
          </p:cNvPr>
          <p:cNvSpPr/>
          <p:nvPr/>
        </p:nvSpPr>
        <p:spPr>
          <a:xfrm>
            <a:off x="638358" y="4353886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1BD849-94FA-7759-9216-452699B77600}"/>
              </a:ext>
            </a:extLst>
          </p:cNvPr>
          <p:cNvSpPr/>
          <p:nvPr/>
        </p:nvSpPr>
        <p:spPr>
          <a:xfrm>
            <a:off x="10763219" y="2206611"/>
            <a:ext cx="1352581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9B7396-1580-11FA-8DDE-253A06481BDF}"/>
              </a:ext>
            </a:extLst>
          </p:cNvPr>
          <p:cNvSpPr/>
          <p:nvPr/>
        </p:nvSpPr>
        <p:spPr>
          <a:xfrm>
            <a:off x="10745954" y="3620497"/>
            <a:ext cx="136984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D54C37-7294-C6D9-80AE-E463F6D5D777}"/>
              </a:ext>
            </a:extLst>
          </p:cNvPr>
          <p:cNvSpPr/>
          <p:nvPr/>
        </p:nvSpPr>
        <p:spPr>
          <a:xfrm>
            <a:off x="10745954" y="2902728"/>
            <a:ext cx="136984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sub a0,a0,a1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910405-D482-F640-EC4D-C0F33CD9C196}"/>
              </a:ext>
            </a:extLst>
          </p:cNvPr>
          <p:cNvCxnSpPr>
            <a:cxnSpLocks/>
          </p:cNvCxnSpPr>
          <p:nvPr/>
        </p:nvCxnSpPr>
        <p:spPr>
          <a:xfrm>
            <a:off x="10541993" y="2705819"/>
            <a:ext cx="203961" cy="201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463A59A5-AD23-6D66-B080-F8434DD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220C5F7-BA95-6979-BBB1-5992AF558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79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" grpId="0" animBg="1"/>
      <p:bldP spid="3" grpId="1" animBg="1"/>
      <p:bldP spid="4" grpId="0" animBg="1"/>
      <p:bldP spid="4" grpId="1" animBg="1"/>
      <p:bldP spid="10" grpId="0" animBg="1"/>
      <p:bldP spid="10" grpId="1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EA09-FC6B-032B-DC60-401E655C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Pipeline Flush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99727-6B0A-43F0-9F6F-3E55A712B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FF0000"/>
                </a:solidFill>
              </a:rPr>
              <a:t>Flush:</a:t>
            </a:r>
          </a:p>
          <a:p>
            <a:r>
              <a:rPr lang="en-CA" dirty="0"/>
              <a:t>Control flow change means pipeline had the wrong instructions – need to throw away the current contents.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1C2A8-F34D-D0AC-E1A6-7CB3E8E11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30517-32DC-25C3-F3CD-57918E17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8563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31DF-D26A-48B4-8C19-23DEB0E6A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99" y="323333"/>
            <a:ext cx="11970202" cy="1325563"/>
          </a:xfrm>
        </p:spPr>
        <p:txBody>
          <a:bodyPr/>
          <a:lstStyle/>
          <a:p>
            <a:r>
              <a:rPr lang="en-CA" dirty="0"/>
              <a:t>e.g. Typical Specifications – Instruction Latency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878DA-C4E0-46B6-C23E-53CDD45C93C5}"/>
              </a:ext>
            </a:extLst>
          </p:cNvPr>
          <p:cNvSpPr txBox="1"/>
          <p:nvPr/>
        </p:nvSpPr>
        <p:spPr>
          <a:xfrm>
            <a:off x="1915160" y="58300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https://stnolting.github.io/neorv32/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787312-F671-7623-C2BE-096832D8C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55" y="1727378"/>
            <a:ext cx="7264925" cy="406598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E60D2-C78B-AF42-CAA0-DF0F7330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DF3A4-6E5C-BF58-7457-13BE8E56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40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157B-7224-335D-05DD-78838A4C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A Simple CPU Architecture</a:t>
            </a:r>
          </a:p>
        </p:txBody>
      </p:sp>
      <p:pic>
        <p:nvPicPr>
          <p:cNvPr id="4098" name="Picture 2" descr="neorv32 cpu">
            <a:extLst>
              <a:ext uri="{FF2B5EF4-FFF2-40B4-BE49-F238E27FC236}">
                <a16:creationId xmlns:a16="http://schemas.microsoft.com/office/drawing/2014/main" id="{96FF4DA0-60A8-13C4-E547-4F95F98992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03" y="1520825"/>
            <a:ext cx="10109097" cy="477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C49D9-D9D7-085C-190B-6E3E9D5E5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BFB78-5A9B-09D3-22FC-90A855CE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0528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E50B-7EEE-FDF9-D1BA-53849E28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Branch / Pipeline 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FB075-1577-7AE4-0B0A-40017E0E4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455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Q: </a:t>
            </a:r>
            <a:r>
              <a:rPr lang="en-CA" i="1" dirty="0"/>
              <a:t>In previous example – why not just stall pipeline until result is known?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A: </a:t>
            </a:r>
            <a:r>
              <a:rPr lang="en-CA" i="1" dirty="0"/>
              <a:t>Don’t know about the branch until “later” in pipeline.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A: </a:t>
            </a:r>
            <a:r>
              <a:rPr lang="en-CA" i="1" dirty="0"/>
              <a:t>It’s more efficient to just assume branch isn’t taken &amp; keep pipeline up. If branch is random you are right 50% of the time, rather than stalling 100% of the time.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58C8C-5035-E8FA-14B1-9A4C83E8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5F893-CF5A-430A-68AE-283F8C11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13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5279-07D4-3949-131B-41792A3C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Branch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A66E7-BCC6-7772-3824-97EC0B9AD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0658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What if we could </a:t>
            </a:r>
            <a:r>
              <a:rPr lang="en-CA" i="1" dirty="0"/>
              <a:t>predict</a:t>
            </a:r>
            <a:r>
              <a:rPr lang="en-CA" dirty="0"/>
              <a:t> which branches that will be taken? Could get better than 50%! Don’t need time travel even…</a:t>
            </a:r>
          </a:p>
        </p:txBody>
      </p:sp>
      <p:pic>
        <p:nvPicPr>
          <p:cNvPr id="15362" name="Picture 2" descr="Cedars | Tenet Review: Time Goes Backwards in Christopher Nolan's Latest  Epic">
            <a:extLst>
              <a:ext uri="{FF2B5EF4-FFF2-40B4-BE49-F238E27FC236}">
                <a16:creationId xmlns:a16="http://schemas.microsoft.com/office/drawing/2014/main" id="{0CE1F855-B04F-E7D1-582A-884455B10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185" y="2911968"/>
            <a:ext cx="2512695" cy="372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58792-AB6F-8E03-C54E-07A92DF7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E7381-2176-CB58-1FEA-39BB0BD0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544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9E35-7954-FB24-E8B7-2027D7780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99085"/>
            <a:ext cx="5603240" cy="1325563"/>
          </a:xfrm>
        </p:spPr>
        <p:txBody>
          <a:bodyPr/>
          <a:lstStyle/>
          <a:p>
            <a:r>
              <a:rPr lang="en-CA" dirty="0"/>
              <a:t>Motivation for Branch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5CAD7-D955-F4B2-DFFD-FAEC353B9642}"/>
              </a:ext>
            </a:extLst>
          </p:cNvPr>
          <p:cNvSpPr txBox="1"/>
          <p:nvPr/>
        </p:nvSpPr>
        <p:spPr>
          <a:xfrm>
            <a:off x="167640" y="2820014"/>
            <a:ext cx="655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datalen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process_byte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(data[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BC3DF-FEAB-6E52-F114-63457E087321}"/>
              </a:ext>
            </a:extLst>
          </p:cNvPr>
          <p:cNvSpPr txBox="1"/>
          <p:nvPr/>
        </p:nvSpPr>
        <p:spPr>
          <a:xfrm>
            <a:off x="6096000" y="237986"/>
            <a:ext cx="458216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loop(char*, int):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ra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.L6: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blt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.L7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ra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ra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.L7: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lbu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process_byte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.L6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4D2B36-4DF9-B330-53B4-D19A49AB045D}"/>
              </a:ext>
            </a:extLst>
          </p:cNvPr>
          <p:cNvSpPr/>
          <p:nvPr/>
        </p:nvSpPr>
        <p:spPr>
          <a:xfrm>
            <a:off x="6096000" y="2778760"/>
            <a:ext cx="3718560" cy="513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8F60E-702B-381C-EC62-B9246D3E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6E981-4A10-234D-D236-14FEFE1E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23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38DA-46DF-FE5E-F878-2981481D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Motivation for Branch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3880A-290A-C318-1362-06151DC4C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In this loop example </a:t>
            </a:r>
            <a:r>
              <a:rPr lang="en-CA" dirty="0">
                <a:sym typeface="Wingdings" panose="05000000000000000000" pitchFamily="2" charset="2"/>
              </a:rPr>
              <a:t> branch </a:t>
            </a:r>
            <a:r>
              <a:rPr lang="en-CA" u="sng" dirty="0">
                <a:sym typeface="Wingdings" panose="05000000000000000000" pitchFamily="2" charset="2"/>
              </a:rPr>
              <a:t>will be taken </a:t>
            </a:r>
            <a:r>
              <a:rPr lang="en-CA" dirty="0">
                <a:sym typeface="Wingdings" panose="05000000000000000000" pitchFamily="2" charset="2"/>
              </a:rPr>
              <a:t>continuously until only the </a:t>
            </a:r>
            <a:r>
              <a:rPr lang="en-CA" i="1" dirty="0">
                <a:sym typeface="Wingdings" panose="05000000000000000000" pitchFamily="2" charset="2"/>
              </a:rPr>
              <a:t>final</a:t>
            </a:r>
            <a:r>
              <a:rPr lang="en-CA" dirty="0">
                <a:sym typeface="Wingdings" panose="05000000000000000000" pitchFamily="2" charset="2"/>
              </a:rPr>
              <a:t> iteration. Imagine if </a:t>
            </a:r>
            <a:r>
              <a:rPr lang="en-CA" dirty="0" err="1">
                <a:sym typeface="Wingdings" panose="05000000000000000000" pitchFamily="2" charset="2"/>
              </a:rPr>
              <a:t>datalen</a:t>
            </a:r>
            <a:r>
              <a:rPr lang="en-CA" dirty="0">
                <a:sym typeface="Wingdings" panose="05000000000000000000" pitchFamily="2" charset="2"/>
              </a:rPr>
              <a:t> = 512, branch not taken 0.195% of time!</a:t>
            </a:r>
          </a:p>
          <a:p>
            <a:pPr marL="0" indent="0">
              <a:buNone/>
            </a:pPr>
            <a:endParaRPr lang="en-CA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 dirty="0">
                <a:sym typeface="Wingdings" panose="05000000000000000000" pitchFamily="2" charset="2"/>
              </a:rPr>
              <a:t>The default pipeline behaviour of “assume branch not taken” will have a large (negative) impact on this code-path! </a:t>
            </a:r>
          </a:p>
          <a:p>
            <a:pPr marL="0" indent="0">
              <a:buNone/>
            </a:pPr>
            <a:endParaRPr lang="en-CA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 dirty="0">
                <a:sym typeface="Wingdings" panose="05000000000000000000" pitchFamily="2" charset="2"/>
              </a:rPr>
              <a:t>e.g., for NEORV32, adds +3 </a:t>
            </a:r>
            <a:r>
              <a:rPr lang="en-CA" i="1" dirty="0">
                <a:sym typeface="Wingdings" panose="05000000000000000000" pitchFamily="2" charset="2"/>
              </a:rPr>
              <a:t>additional</a:t>
            </a:r>
            <a:r>
              <a:rPr lang="en-CA" dirty="0">
                <a:sym typeface="Wingdings" panose="05000000000000000000" pitchFamily="2" charset="2"/>
              </a:rPr>
              <a:t> cycles to the loop iteration each time it’s wrong.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D4B230-2703-71EE-9E15-5F6F581DB896}"/>
              </a:ext>
            </a:extLst>
          </p:cNvPr>
          <p:cNvSpPr/>
          <p:nvPr/>
        </p:nvSpPr>
        <p:spPr>
          <a:xfrm>
            <a:off x="746760" y="4577079"/>
            <a:ext cx="10515600" cy="15602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56550-6943-196D-0DFD-72FAFAD0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8BC17-87E3-19C8-64A2-3E626FD7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68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61DF-237A-17F5-BA23-098798ADA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6000" cy="1325563"/>
          </a:xfrm>
        </p:spPr>
        <p:txBody>
          <a:bodyPr/>
          <a:lstStyle/>
          <a:p>
            <a:r>
              <a:rPr lang="en-CA" dirty="0"/>
              <a:t>Branch Prediction Example: Pentium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A1CDAE-E634-9AAB-07C1-C7E9BBABEE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08434"/>
          <a:ext cx="10515600" cy="2362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0993820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436081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930917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538276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10393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History Bits</a:t>
                      </a:r>
                    </a:p>
                  </a:txBody>
                  <a:tcPr marL="38100" marR="381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Resulting Description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Prediction made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If branch taken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If branch not taken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93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11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Strongly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Branch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Remains in same state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Downgraded to weakly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613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10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Weakly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Branch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Upgraded to strongly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b="0">
                          <a:effectLst/>
                        </a:rPr>
                        <a:t>Downgraded to weakly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434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01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Weakly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Branch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Upgraded to weakly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b="0">
                          <a:effectLst/>
                        </a:rPr>
                        <a:t>Downgraded to strongly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28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00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Strongly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Branch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b="0">
                          <a:effectLst/>
                        </a:rPr>
                        <a:t>Upgraded to weakly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 dirty="0">
                          <a:effectLst/>
                        </a:rPr>
                        <a:t>Remains in same state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2906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464B1B8-F55C-F784-6D4C-CA7815CF43F3}"/>
              </a:ext>
            </a:extLst>
          </p:cNvPr>
          <p:cNvSpPr txBox="1"/>
          <p:nvPr/>
        </p:nvSpPr>
        <p:spPr>
          <a:xfrm>
            <a:off x="2905760" y="52661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https://www.geeksforgeeks.org/branch-prediction-in-pentium/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BE38A-1E12-6242-18FA-4FEBAA57D693}"/>
              </a:ext>
            </a:extLst>
          </p:cNvPr>
          <p:cNvSpPr txBox="1"/>
          <p:nvPr/>
        </p:nvSpPr>
        <p:spPr>
          <a:xfrm>
            <a:off x="949960" y="1752600"/>
            <a:ext cx="1017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Branch prediction logic: holds some statement information about latest N seen branch instructions. This state indicates the likely output of the branch: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6A00E5-DFD4-107B-AB95-42BAB720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8B6F5-5032-DF1E-2BF1-2A7E5D17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1276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AF7E-3290-42D2-425E-120332B3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CA" dirty="0"/>
              <a:t>Branch Prediction to Speculative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DF250-153A-E77D-65F7-01D23D1C1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Systems may </a:t>
            </a:r>
            <a:r>
              <a:rPr lang="en-CA" i="1" dirty="0"/>
              <a:t>speculatively execute</a:t>
            </a:r>
            <a:r>
              <a:rPr lang="en-CA" dirty="0"/>
              <a:t> instructions once we have branch prediction.</a:t>
            </a:r>
          </a:p>
          <a:p>
            <a:r>
              <a:rPr lang="en-CA" dirty="0"/>
              <a:t>Based on predicted branch, load new data into pipeline, and start executing it if something is slow (e.g., waiting on memory).</a:t>
            </a:r>
          </a:p>
          <a:p>
            <a:r>
              <a:rPr lang="en-CA" dirty="0"/>
              <a:t>Need to “unwind” any executed instructions if branch wasn’t taken.</a:t>
            </a:r>
          </a:p>
          <a:p>
            <a:pPr lvl="1"/>
            <a:r>
              <a:rPr lang="en-CA" dirty="0"/>
              <a:t>e.g., can’t start writing to registers yet!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9773F-8645-9910-56A2-5E604F6F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03472-BB5D-D53B-A478-B98488FD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1841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29C6-88B3-B7C5-CB85-1B8FC0B0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Array Lookup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C0735-0325-F48D-00D9-9CBBA91A1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06295"/>
          </a:xfrm>
        </p:spPr>
        <p:txBody>
          <a:bodyPr/>
          <a:lstStyle/>
          <a:p>
            <a:r>
              <a:rPr lang="en-CA" dirty="0"/>
              <a:t>Assume we had some array lookup routine like this: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87369-A99E-AD55-084A-7AEF62984045}"/>
              </a:ext>
            </a:extLst>
          </p:cNvPr>
          <p:cNvSpPr txBox="1"/>
          <p:nvPr/>
        </p:nvSpPr>
        <p:spPr>
          <a:xfrm>
            <a:off x="2002486" y="2835811"/>
            <a:ext cx="6212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generic_lookup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data,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49880-97C1-430F-137C-88DD340F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E3C8D-2CF8-D009-1171-5939780D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16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05A85-0B23-42BA-ED68-0249FB8765D0}"/>
              </a:ext>
            </a:extLst>
          </p:cNvPr>
          <p:cNvSpPr txBox="1"/>
          <p:nvPr/>
        </p:nvSpPr>
        <p:spPr>
          <a:xfrm>
            <a:off x="7956621" y="3818413"/>
            <a:ext cx="3310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Bounds checking (security!!!)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0E256D-19B8-9873-9EA7-BEA61522DF41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4430332" y="3586766"/>
            <a:ext cx="3526289" cy="416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A9F522-A90A-92A1-C80E-D559CBE9C026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788276" y="4003079"/>
            <a:ext cx="5168345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604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08F07-DA87-FCAF-0C6F-AFA02C50F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1FA6A-AD65-8B2D-400C-AF3F710D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Array Lookup (No Bounds Checking)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2CAA-1610-A2F9-5F93-2A7F2B176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67969"/>
          </a:xfrm>
        </p:spPr>
        <p:txBody>
          <a:bodyPr>
            <a:normAutofit/>
          </a:bodyPr>
          <a:lstStyle/>
          <a:p>
            <a:r>
              <a:rPr lang="en-CA" dirty="0"/>
              <a:t>Without bounds checking, attacker could take this function: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And do this: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4C0CB-925E-0371-2683-15043AA2146F}"/>
              </a:ext>
            </a:extLst>
          </p:cNvPr>
          <p:cNvSpPr txBox="1"/>
          <p:nvPr/>
        </p:nvSpPr>
        <p:spPr>
          <a:xfrm>
            <a:off x="1720403" y="2578233"/>
            <a:ext cx="6212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generic_lookup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data,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1" strike="sngStrike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if (</a:t>
            </a:r>
            <a:r>
              <a:rPr lang="en-US" b="1" strike="sngStrike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strike="sngStrike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 256){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1" strike="sngStrike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return 0;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FCF40-B561-3B55-D9CF-F1B1FFD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31131-0EAA-AC98-1B13-790E4EBC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17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02661-6A7B-83F1-88D1-4D593B99CAEE}"/>
              </a:ext>
            </a:extLst>
          </p:cNvPr>
          <p:cNvSpPr txBox="1"/>
          <p:nvPr/>
        </p:nvSpPr>
        <p:spPr>
          <a:xfrm>
            <a:off x="1720403" y="4995014"/>
            <a:ext cx="621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generic_lookup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valid_array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4000028);</a:t>
            </a:r>
          </a:p>
        </p:txBody>
      </p:sp>
    </p:spTree>
    <p:extLst>
      <p:ext uri="{BB962C8B-B14F-4D97-AF65-F5344CB8AC3E}">
        <p14:creationId xmlns:p14="http://schemas.microsoft.com/office/powerpoint/2010/main" val="1992506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29C6-88B3-B7C5-CB85-1B8FC0B0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Speculative Execution &amp;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87369-A99E-AD55-084A-7AEF62984045}"/>
              </a:ext>
            </a:extLst>
          </p:cNvPr>
          <p:cNvSpPr txBox="1"/>
          <p:nvPr/>
        </p:nvSpPr>
        <p:spPr>
          <a:xfrm>
            <a:off x="784860" y="2418080"/>
            <a:ext cx="6212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generic_lookup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data,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F2290-2667-78B3-EDA8-3FE31BB64C38}"/>
              </a:ext>
            </a:extLst>
          </p:cNvPr>
          <p:cNvSpPr txBox="1"/>
          <p:nvPr/>
        </p:nvSpPr>
        <p:spPr>
          <a:xfrm>
            <a:off x="7581900" y="2418080"/>
            <a:ext cx="62128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generic_lookup</a:t>
            </a:r>
            <a:r>
              <a:rPr lang="en-CA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(char*, int):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bgt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lbu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.L11: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76AB2A1-ABEB-9CAB-49CC-6AC21DFC6322}"/>
              </a:ext>
            </a:extLst>
          </p:cNvPr>
          <p:cNvSpPr/>
          <p:nvPr/>
        </p:nvSpPr>
        <p:spPr>
          <a:xfrm>
            <a:off x="6771640" y="2626360"/>
            <a:ext cx="594360" cy="2265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78AE4-4C00-2B62-97FF-0BEF71FE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B4A56-4113-966E-6836-C952AFF5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0512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29C6-88B3-B7C5-CB85-1B8FC0B0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Speculative Execution &amp; 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F2290-2667-78B3-EDA8-3FE31BB64C38}"/>
              </a:ext>
            </a:extLst>
          </p:cNvPr>
          <p:cNvSpPr txBox="1"/>
          <p:nvPr/>
        </p:nvSpPr>
        <p:spPr>
          <a:xfrm>
            <a:off x="1089503" y="2094347"/>
            <a:ext cx="44526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read_another_array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(char*, int):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bgt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lbu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.L11: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1EF3E0-65C6-3621-47DA-301FD95F9AAA}"/>
              </a:ext>
            </a:extLst>
          </p:cNvPr>
          <p:cNvCxnSpPr>
            <a:cxnSpLocks/>
          </p:cNvCxnSpPr>
          <p:nvPr/>
        </p:nvCxnSpPr>
        <p:spPr>
          <a:xfrm flipH="1">
            <a:off x="4257040" y="2743200"/>
            <a:ext cx="1838960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AC4F19F-97D3-C698-37B1-BB63B5CEED48}"/>
              </a:ext>
            </a:extLst>
          </p:cNvPr>
          <p:cNvSpPr txBox="1"/>
          <p:nvPr/>
        </p:nvSpPr>
        <p:spPr>
          <a:xfrm>
            <a:off x="6111240" y="2446383"/>
            <a:ext cx="41198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load gets executed even if our “safety condition” is false (out of bounds read).</a:t>
            </a:r>
          </a:p>
          <a:p>
            <a:endParaRPr lang="en-CA" dirty="0"/>
          </a:p>
          <a:p>
            <a:r>
              <a:rPr lang="en-CA" dirty="0"/>
              <a:t>This causes data to get loaded into the </a:t>
            </a:r>
            <a:r>
              <a:rPr lang="en-CA" b="1" dirty="0"/>
              <a:t>cache</a:t>
            </a:r>
            <a:r>
              <a:rPr lang="en-CA" dirty="0"/>
              <a:t>!</a:t>
            </a:r>
          </a:p>
          <a:p>
            <a:endParaRPr lang="en-CA" dirty="0"/>
          </a:p>
          <a:p>
            <a:r>
              <a:rPr lang="en-CA" dirty="0"/>
              <a:t>We now have part of a cache-timing attack</a:t>
            </a:r>
            <a:r>
              <a:rPr lang="en-CA" b="1" dirty="0"/>
              <a:t> </a:t>
            </a:r>
            <a:r>
              <a:rPr lang="en-CA" dirty="0"/>
              <a:t>on memory we can’t otherwise touch!</a:t>
            </a:r>
          </a:p>
          <a:p>
            <a:endParaRPr lang="en-CA" dirty="0"/>
          </a:p>
          <a:p>
            <a:r>
              <a:rPr lang="en-CA" dirty="0"/>
              <a:t>But this doesn’t let as read anything still, as execution was blocked (even though cache was loaded). What to do…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A6E206-8D04-814C-C560-620B2200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6B3A-16F0-6ED4-67DC-2964C9E6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91507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29C6-88B3-B7C5-CB85-1B8FC0B0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Spectre – Reading Specific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F2290-2667-78B3-EDA8-3FE31BB64C38}"/>
              </a:ext>
            </a:extLst>
          </p:cNvPr>
          <p:cNvSpPr txBox="1"/>
          <p:nvPr/>
        </p:nvSpPr>
        <p:spPr>
          <a:xfrm>
            <a:off x="2019142" y="2394067"/>
            <a:ext cx="6738777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(x &lt; array1_size)</a:t>
            </a:r>
            <a:endParaRPr lang="en-CA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y = array2[ array1[x] * 128 ];</a:t>
            </a:r>
            <a:endParaRPr lang="en-CA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C8A486-FD23-0642-4E65-9DAC4132E645}"/>
              </a:ext>
            </a:extLst>
          </p:cNvPr>
          <p:cNvCxnSpPr/>
          <p:nvPr/>
        </p:nvCxnSpPr>
        <p:spPr>
          <a:xfrm flipH="1">
            <a:off x="5278120" y="2321560"/>
            <a:ext cx="2667000" cy="563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3C823F-AE42-49F9-6424-BE01AC91E5ED}"/>
              </a:ext>
            </a:extLst>
          </p:cNvPr>
          <p:cNvSpPr txBox="1"/>
          <p:nvPr/>
        </p:nvSpPr>
        <p:spPr>
          <a:xfrm>
            <a:off x="8097520" y="2123440"/>
            <a:ext cx="3190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Value of array1[x] (e.g., the value of that memory) is used to Index array2.</a:t>
            </a:r>
          </a:p>
          <a:p>
            <a:endParaRPr lang="en-CA" dirty="0"/>
          </a:p>
          <a:p>
            <a:r>
              <a:rPr lang="en-CA" dirty="0"/>
              <a:t>NOTE: array1 &amp; array2 are some “non-sensitive” memory.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13406-6300-213F-13C2-DB13372D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13B95-B59B-586E-E689-91D221E7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20</a:t>
            </a:fld>
            <a:endParaRPr lang="en-CA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273473-CCE0-2885-752E-D6CAB6BA4AFB}"/>
              </a:ext>
            </a:extLst>
          </p:cNvPr>
          <p:cNvCxnSpPr>
            <a:cxnSpLocks/>
          </p:cNvCxnSpPr>
          <p:nvPr/>
        </p:nvCxnSpPr>
        <p:spPr>
          <a:xfrm flipV="1">
            <a:off x="4134394" y="3122023"/>
            <a:ext cx="751115" cy="1443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1BE923-F68F-8B5D-C01F-43D102A8A3CF}"/>
              </a:ext>
            </a:extLst>
          </p:cNvPr>
          <p:cNvCxnSpPr>
            <a:cxnSpLocks/>
          </p:cNvCxnSpPr>
          <p:nvPr/>
        </p:nvCxnSpPr>
        <p:spPr>
          <a:xfrm flipH="1" flipV="1">
            <a:off x="3651069" y="3176910"/>
            <a:ext cx="387531" cy="1388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154ECA9-F295-5185-1B2A-CC2E6535DE71}"/>
              </a:ext>
            </a:extLst>
          </p:cNvPr>
          <p:cNvSpPr txBox="1"/>
          <p:nvPr/>
        </p:nvSpPr>
        <p:spPr>
          <a:xfrm>
            <a:off x="2654663" y="4507327"/>
            <a:ext cx="319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Memory we can read normally.</a:t>
            </a:r>
          </a:p>
        </p:txBody>
      </p:sp>
    </p:spTree>
    <p:extLst>
      <p:ext uri="{BB962C8B-B14F-4D97-AF65-F5344CB8AC3E}">
        <p14:creationId xmlns:p14="http://schemas.microsoft.com/office/powerpoint/2010/main" val="2853564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29C6-88B3-B7C5-CB85-1B8FC0B0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Spectre – Reading Specific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F2290-2667-78B3-EDA8-3FE31BB64C38}"/>
              </a:ext>
            </a:extLst>
          </p:cNvPr>
          <p:cNvSpPr txBox="1"/>
          <p:nvPr/>
        </p:nvSpPr>
        <p:spPr>
          <a:xfrm>
            <a:off x="2019142" y="2394067"/>
            <a:ext cx="6738777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(x &lt; array1_size)</a:t>
            </a:r>
            <a:endParaRPr lang="en-CA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y = array2[ array1[x] * 128 ];</a:t>
            </a:r>
            <a:endParaRPr lang="en-CA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C8A486-FD23-0642-4E65-9DAC4132E645}"/>
              </a:ext>
            </a:extLst>
          </p:cNvPr>
          <p:cNvCxnSpPr/>
          <p:nvPr/>
        </p:nvCxnSpPr>
        <p:spPr>
          <a:xfrm flipH="1">
            <a:off x="5278120" y="2321560"/>
            <a:ext cx="2667000" cy="563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3C823F-AE42-49F9-6424-BE01AC91E5ED}"/>
              </a:ext>
            </a:extLst>
          </p:cNvPr>
          <p:cNvSpPr txBox="1"/>
          <p:nvPr/>
        </p:nvSpPr>
        <p:spPr>
          <a:xfrm>
            <a:off x="8097520" y="2123440"/>
            <a:ext cx="3190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Value of array1[x] (e.g., the value of that memory) is used to Index array2.</a:t>
            </a:r>
          </a:p>
          <a:p>
            <a:endParaRPr lang="en-CA" dirty="0"/>
          </a:p>
          <a:p>
            <a:r>
              <a:rPr lang="en-CA" dirty="0"/>
              <a:t>NOTE: array1 &amp; array2 are some “non-sensitive” memory.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13406-6300-213F-13C2-DB13372D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13B95-B59B-586E-E689-91D221E7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21</a:t>
            </a:fld>
            <a:endParaRPr lang="en-CA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273473-CCE0-2885-752E-D6CAB6BA4AFB}"/>
              </a:ext>
            </a:extLst>
          </p:cNvPr>
          <p:cNvCxnSpPr>
            <a:cxnSpLocks/>
          </p:cNvCxnSpPr>
          <p:nvPr/>
        </p:nvCxnSpPr>
        <p:spPr>
          <a:xfrm flipV="1">
            <a:off x="4134394" y="3122023"/>
            <a:ext cx="751115" cy="1443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1BE923-F68F-8B5D-C01F-43D102A8A3CF}"/>
              </a:ext>
            </a:extLst>
          </p:cNvPr>
          <p:cNvCxnSpPr>
            <a:cxnSpLocks/>
          </p:cNvCxnSpPr>
          <p:nvPr/>
        </p:nvCxnSpPr>
        <p:spPr>
          <a:xfrm flipH="1" flipV="1">
            <a:off x="3651069" y="3176910"/>
            <a:ext cx="387531" cy="1388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154ECA9-F295-5185-1B2A-CC2E6535DE71}"/>
              </a:ext>
            </a:extLst>
          </p:cNvPr>
          <p:cNvSpPr txBox="1"/>
          <p:nvPr/>
        </p:nvSpPr>
        <p:spPr>
          <a:xfrm>
            <a:off x="2654663" y="4507327"/>
            <a:ext cx="319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Memory we can read normally.</a:t>
            </a:r>
          </a:p>
        </p:txBody>
      </p:sp>
    </p:spTree>
    <p:extLst>
      <p:ext uri="{BB962C8B-B14F-4D97-AF65-F5344CB8AC3E}">
        <p14:creationId xmlns:p14="http://schemas.microsoft.com/office/powerpoint/2010/main" val="3386750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29C6-88B3-B7C5-CB85-1B8FC0B0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Spectre – Reading Specific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F2290-2667-78B3-EDA8-3FE31BB64C38}"/>
              </a:ext>
            </a:extLst>
          </p:cNvPr>
          <p:cNvSpPr txBox="1"/>
          <p:nvPr/>
        </p:nvSpPr>
        <p:spPr>
          <a:xfrm>
            <a:off x="876868" y="2918990"/>
            <a:ext cx="6738777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(x &lt; array1_size)</a:t>
            </a:r>
            <a:endParaRPr lang="en-CA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y = array2[ array1[x] * 128 ];</a:t>
            </a:r>
            <a:endParaRPr lang="en-CA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A1FAE0-E475-13D7-17FE-D662618A1FCA}"/>
              </a:ext>
            </a:extLst>
          </p:cNvPr>
          <p:cNvSpPr/>
          <p:nvPr/>
        </p:nvSpPr>
        <p:spPr>
          <a:xfrm>
            <a:off x="7792721" y="4829937"/>
            <a:ext cx="1635758" cy="10222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array1[]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806B-C327-BF1A-06EC-77838E4D8A6D}"/>
              </a:ext>
            </a:extLst>
          </p:cNvPr>
          <p:cNvSpPr/>
          <p:nvPr/>
        </p:nvSpPr>
        <p:spPr>
          <a:xfrm>
            <a:off x="7792721" y="1469706"/>
            <a:ext cx="1635758" cy="2211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array2[]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1A63A-5F92-4477-14C8-8275D82FD372}"/>
              </a:ext>
            </a:extLst>
          </p:cNvPr>
          <p:cNvSpPr/>
          <p:nvPr/>
        </p:nvSpPr>
        <p:spPr>
          <a:xfrm>
            <a:off x="7792721" y="4164222"/>
            <a:ext cx="1635758" cy="665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enc_key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7603A-1E5C-0B5F-0CDC-DF4A316DE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6D9B0-169B-C2E9-1E95-F36EBEBA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22</a:t>
            </a:fld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FAFD71-13F4-DB44-F0CE-27BA4EBBDBD3}"/>
              </a:ext>
            </a:extLst>
          </p:cNvPr>
          <p:cNvCxnSpPr>
            <a:cxnSpLocks/>
          </p:cNvCxnSpPr>
          <p:nvPr/>
        </p:nvCxnSpPr>
        <p:spPr>
          <a:xfrm flipV="1">
            <a:off x="6048103" y="4544561"/>
            <a:ext cx="1626326" cy="1004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021888-140A-7387-CBE5-62467A871B93}"/>
              </a:ext>
            </a:extLst>
          </p:cNvPr>
          <p:cNvCxnSpPr>
            <a:cxnSpLocks/>
          </p:cNvCxnSpPr>
          <p:nvPr/>
        </p:nvCxnSpPr>
        <p:spPr>
          <a:xfrm flipV="1">
            <a:off x="4296953" y="3651797"/>
            <a:ext cx="567511" cy="665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C3B2B2D-8292-EBD4-85C2-5C1C5A862294}"/>
              </a:ext>
            </a:extLst>
          </p:cNvPr>
          <p:cNvSpPr txBox="1"/>
          <p:nvPr/>
        </p:nvSpPr>
        <p:spPr>
          <a:xfrm>
            <a:off x="500743" y="4006805"/>
            <a:ext cx="4245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causes array elements to be spread over larger area, making it more obvious what input value was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FBEFAC-6191-055C-3AE6-0F71F126198D}"/>
              </a:ext>
            </a:extLst>
          </p:cNvPr>
          <p:cNvSpPr txBox="1"/>
          <p:nvPr/>
        </p:nvSpPr>
        <p:spPr>
          <a:xfrm>
            <a:off x="2372359" y="5431974"/>
            <a:ext cx="424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Secret is held </a:t>
            </a:r>
            <a:r>
              <a:rPr lang="en-CA" i="1" dirty="0"/>
              <a:t>after</a:t>
            </a:r>
            <a:r>
              <a:rPr lang="en-CA" dirty="0"/>
              <a:t> array1[] in memory.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EE5DD8-AC44-1692-E4E8-574D40902D07}"/>
              </a:ext>
            </a:extLst>
          </p:cNvPr>
          <p:cNvCxnSpPr>
            <a:cxnSpLocks/>
          </p:cNvCxnSpPr>
          <p:nvPr/>
        </p:nvCxnSpPr>
        <p:spPr>
          <a:xfrm flipH="1" flipV="1">
            <a:off x="9487988" y="1540712"/>
            <a:ext cx="799012" cy="1034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59888F-967B-91E3-A0E0-9F96D9CDC491}"/>
              </a:ext>
            </a:extLst>
          </p:cNvPr>
          <p:cNvSpPr txBox="1"/>
          <p:nvPr/>
        </p:nvSpPr>
        <p:spPr>
          <a:xfrm>
            <a:off x="9605555" y="2550656"/>
            <a:ext cx="2264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array2[] address doesn’t matter. We just use it to measure the cache status.</a:t>
            </a:r>
          </a:p>
        </p:txBody>
      </p:sp>
    </p:spTree>
    <p:extLst>
      <p:ext uri="{BB962C8B-B14F-4D97-AF65-F5344CB8AC3E}">
        <p14:creationId xmlns:p14="http://schemas.microsoft.com/office/powerpoint/2010/main" val="2483171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29C6-88B3-B7C5-CB85-1B8FC0B0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Spectre – Reading Specific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F2290-2667-78B3-EDA8-3FE31BB64C38}"/>
              </a:ext>
            </a:extLst>
          </p:cNvPr>
          <p:cNvSpPr txBox="1"/>
          <p:nvPr/>
        </p:nvSpPr>
        <p:spPr>
          <a:xfrm>
            <a:off x="2080102" y="1772658"/>
            <a:ext cx="6738777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(x &lt; array1_size)</a:t>
            </a:r>
            <a:endParaRPr lang="en-CA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y = array2[ array1[x] * 128 ];</a:t>
            </a:r>
            <a:endParaRPr lang="en-CA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E9529-FDE9-E175-B8B6-76859655BD38}"/>
              </a:ext>
            </a:extLst>
          </p:cNvPr>
          <p:cNvSpPr txBox="1"/>
          <p:nvPr/>
        </p:nvSpPr>
        <p:spPr>
          <a:xfrm>
            <a:off x="1508760" y="3175000"/>
            <a:ext cx="62941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CA" dirty="0"/>
              <a:t>Train branch predictor by sending valid values of ‘x’.</a:t>
            </a:r>
          </a:p>
          <a:p>
            <a:pPr marL="342900" indent="-342900">
              <a:buAutoNum type="arabicPeriod"/>
            </a:pPr>
            <a:r>
              <a:rPr lang="en-CA" dirty="0"/>
              <a:t>Send a value of ‘x’ allowing you to access data in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enc_key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(which will be blocked by if statement)</a:t>
            </a:r>
          </a:p>
          <a:p>
            <a:pPr marL="342900" indent="-342900">
              <a:buAutoNum type="arabicPeriod"/>
            </a:pPr>
            <a:r>
              <a:rPr lang="en-CA" dirty="0"/>
              <a:t>Speculative execution happens </a:t>
            </a:r>
            <a:r>
              <a:rPr lang="en-CA" i="1" dirty="0"/>
              <a:t>before</a:t>
            </a:r>
            <a:r>
              <a:rPr lang="en-CA" dirty="0"/>
              <a:t> execution blocked, the speculative execution does the value lookup from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enc_key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dirty="0"/>
              <a:t>and then does the lookup into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array2[]</a:t>
            </a:r>
          </a:p>
          <a:p>
            <a:pPr marL="342900" indent="-342900">
              <a:buAutoNum type="arabicPeriod"/>
            </a:pPr>
            <a:r>
              <a:rPr lang="en-CA" dirty="0">
                <a:cs typeface="Courier New" panose="02070309020205020404" pitchFamily="49" charset="0"/>
              </a:rPr>
              <a:t>Use cache probe to figure out what address of array2[] was loaded in speculative execution.</a:t>
            </a:r>
          </a:p>
          <a:p>
            <a:pPr marL="342900" indent="-342900">
              <a:buAutoNum type="arabicPeriod"/>
            </a:pPr>
            <a:r>
              <a:rPr lang="en-CA" dirty="0">
                <a:cs typeface="Courier New" panose="02070309020205020404" pitchFamily="49" charset="0"/>
              </a:rPr>
              <a:t>From address, calculate </a:t>
            </a:r>
            <a:r>
              <a:rPr lang="en-CA" b="1" u="sng" dirty="0">
                <a:cs typeface="Courier New" panose="02070309020205020404" pitchFamily="49" charset="0"/>
              </a:rPr>
              <a:t>value</a:t>
            </a:r>
            <a:r>
              <a:rPr lang="en-CA" dirty="0">
                <a:cs typeface="Courier New" panose="02070309020205020404" pitchFamily="49" charset="0"/>
              </a:rPr>
              <a:t> of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enc_key</a:t>
            </a:r>
            <a:r>
              <a:rPr lang="en-CA" dirty="0">
                <a:cs typeface="Courier New" panose="02070309020205020404" pitchFamily="49" charset="0"/>
              </a:rPr>
              <a:t> loaded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DED25-A2CA-2985-A059-105CE7D2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0F700-EDE5-829A-CCE6-58F3C367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23</a:t>
            </a:fld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74A3ED-150E-BFED-4DB5-CA221DD66E5B}"/>
              </a:ext>
            </a:extLst>
          </p:cNvPr>
          <p:cNvSpPr/>
          <p:nvPr/>
        </p:nvSpPr>
        <p:spPr>
          <a:xfrm>
            <a:off x="8818879" y="5431415"/>
            <a:ext cx="1635758" cy="605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array1[]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A2181A-5C27-0C79-EE74-E783E743E0E8}"/>
              </a:ext>
            </a:extLst>
          </p:cNvPr>
          <p:cNvSpPr/>
          <p:nvPr/>
        </p:nvSpPr>
        <p:spPr>
          <a:xfrm>
            <a:off x="8818879" y="1654859"/>
            <a:ext cx="1635758" cy="2211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array2[]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88B4E5-B77F-FB0C-4B08-F7F46C478D5D}"/>
              </a:ext>
            </a:extLst>
          </p:cNvPr>
          <p:cNvSpPr/>
          <p:nvPr/>
        </p:nvSpPr>
        <p:spPr>
          <a:xfrm>
            <a:off x="8818879" y="4349375"/>
            <a:ext cx="1635758" cy="1082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enc_key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298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739A-7C9A-B42C-ECC4-A5DE1231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Another Way: Meltdown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6439A-2A83-DC7B-9F7D-D7130ACC6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Meltdown is a related attack that also takes advantage of speculative execution &amp; cache timing attacks.</a:t>
            </a:r>
          </a:p>
          <a:p>
            <a:r>
              <a:rPr lang="en-CA" dirty="0"/>
              <a:t>Normally if you access memory you don’t have permission to read an exception is raised.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But </a:t>
            </a:r>
            <a:r>
              <a:rPr lang="en-CA" i="1" dirty="0"/>
              <a:t>speculatively</a:t>
            </a:r>
            <a:r>
              <a:rPr lang="en-CA" dirty="0"/>
              <a:t> accessed memory has no exception raised!</a:t>
            </a:r>
          </a:p>
        </p:txBody>
      </p:sp>
    </p:spTree>
    <p:extLst>
      <p:ext uri="{BB962C8B-B14F-4D97-AF65-F5344CB8AC3E}">
        <p14:creationId xmlns:p14="http://schemas.microsoft.com/office/powerpoint/2010/main" val="155170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739A-7C9A-B42C-ECC4-A5DE1231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Another Way: Meltdown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6439A-2A83-DC7B-9F7D-D7130ACC6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43901"/>
          </a:xfrm>
        </p:spPr>
        <p:txBody>
          <a:bodyPr/>
          <a:lstStyle/>
          <a:p>
            <a:r>
              <a:rPr lang="en-CA" dirty="0"/>
              <a:t>It turns out the memory is accessed (and thus cached) </a:t>
            </a:r>
            <a:r>
              <a:rPr lang="en-CA" i="1" dirty="0"/>
              <a:t>before</a:t>
            </a:r>
            <a:r>
              <a:rPr lang="en-CA" dirty="0"/>
              <a:t> the permission check happens in the implementation.</a:t>
            </a:r>
          </a:p>
          <a:p>
            <a:r>
              <a:rPr lang="en-CA" dirty="0"/>
              <a:t>You CAN do a cache timing attack against memory you don’t have permission to read….</a:t>
            </a:r>
          </a:p>
          <a:p>
            <a:pPr marL="0" indent="0">
              <a:buNone/>
            </a:pPr>
            <a:r>
              <a:rPr lang="en-CA" dirty="0"/>
              <a:t>	…but there would be exceptions raised.</a:t>
            </a:r>
          </a:p>
          <a:p>
            <a:pPr marL="0" indent="0">
              <a:buNone/>
            </a:pPr>
            <a:endParaRPr lang="en-CA" dirty="0"/>
          </a:p>
          <a:p>
            <a:pPr lvl="1"/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169A0B-10A9-C2E0-7298-14D3309F02A5}"/>
              </a:ext>
            </a:extLst>
          </p:cNvPr>
          <p:cNvSpPr txBox="1">
            <a:spLocks/>
          </p:cNvSpPr>
          <p:nvPr/>
        </p:nvSpPr>
        <p:spPr>
          <a:xfrm>
            <a:off x="838200" y="4504464"/>
            <a:ext cx="10515600" cy="1537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/>
              <a:t>Speculatively accessed memory has no exceptions raised!!</a:t>
            </a:r>
          </a:p>
          <a:p>
            <a:r>
              <a:rPr lang="en-CA" dirty="0"/>
              <a:t>Meltdown simply makes the cache-timing attack practical, since we don’t generate the exceptions.</a:t>
            </a:r>
          </a:p>
        </p:txBody>
      </p:sp>
    </p:spTree>
    <p:extLst>
      <p:ext uri="{BB962C8B-B14F-4D97-AF65-F5344CB8AC3E}">
        <p14:creationId xmlns:p14="http://schemas.microsoft.com/office/powerpoint/2010/main" val="3070536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F803-4B40-7F80-3DFD-58E3B29D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Microarchitectural Side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A8182-ABED-D1E6-5F9F-51CC12D7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These sorts of </a:t>
            </a:r>
            <a:r>
              <a:rPr lang="en-CA" i="1" dirty="0" err="1"/>
              <a:t>microarchitectual</a:t>
            </a:r>
            <a:r>
              <a:rPr lang="en-CA" dirty="0"/>
              <a:t> attacks take advantage of the microarchitecture (implementation) of microcontrollers.</a:t>
            </a:r>
          </a:p>
          <a:p>
            <a:r>
              <a:rPr lang="en-CA" dirty="0"/>
              <a:t>Speculative execution has lead to a number of leaks, generally based on the principles discussed here. </a:t>
            </a:r>
          </a:p>
        </p:txBody>
      </p:sp>
    </p:spTree>
    <p:extLst>
      <p:ext uri="{BB962C8B-B14F-4D97-AF65-F5344CB8AC3E}">
        <p14:creationId xmlns:p14="http://schemas.microsoft.com/office/powerpoint/2010/main" val="651539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C36C-956E-8524-B8BD-AEE34CFE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Important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A13B9-80FE-ED9B-E374-BC0B3F6E6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2744"/>
            <a:ext cx="10515600" cy="4351338"/>
          </a:xfrm>
        </p:spPr>
        <p:txBody>
          <a:bodyPr>
            <a:normAutofit/>
          </a:bodyPr>
          <a:lstStyle/>
          <a:p>
            <a:r>
              <a:rPr lang="en-CA" dirty="0"/>
              <a:t>The architecture of devices, such as the cache &amp; instruction speculative execution logic, leads to many side channels.</a:t>
            </a:r>
          </a:p>
          <a:p>
            <a:endParaRPr lang="en-CA" dirty="0"/>
          </a:p>
          <a:p>
            <a:r>
              <a:rPr lang="en-CA" dirty="0"/>
              <a:t>Spectre &amp; Meltdown Both Result in much more powerful attacks than only Cache Timing attacks </a:t>
            </a:r>
          </a:p>
        </p:txBody>
      </p:sp>
    </p:spTree>
    <p:extLst>
      <p:ext uri="{BB962C8B-B14F-4D97-AF65-F5344CB8AC3E}">
        <p14:creationId xmlns:p14="http://schemas.microsoft.com/office/powerpoint/2010/main" val="25823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1799</Words>
  <Application>Microsoft Office PowerPoint</Application>
  <PresentationFormat>Widescreen</PresentationFormat>
  <Paragraphs>270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Courier New</vt:lpstr>
      <vt:lpstr>Wingdings</vt:lpstr>
      <vt:lpstr>Office Theme</vt:lpstr>
      <vt:lpstr>0x507 – Spectre &amp; Meltdown (More Microarchitectural)</vt:lpstr>
      <vt:lpstr>Basic Cache Timing Attack (Again)</vt:lpstr>
      <vt:lpstr>Cache-Timing Attack</vt:lpstr>
      <vt:lpstr>Caveat for the Pedantic</vt:lpstr>
      <vt:lpstr>Cache Attack  Memory Leakage</vt:lpstr>
      <vt:lpstr>Pipeline with Branch</vt:lpstr>
      <vt:lpstr>Pipeline Flush</vt:lpstr>
      <vt:lpstr>e.g. Typical Specifications – Instruction Latency</vt:lpstr>
      <vt:lpstr>Example: A Simple CPU Architecture</vt:lpstr>
      <vt:lpstr>Branch / Pipeline Stall</vt:lpstr>
      <vt:lpstr>Branch Prediction</vt:lpstr>
      <vt:lpstr>Motivation for Branch Prediction</vt:lpstr>
      <vt:lpstr>Motivation for Branch Prediction</vt:lpstr>
      <vt:lpstr>Branch Prediction Example: Pentium</vt:lpstr>
      <vt:lpstr>Branch Prediction to Speculative Execution</vt:lpstr>
      <vt:lpstr>Array Lookup</vt:lpstr>
      <vt:lpstr>Array Lookup (No Bounds Checking)</vt:lpstr>
      <vt:lpstr>Speculative Execution &amp; Prediction</vt:lpstr>
      <vt:lpstr>Speculative Execution &amp; Prediction</vt:lpstr>
      <vt:lpstr>Spectre – Reading Specific Values</vt:lpstr>
      <vt:lpstr>Spectre – Reading Specific Values</vt:lpstr>
      <vt:lpstr>Spectre – Reading Specific Values</vt:lpstr>
      <vt:lpstr>Spectre – Reading Specific Values</vt:lpstr>
      <vt:lpstr>Another Way: Meltdown</vt:lpstr>
      <vt:lpstr>Another Way: Meltdown</vt:lpstr>
      <vt:lpstr>Microarchitectural Side Channels</vt:lpstr>
      <vt:lpstr>Important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O'Flynn</dc:creator>
  <cp:lastModifiedBy>Colin O'Flynn</cp:lastModifiedBy>
  <cp:revision>13</cp:revision>
  <dcterms:created xsi:type="dcterms:W3CDTF">2023-11-26T20:20:16Z</dcterms:created>
  <dcterms:modified xsi:type="dcterms:W3CDTF">2026-03-26T12:00:14Z</dcterms:modified>
</cp:coreProperties>
</file>