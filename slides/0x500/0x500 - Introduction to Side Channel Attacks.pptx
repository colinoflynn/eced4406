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2" r:id="rId7"/>
    <p:sldId id="267" r:id="rId8"/>
    <p:sldId id="268" r:id="rId9"/>
    <p:sldId id="283" r:id="rId10"/>
    <p:sldId id="263" r:id="rId11"/>
    <p:sldId id="266" r:id="rId12"/>
    <p:sldId id="277" r:id="rId13"/>
    <p:sldId id="275" r:id="rId14"/>
    <p:sldId id="278" r:id="rId15"/>
    <p:sldId id="279" r:id="rId16"/>
    <p:sldId id="280" r:id="rId17"/>
    <p:sldId id="281" r:id="rId18"/>
    <p:sldId id="269" r:id="rId19"/>
    <p:sldId id="270" r:id="rId20"/>
    <p:sldId id="271" r:id="rId21"/>
    <p:sldId id="282" r:id="rId22"/>
    <p:sldId id="273" r:id="rId23"/>
    <p:sldId id="26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E8F2B04-C695-4964-AD19-3F09E0D90417}">
          <p14:sldIdLst>
            <p14:sldId id="256"/>
            <p14:sldId id="257"/>
            <p14:sldId id="258"/>
            <p14:sldId id="265"/>
            <p14:sldId id="259"/>
            <p14:sldId id="262"/>
            <p14:sldId id="267"/>
            <p14:sldId id="268"/>
            <p14:sldId id="283"/>
            <p14:sldId id="263"/>
            <p14:sldId id="266"/>
            <p14:sldId id="277"/>
            <p14:sldId id="275"/>
            <p14:sldId id="278"/>
            <p14:sldId id="279"/>
            <p14:sldId id="280"/>
            <p14:sldId id="281"/>
            <p14:sldId id="269"/>
            <p14:sldId id="270"/>
            <p14:sldId id="271"/>
            <p14:sldId id="282"/>
            <p14:sldId id="27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220A-DA9B-4BBC-9C75-C66D46F53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D5431-D5FF-44BE-B0B0-08FB98FE7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5585-26EB-401F-A580-C4F7CFA4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0C38E-E9B1-4C96-BCC8-D99371EE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FE22-3A5F-4449-8898-C66D835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85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5B47-2EC6-48BC-8DD6-BE05C4B2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669D-0B7F-4A86-AD0D-C7F8D519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E3D-C639-4A52-BBD4-457536FB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56922-F240-4EF3-905E-B9DFB257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5727-CADB-4DD6-9046-F1100897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2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3CCD-9691-4A96-A2D6-D1F53F47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3C4D3-7251-48A1-AEDE-AEBC7EF1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DB80-1867-4ABC-85FB-CF546D13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0258E-3BB7-41C5-B0BC-F8716E7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DF5B-5B74-46CE-A56F-B633CC5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26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1F6C-47D6-4523-87B1-1626B966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1AB54-B5F7-4311-8217-7E3769EF6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E7B8C-B146-4CDF-B078-67A0EE6B5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80579-953F-4F41-9BCB-8913DA9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2BE6-7135-4CB5-89D6-9D9981B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2C2-51E3-4A35-BCB5-C5A81A8C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18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D11A-42A7-412D-87FB-8315E9A5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968DD-1E3F-4BDF-BCA1-21F3F397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8E27-D17C-4926-901B-318C040F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90821-6708-4581-975E-3C87A0BA4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402B-EF6B-4F04-AE9E-58C2D99B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E8121-22E9-4C44-AF20-BE1527F9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DF95B-32D7-4CA8-8D6A-2442FE5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E430E-0801-4874-BE8C-20D10F99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7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5966-06AD-400E-803A-2830E651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EF1C0-915C-4F9F-B6F8-34FCB214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FAA9-7427-4017-B7F1-61B7297C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16EB0-0C9E-48B1-A388-ABAF8F8E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8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D9000-27FD-4772-AF4D-93E6A13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BBA7F-CEF3-4200-9B6F-C133A8B7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EDEE6-91DB-4D62-A790-7E8D5FE2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0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A595-FB8D-48BF-85CD-0BED13D3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A508-8447-429A-8E55-874ACAB9C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A9D00-96A5-496F-95ED-A1A592E0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FD5-86B6-46A2-81D4-A588B9F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C5D8-6C81-46B1-A974-BD2FD2E6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0BC5-C9A0-434E-9706-6FD8EF18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46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36A5-2E6F-451C-BD8A-BBCB3B1F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05540-3B4E-4D31-B0A6-4FC713EE4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EB517-C45B-4940-9B06-4E1F55F5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53D7-E620-495E-8001-F6989DD3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68ACD-B2F0-476E-BD8F-8EB76C9B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4F2B-D316-4097-AE06-FA388F80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6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4F19-5B91-4971-9D24-A632D22A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F3CFF-4A4B-43E2-BFF5-AE652918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52F4D-E9D6-4D7B-ABCA-577B628F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7111-CDAF-464F-BD09-99452F60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E59C-78F6-4935-AE8B-E3198D8C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2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04A56-5CB4-4BC7-BA72-37EC50C12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7CFD4-6E1D-4973-B922-472C9FB23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1650-46DF-43FB-9A3B-A5CD84F4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020A-FC80-49E5-9363-F5144731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B1F3C-7EF7-4710-84AF-B799B3DD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95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802F1-E657-4CF1-BD6A-4EFC93A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A822-0EBA-48C7-A780-CD8AE4CE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F5F9-0F07-4041-936C-F6A72F130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D57D4-96EB-485F-885D-A03F9F5EA4CF}" type="datetimeFigureOut">
              <a:rPr lang="en-CA" smtClean="0"/>
              <a:t>2026-03-17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60C3-4B15-4785-B413-CFEA33C5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811E-C073-4268-BAEF-6F604A18A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3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EF55-43E3-4350-BE63-9CB115E94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0x500 –Side Channel Attacks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939F-753C-45A0-BC3A-73D8DCDC6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ECED4406 – Computer Security</a:t>
            </a:r>
          </a:p>
          <a:p>
            <a:endParaRPr lang="en-US" sz="2400" b="1" dirty="0"/>
          </a:p>
          <a:p>
            <a:r>
              <a:rPr lang="en-US" sz="2400" b="1" dirty="0"/>
              <a:t>Dr. Colin O’Flynn</a:t>
            </a:r>
          </a:p>
          <a:p>
            <a:r>
              <a:rPr lang="en-US" sz="2400" b="1" dirty="0"/>
              <a:t>Dalhousie University.</a:t>
            </a:r>
            <a:endParaRPr lang="en-CA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1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4D2F-47D1-48B2-8371-A576FCBE0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side channel attack?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3D5AAE-0A2F-4739-8B73-93D63F7F1B8C}"/>
              </a:ext>
            </a:extLst>
          </p:cNvPr>
          <p:cNvSpPr/>
          <p:nvPr/>
        </p:nvSpPr>
        <p:spPr>
          <a:xfrm>
            <a:off x="4811949" y="3631659"/>
            <a:ext cx="2568102" cy="1413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ENCRYPTION</a:t>
            </a:r>
            <a:endParaRPr lang="en-CA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06F2E5E-74A4-4E1F-9D97-4C9E030DEAE1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6096000" y="2950723"/>
            <a:ext cx="0" cy="68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560539-A98B-4068-93CB-36241F47BA7C}"/>
              </a:ext>
            </a:extLst>
          </p:cNvPr>
          <p:cNvCxnSpPr>
            <a:cxnSpLocks/>
          </p:cNvCxnSpPr>
          <p:nvPr/>
        </p:nvCxnSpPr>
        <p:spPr>
          <a:xfrm>
            <a:off x="6073302" y="5045412"/>
            <a:ext cx="0" cy="680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3F44A2-B702-4E31-81AE-BB20A5071960}"/>
              </a:ext>
            </a:extLst>
          </p:cNvPr>
          <p:cNvSpPr txBox="1"/>
          <p:nvPr/>
        </p:nvSpPr>
        <p:spPr>
          <a:xfrm>
            <a:off x="5693923" y="2606694"/>
            <a:ext cx="1809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</a:t>
            </a:r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121EDF-0148-43B5-87AB-1ACCE424ED97}"/>
              </a:ext>
            </a:extLst>
          </p:cNvPr>
          <p:cNvSpPr txBox="1"/>
          <p:nvPr/>
        </p:nvSpPr>
        <p:spPr>
          <a:xfrm>
            <a:off x="5570706" y="5695196"/>
            <a:ext cx="1809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0796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1F254-7EAD-40CB-ACE6-491FCBF8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Examples of Side Channels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40207-0464-45F4-B0D5-AD53AD7D9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86835"/>
          </a:xfrm>
        </p:spPr>
        <p:txBody>
          <a:bodyPr/>
          <a:lstStyle/>
          <a:p>
            <a:r>
              <a:rPr lang="en-US" dirty="0"/>
              <a:t>Pizza Delivery during times of military operations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494446-F1DE-4AEA-B7ED-28D559A300A1}"/>
              </a:ext>
            </a:extLst>
          </p:cNvPr>
          <p:cNvSpPr txBox="1"/>
          <p:nvPr/>
        </p:nvSpPr>
        <p:spPr>
          <a:xfrm>
            <a:off x="1822314" y="6240716"/>
            <a:ext cx="9416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https://www.chicagotribune.com/news/ct-xpm-1991-01-16-9101050225-story.html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A448CE-FD37-4F5D-8292-76C5FBB06825}"/>
              </a:ext>
            </a:extLst>
          </p:cNvPr>
          <p:cNvSpPr txBox="1"/>
          <p:nvPr/>
        </p:nvSpPr>
        <p:spPr>
          <a:xfrm>
            <a:off x="1468877" y="2372605"/>
            <a:ext cx="841118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1" dirty="0">
                <a:solidFill>
                  <a:srgbClr val="333333"/>
                </a:solidFill>
                <a:latin typeface="Georgia" panose="02040502050405020303" pitchFamily="18" charset="0"/>
              </a:rPr>
              <a:t>January 16 / 1991:</a:t>
            </a:r>
            <a:endParaRPr lang="en-US" b="1" i="1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  <a:p>
            <a:pPr algn="l"/>
            <a:r>
              <a:rPr lang="en-US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 pizza index indicates military action is imminent in the Persian Gulf, a Domino`s delivery official said Tuesday.</a:t>
            </a:r>
          </a:p>
          <a:p>
            <a:pPr algn="l"/>
            <a:endParaRPr lang="en-US" b="0" i="1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  <a:p>
            <a:pPr algn="l"/>
            <a:r>
              <a:rPr lang="en-US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Record numbers of late-night pizzas have been delivered this week to the White House, Pentagon and State Department, said Frank Meeks, owner of several Washington-area Domino`s outlets.</a:t>
            </a:r>
          </a:p>
          <a:p>
            <a:pPr algn="l"/>
            <a:endParaRPr lang="en-US" b="0" i="1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  <a:p>
            <a:pPr algn="l"/>
            <a:r>
              <a:rPr lang="en-US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Similar order patterns came immediately before the invasions of Panama and Grenada, Meeks said.</a:t>
            </a:r>
          </a:p>
          <a:p>
            <a:pPr algn="l"/>
            <a:endParaRPr lang="en-US" b="0" i="1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  <a:p>
            <a:pPr algn="l"/>
            <a:r>
              <a:rPr lang="en-US" b="0" i="1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 increase in pizza orders at key government buildings after 10 p.m. is ''very unusual,'' Meeks said. ''I don`t think they`re sitting around watching Redskins reruns.''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23FF44-4739-46B2-AD0B-AB7F8924E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40" y="1626690"/>
            <a:ext cx="10269383" cy="3734321"/>
          </a:xfrm>
          <a:prstGeom prst="rect">
            <a:avLst/>
          </a:prstGeom>
          <a:noFill/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4CB7BCD-4FBF-42A1-803C-1C9E6E1F3B5E}"/>
              </a:ext>
            </a:extLst>
          </p:cNvPr>
          <p:cNvSpPr/>
          <p:nvPr/>
        </p:nvSpPr>
        <p:spPr>
          <a:xfrm>
            <a:off x="5142689" y="3674025"/>
            <a:ext cx="2185481" cy="45395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946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6946-456A-4637-8650-864F15ED1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Side Channels in Embedded Systems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3C600-CC8D-4787-A94E-F7F800F37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Obvious:</a:t>
            </a:r>
          </a:p>
          <a:p>
            <a:r>
              <a:rPr lang="en-US" dirty="0"/>
              <a:t>Timing</a:t>
            </a:r>
          </a:p>
          <a:p>
            <a:r>
              <a:rPr lang="en-US" dirty="0"/>
              <a:t>RF (or electromagnetic emissions)</a:t>
            </a:r>
          </a:p>
          <a:p>
            <a:r>
              <a:rPr lang="en-US" dirty="0"/>
              <a:t>Power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Bus also:</a:t>
            </a:r>
          </a:p>
          <a:p>
            <a:r>
              <a:rPr lang="en-US" dirty="0"/>
              <a:t>Acoustic</a:t>
            </a:r>
          </a:p>
          <a:p>
            <a:r>
              <a:rPr lang="en-US" dirty="0"/>
              <a:t>Heat</a:t>
            </a:r>
          </a:p>
          <a:p>
            <a:r>
              <a:rPr lang="en-US" dirty="0"/>
              <a:t>..other measurable effects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39601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F1B3F-9176-49D1-8C74-027F8F12F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Side Channel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55B09-020E-4207-A193-639D4CFE3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How would you compare a password?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does_password_match</a:t>
            </a:r>
            <a:r>
              <a:rPr lang="en-US" dirty="0"/>
              <a:t>(char * </a:t>
            </a:r>
            <a:r>
              <a:rPr lang="en-US" dirty="0" err="1"/>
              <a:t>input_password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good_password</a:t>
            </a:r>
            <a:r>
              <a:rPr lang="en-US" dirty="0"/>
              <a:t> char[] = “hunter2”;</a:t>
            </a:r>
          </a:p>
          <a:p>
            <a:pPr marL="0" indent="0">
              <a:buNone/>
            </a:pPr>
            <a:r>
              <a:rPr lang="en-US" dirty="0"/>
              <a:t>	for(int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strlen</a:t>
            </a:r>
            <a:r>
              <a:rPr lang="en-US" dirty="0"/>
              <a:t>(</a:t>
            </a:r>
            <a:r>
              <a:rPr lang="en-US" dirty="0" err="1"/>
              <a:t>good_password</a:t>
            </a:r>
            <a:r>
              <a:rPr lang="en-US" dirty="0"/>
              <a:t>);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marL="0" indent="0">
              <a:buNone/>
            </a:pPr>
            <a:r>
              <a:rPr lang="en-US" dirty="0"/>
              <a:t>		if (</a:t>
            </a:r>
            <a:r>
              <a:rPr lang="en-US" dirty="0" err="1"/>
              <a:t>good_password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!= </a:t>
            </a:r>
            <a:r>
              <a:rPr lang="en-US" dirty="0" err="1"/>
              <a:t>input_password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]){</a:t>
            </a:r>
          </a:p>
          <a:p>
            <a:pPr marL="0" indent="0">
              <a:buNone/>
            </a:pPr>
            <a:r>
              <a:rPr lang="en-US" dirty="0"/>
              <a:t>			return 0;</a:t>
            </a:r>
          </a:p>
          <a:p>
            <a:pPr marL="0" indent="0">
              <a:buNone/>
            </a:pPr>
            <a:r>
              <a:rPr lang="en-US" dirty="0"/>
              <a:t>		}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1;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88107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1BE56-0BBA-4357-AB72-4B3F8676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timing side channels?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80B13-A651-403D-A95F-F4669FCFC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various inputs to device, see if execution time is:</a:t>
            </a:r>
          </a:p>
          <a:p>
            <a:pPr lvl="1"/>
            <a:r>
              <a:rPr lang="en-US" dirty="0"/>
              <a:t>Constant with </a:t>
            </a:r>
            <a:r>
              <a:rPr lang="en-US" b="1" u="sng" dirty="0"/>
              <a:t>same</a:t>
            </a:r>
            <a:r>
              <a:rPr lang="en-US" dirty="0"/>
              <a:t> input multiple times.</a:t>
            </a:r>
          </a:p>
          <a:p>
            <a:pPr lvl="1"/>
            <a:r>
              <a:rPr lang="en-US" dirty="0"/>
              <a:t>Different with </a:t>
            </a:r>
            <a:r>
              <a:rPr lang="en-US" b="1" u="sng" dirty="0"/>
              <a:t>different</a:t>
            </a:r>
            <a:r>
              <a:rPr lang="en-US" dirty="0"/>
              <a:t> inputs multiple times.</a:t>
            </a:r>
          </a:p>
          <a:p>
            <a:pPr lvl="1"/>
            <a:endParaRPr lang="en-US" dirty="0"/>
          </a:p>
          <a:p>
            <a:r>
              <a:rPr lang="en-US" dirty="0"/>
              <a:t>We will look at something called T-Test which allow us to do statistical analysis later in this section.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2611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75DA2-EA77-3A2C-9C65-397A093E6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Timing Attack Demo – Part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D77F4D-955F-9B5C-CCE8-2810B55972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0690" y="1505193"/>
            <a:ext cx="3791495" cy="483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35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1859F-8F5E-7362-A582-ED816B13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8FA4-A5FE-E89C-9B36-C592F340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Timing Attack Demo – Part 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3D6BE2-7B84-D373-1C88-5C8F96BCA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0358" y="1539748"/>
            <a:ext cx="3972165" cy="495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44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371AF-B02E-C096-201E-1889FBF47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Real-Life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3DF4F3-D67D-9731-4B4A-2835F1A4E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2" y="1690688"/>
            <a:ext cx="2862009" cy="4486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965C4E-06F0-A7BE-D226-D18C9E19E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881" y="1969476"/>
            <a:ext cx="3706654" cy="3756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5633DA-9422-C33B-F629-DD0FEA2A0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59" y="1665042"/>
            <a:ext cx="6354052" cy="436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35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87A8-57CB-4C14-88CA-A09DB708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RF/EM Side Channels TEMPEST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C7672-3EA4-4F80-AB7E-8297E2142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324"/>
            <a:ext cx="3908494" cy="40433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During World War II, ability of devices to leak signals was discovered.</a:t>
            </a:r>
          </a:p>
          <a:p>
            <a:endParaRPr lang="en-US" dirty="0"/>
          </a:p>
          <a:p>
            <a:r>
              <a:rPr lang="en-US" dirty="0"/>
              <a:t>Early work also demonstrated can view computer monitors etc.</a:t>
            </a:r>
          </a:p>
          <a:p>
            <a:endParaRPr lang="en-US" dirty="0"/>
          </a:p>
          <a:p>
            <a:r>
              <a:rPr lang="en-US" dirty="0"/>
              <a:t>You can recreate this today too!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FEEC9-D7B3-409B-B495-1B5280AD22D5}"/>
              </a:ext>
            </a:extLst>
          </p:cNvPr>
          <p:cNvSpPr txBox="1"/>
          <p:nvPr/>
        </p:nvSpPr>
        <p:spPr>
          <a:xfrm>
            <a:off x="1011676" y="5715298"/>
            <a:ext cx="103421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https://www.rtl-sdr.com/tempestsdr-a-sdr-tool-for-eavesdropping-on-computer-screens-via-unintentionally-radiated-rf/</a:t>
            </a:r>
          </a:p>
        </p:txBody>
      </p:sp>
      <p:pic>
        <p:nvPicPr>
          <p:cNvPr id="1026" name="Picture 2" descr="What Can Hackers Learn from Your Device's Emissions? How Side Channel  Attacks Thwart Cybersecurity - News">
            <a:extLst>
              <a:ext uri="{FF2B5EF4-FFF2-40B4-BE49-F238E27FC236}">
                <a16:creationId xmlns:a16="http://schemas.microsoft.com/office/drawing/2014/main" id="{3AF499FB-F63E-4F7B-8621-BF5ABF754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93" y="1505902"/>
            <a:ext cx="6667500" cy="408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573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8B0D6-4EEA-4F04-8ABF-78914EDBA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Side Channel</a:t>
            </a:r>
            <a:endParaRPr lang="en-CA" dirty="0"/>
          </a:p>
        </p:txBody>
      </p:sp>
      <p:pic>
        <p:nvPicPr>
          <p:cNvPr id="1026" name="Picture 2" descr="Technology: Among Us: 7 facts you did not know about the popular game |  Cell phones | Smar – Archyde">
            <a:extLst>
              <a:ext uri="{FF2B5EF4-FFF2-40B4-BE49-F238E27FC236}">
                <a16:creationId xmlns:a16="http://schemas.microsoft.com/office/drawing/2014/main" id="{0B44C744-FF65-4F4C-99A8-020CA4E70A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11" y="2496765"/>
            <a:ext cx="6397345" cy="344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224542-875C-4721-A435-578ABFD244CD}"/>
              </a:ext>
            </a:extLst>
          </p:cNvPr>
          <p:cNvSpPr txBox="1"/>
          <p:nvPr/>
        </p:nvSpPr>
        <p:spPr>
          <a:xfrm>
            <a:off x="7418962" y="2518428"/>
            <a:ext cx="36360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might notice – power usage of your phone while playing a game much higher than while browsing the web.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turns out – this works at a much faster rate than you expect!</a:t>
            </a:r>
          </a:p>
          <a:p>
            <a:endParaRPr lang="en-US" dirty="0"/>
          </a:p>
          <a:p>
            <a:r>
              <a:rPr lang="en-US" dirty="0"/>
              <a:t>Can tell for 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device comparing password or done comparing?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16196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FD00-94CA-6FFD-04EE-7A2F96946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More Reference on This - HHH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9FC2A-1F3A-0035-043C-2470343E2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i="1" dirty="0"/>
              <a:t>See Chapters 8 &amp; Chapter 9 for more details on simple power analysis. Chapter 9 follows closely our Lab #4.</a:t>
            </a:r>
          </a:p>
          <a:p>
            <a:pPr marL="0" indent="0">
              <a:buNone/>
            </a:pPr>
            <a:endParaRPr lang="en-CA" b="1" i="1" dirty="0"/>
          </a:p>
          <a:p>
            <a:pPr marL="0" indent="0">
              <a:buNone/>
            </a:pPr>
            <a:r>
              <a:rPr lang="en-CA" b="1" i="1" dirty="0"/>
              <a:t>We’re going to cover Chapter 8/9/10 in this course if you want some reading week material.</a:t>
            </a:r>
          </a:p>
        </p:txBody>
      </p:sp>
    </p:spTree>
    <p:extLst>
      <p:ext uri="{BB962C8B-B14F-4D97-AF65-F5344CB8AC3E}">
        <p14:creationId xmlns:p14="http://schemas.microsoft.com/office/powerpoint/2010/main" val="2368658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0B97C-41CC-4AD9-8CA8-75F753BE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Resistive Shunt &amp; Positive or Negative</a:t>
            </a:r>
            <a:endParaRPr lang="en-C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99F07C5-6860-42AE-948A-2A729A638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3957" y="1437208"/>
            <a:ext cx="5464086" cy="533103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5A0AFE-1E85-4525-97A4-10B9A182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1097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4E6D-D252-447C-9355-F0763183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Power Attack with Timing:</a:t>
            </a:r>
            <a:br>
              <a:rPr lang="en-US" dirty="0"/>
            </a:br>
            <a:r>
              <a:rPr lang="en-US" dirty="0"/>
              <a:t>	Wrong Digit Immediately </a:t>
            </a:r>
            <a:r>
              <a:rPr lang="en-US" dirty="0" err="1"/>
              <a:t>Noticable</a:t>
            </a:r>
            <a:endParaRPr lang="en-CA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A4AEAC3-315B-4D6C-AC62-D262ADCE4E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7226"/>
            <a:ext cx="10515600" cy="4108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F401AC-3045-49FD-A4CA-FCF777EBC381}"/>
              </a:ext>
            </a:extLst>
          </p:cNvPr>
          <p:cNvSpPr txBox="1"/>
          <p:nvPr/>
        </p:nvSpPr>
        <p:spPr>
          <a:xfrm>
            <a:off x="1447800" y="6055361"/>
            <a:ext cx="894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Sending correct password (</a:t>
            </a:r>
            <a:r>
              <a:rPr lang="en-US" b="1" dirty="0">
                <a:solidFill>
                  <a:srgbClr val="00B050"/>
                </a:solidFill>
              </a:rPr>
              <a:t>0x61 0x52 0x77 0x6A 0x73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60F31-9780-421A-B07F-F5BC70BF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1131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4E6D-D252-447C-9355-F0763183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Power Attack with Timing:</a:t>
            </a:r>
            <a:br>
              <a:rPr lang="en-US" dirty="0"/>
            </a:br>
            <a:r>
              <a:rPr lang="en-US" dirty="0"/>
              <a:t>	Wrong Digit Immediately </a:t>
            </a:r>
            <a:r>
              <a:rPr lang="en-US" dirty="0" err="1"/>
              <a:t>Noticable</a:t>
            </a:r>
            <a:endParaRPr lang="en-CA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B5FE695-DB8F-4AFA-902F-CBF545207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7226"/>
            <a:ext cx="8747368" cy="392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2FC46-FF74-404E-AF9C-307C0536560E}"/>
              </a:ext>
            </a:extLst>
          </p:cNvPr>
          <p:cNvSpPr txBox="1"/>
          <p:nvPr/>
        </p:nvSpPr>
        <p:spPr>
          <a:xfrm>
            <a:off x="1447800" y="6055361"/>
            <a:ext cx="894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Sending incorrect password (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0x61 0x52 0x77 0x42 0x42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1E2CD-74C7-41A7-BA54-415C130F6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14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4E6D-D252-447C-9355-F0763183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Power Attack with Timing:</a:t>
            </a:r>
            <a:br>
              <a:rPr lang="en-US" dirty="0"/>
            </a:br>
            <a:r>
              <a:rPr lang="en-US" dirty="0"/>
              <a:t>	Wrong Digit Immediately </a:t>
            </a:r>
            <a:r>
              <a:rPr lang="en-US" dirty="0" err="1"/>
              <a:t>Noticable</a:t>
            </a:r>
            <a:endParaRPr lang="en-CA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B5FE695-DB8F-4AFA-902F-CBF545207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7226"/>
            <a:ext cx="8747368" cy="392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2FC46-FF74-404E-AF9C-307C0536560E}"/>
              </a:ext>
            </a:extLst>
          </p:cNvPr>
          <p:cNvSpPr txBox="1"/>
          <p:nvPr/>
        </p:nvSpPr>
        <p:spPr>
          <a:xfrm>
            <a:off x="1447800" y="6055361"/>
            <a:ext cx="894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Sending incorrect password (</a:t>
            </a:r>
            <a:r>
              <a:rPr lang="en-US" b="1" dirty="0">
                <a:solidFill>
                  <a:srgbClr val="00B050"/>
                </a:solidFill>
              </a:rPr>
              <a:t>0x61</a:t>
            </a:r>
            <a:r>
              <a:rPr lang="en-US" dirty="0"/>
              <a:t>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0x52 0x77 0x42 0x42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6F48BC-E561-4886-B7E7-195CE1709FB0}"/>
              </a:ext>
            </a:extLst>
          </p:cNvPr>
          <p:cNvSpPr/>
          <p:nvPr/>
        </p:nvSpPr>
        <p:spPr>
          <a:xfrm>
            <a:off x="1024759" y="1820917"/>
            <a:ext cx="1765738" cy="1671145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977EC-0C71-445C-B9F1-D6530C4C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3804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4E6D-D252-447C-9355-F0763183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Power Attack with Timing:</a:t>
            </a:r>
            <a:br>
              <a:rPr lang="en-US" dirty="0"/>
            </a:br>
            <a:r>
              <a:rPr lang="en-US" dirty="0"/>
              <a:t>	Wrong Digit Immediately </a:t>
            </a:r>
            <a:r>
              <a:rPr lang="en-US" dirty="0" err="1"/>
              <a:t>Noticable</a:t>
            </a:r>
            <a:endParaRPr lang="en-CA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B5FE695-DB8F-4AFA-902F-CBF545207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7226"/>
            <a:ext cx="8747368" cy="392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2FC46-FF74-404E-AF9C-307C0536560E}"/>
              </a:ext>
            </a:extLst>
          </p:cNvPr>
          <p:cNvSpPr txBox="1"/>
          <p:nvPr/>
        </p:nvSpPr>
        <p:spPr>
          <a:xfrm>
            <a:off x="1447800" y="6055361"/>
            <a:ext cx="894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Sending incorrect password (</a:t>
            </a:r>
            <a:r>
              <a:rPr lang="en-US" b="1" dirty="0">
                <a:solidFill>
                  <a:srgbClr val="00B050"/>
                </a:solidFill>
              </a:rPr>
              <a:t>0x61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0x52</a:t>
            </a:r>
            <a:r>
              <a:rPr lang="en-US" dirty="0"/>
              <a:t>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0x77 0x42 0x42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6F48BC-E561-4886-B7E7-195CE1709FB0}"/>
              </a:ext>
            </a:extLst>
          </p:cNvPr>
          <p:cNvSpPr/>
          <p:nvPr/>
        </p:nvSpPr>
        <p:spPr>
          <a:xfrm>
            <a:off x="1024759" y="1820917"/>
            <a:ext cx="1765738" cy="1671145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0DD3F2-5783-4389-937C-B4F27A4A9F29}"/>
              </a:ext>
            </a:extLst>
          </p:cNvPr>
          <p:cNvSpPr/>
          <p:nvPr/>
        </p:nvSpPr>
        <p:spPr>
          <a:xfrm>
            <a:off x="2790497" y="1820917"/>
            <a:ext cx="1552903" cy="1671145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9C995C-73AA-4370-9269-44C0FD7D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3547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4E6D-D252-447C-9355-F0763183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Power Attack with Timing:</a:t>
            </a:r>
            <a:br>
              <a:rPr lang="en-US" dirty="0"/>
            </a:br>
            <a:r>
              <a:rPr lang="en-US" dirty="0"/>
              <a:t>	Wrong Digit Immediately </a:t>
            </a:r>
            <a:r>
              <a:rPr lang="en-US" dirty="0" err="1"/>
              <a:t>Noticable</a:t>
            </a:r>
            <a:endParaRPr lang="en-CA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B5FE695-DB8F-4AFA-902F-CBF545207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7226"/>
            <a:ext cx="8747368" cy="392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2FC46-FF74-404E-AF9C-307C0536560E}"/>
              </a:ext>
            </a:extLst>
          </p:cNvPr>
          <p:cNvSpPr txBox="1"/>
          <p:nvPr/>
        </p:nvSpPr>
        <p:spPr>
          <a:xfrm>
            <a:off x="1447800" y="6055361"/>
            <a:ext cx="894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Sending incorrect password (</a:t>
            </a:r>
            <a:r>
              <a:rPr lang="en-US" b="1" dirty="0">
                <a:solidFill>
                  <a:srgbClr val="00B050"/>
                </a:solidFill>
              </a:rPr>
              <a:t>0x61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0x52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0x77</a:t>
            </a:r>
            <a:r>
              <a:rPr lang="en-US" dirty="0"/>
              <a:t>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0x42 0x42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6F48BC-E561-4886-B7E7-195CE1709FB0}"/>
              </a:ext>
            </a:extLst>
          </p:cNvPr>
          <p:cNvSpPr/>
          <p:nvPr/>
        </p:nvSpPr>
        <p:spPr>
          <a:xfrm>
            <a:off x="1024759" y="1820917"/>
            <a:ext cx="1765738" cy="1671145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0DD3F2-5783-4389-937C-B4F27A4A9F29}"/>
              </a:ext>
            </a:extLst>
          </p:cNvPr>
          <p:cNvSpPr/>
          <p:nvPr/>
        </p:nvSpPr>
        <p:spPr>
          <a:xfrm>
            <a:off x="2790497" y="1820917"/>
            <a:ext cx="1552903" cy="1671145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25DFE6-0BF2-4B1B-9155-4B358A83A753}"/>
              </a:ext>
            </a:extLst>
          </p:cNvPr>
          <p:cNvSpPr/>
          <p:nvPr/>
        </p:nvSpPr>
        <p:spPr>
          <a:xfrm>
            <a:off x="4343400" y="1820917"/>
            <a:ext cx="1608083" cy="1671145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8559DD-767E-45F8-8064-2F59CA4E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3214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4E6D-D252-447C-9355-F0763183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Power Attack with Timing:</a:t>
            </a:r>
            <a:br>
              <a:rPr lang="en-US" dirty="0"/>
            </a:br>
            <a:r>
              <a:rPr lang="en-US" dirty="0"/>
              <a:t>	Wrong Digit Immediately </a:t>
            </a:r>
            <a:r>
              <a:rPr lang="en-US" dirty="0" err="1"/>
              <a:t>Noticable</a:t>
            </a:r>
            <a:endParaRPr lang="en-CA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B5FE695-DB8F-4AFA-902F-CBF545207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7226"/>
            <a:ext cx="8747368" cy="392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2FC46-FF74-404E-AF9C-307C0536560E}"/>
              </a:ext>
            </a:extLst>
          </p:cNvPr>
          <p:cNvSpPr txBox="1"/>
          <p:nvPr/>
        </p:nvSpPr>
        <p:spPr>
          <a:xfrm>
            <a:off x="1447800" y="6055361"/>
            <a:ext cx="894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Sending incorrect password (</a:t>
            </a:r>
            <a:r>
              <a:rPr lang="en-US" b="1" dirty="0">
                <a:solidFill>
                  <a:srgbClr val="00B050"/>
                </a:solidFill>
              </a:rPr>
              <a:t>0x61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0x52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0x77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0x42</a:t>
            </a:r>
            <a:r>
              <a:rPr lang="en-US" dirty="0"/>
              <a:t>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0x42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6F48BC-E561-4886-B7E7-195CE1709FB0}"/>
              </a:ext>
            </a:extLst>
          </p:cNvPr>
          <p:cNvSpPr/>
          <p:nvPr/>
        </p:nvSpPr>
        <p:spPr>
          <a:xfrm>
            <a:off x="1024759" y="1820917"/>
            <a:ext cx="1765738" cy="1671145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0DD3F2-5783-4389-937C-B4F27A4A9F29}"/>
              </a:ext>
            </a:extLst>
          </p:cNvPr>
          <p:cNvSpPr/>
          <p:nvPr/>
        </p:nvSpPr>
        <p:spPr>
          <a:xfrm>
            <a:off x="2790497" y="1820917"/>
            <a:ext cx="1552903" cy="1671145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25DFE6-0BF2-4B1B-9155-4B358A83A753}"/>
              </a:ext>
            </a:extLst>
          </p:cNvPr>
          <p:cNvSpPr/>
          <p:nvPr/>
        </p:nvSpPr>
        <p:spPr>
          <a:xfrm>
            <a:off x="4343400" y="1820917"/>
            <a:ext cx="1608083" cy="1671145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39A32D-A26C-456E-B426-06065E940A37}"/>
              </a:ext>
            </a:extLst>
          </p:cNvPr>
          <p:cNvSpPr/>
          <p:nvPr/>
        </p:nvSpPr>
        <p:spPr>
          <a:xfrm>
            <a:off x="5951483" y="1820917"/>
            <a:ext cx="1552903" cy="16711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0000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C292AC-7FE7-4723-A4D7-FAE0A851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5387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4E6D-D252-447C-9355-F0763183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Power Attack with Timing:</a:t>
            </a:r>
            <a:br>
              <a:rPr lang="en-US" dirty="0"/>
            </a:br>
            <a:r>
              <a:rPr lang="en-US" dirty="0"/>
              <a:t>	Wrong Digit Immediately </a:t>
            </a:r>
            <a:r>
              <a:rPr lang="en-US" dirty="0" err="1"/>
              <a:t>Noticable</a:t>
            </a:r>
            <a:endParaRPr lang="en-CA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B5FE695-DB8F-4AFA-902F-CBF545207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7226"/>
            <a:ext cx="8747368" cy="392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2FC46-FF74-404E-AF9C-307C0536560E}"/>
              </a:ext>
            </a:extLst>
          </p:cNvPr>
          <p:cNvSpPr txBox="1"/>
          <p:nvPr/>
        </p:nvSpPr>
        <p:spPr>
          <a:xfrm>
            <a:off x="1447800" y="6055361"/>
            <a:ext cx="894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Sending incorrect password (</a:t>
            </a:r>
            <a:r>
              <a:rPr lang="en-US" b="1" dirty="0">
                <a:solidFill>
                  <a:srgbClr val="00B050"/>
                </a:solidFill>
              </a:rPr>
              <a:t>0x61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0x52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0x77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0x42 0x42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6F48BC-E561-4886-B7E7-195CE1709FB0}"/>
              </a:ext>
            </a:extLst>
          </p:cNvPr>
          <p:cNvSpPr/>
          <p:nvPr/>
        </p:nvSpPr>
        <p:spPr>
          <a:xfrm>
            <a:off x="1024759" y="1820917"/>
            <a:ext cx="1765738" cy="1671145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0DD3F2-5783-4389-937C-B4F27A4A9F29}"/>
              </a:ext>
            </a:extLst>
          </p:cNvPr>
          <p:cNvSpPr/>
          <p:nvPr/>
        </p:nvSpPr>
        <p:spPr>
          <a:xfrm>
            <a:off x="2790497" y="1820917"/>
            <a:ext cx="1552903" cy="1671145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25DFE6-0BF2-4B1B-9155-4B358A83A753}"/>
              </a:ext>
            </a:extLst>
          </p:cNvPr>
          <p:cNvSpPr/>
          <p:nvPr/>
        </p:nvSpPr>
        <p:spPr>
          <a:xfrm>
            <a:off x="4343400" y="1820917"/>
            <a:ext cx="1608083" cy="1671145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39A32D-A26C-456E-B426-06065E940A37}"/>
              </a:ext>
            </a:extLst>
          </p:cNvPr>
          <p:cNvSpPr/>
          <p:nvPr/>
        </p:nvSpPr>
        <p:spPr>
          <a:xfrm>
            <a:off x="5951483" y="1820917"/>
            <a:ext cx="1552903" cy="16711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C00792-A9CF-4380-A75D-88AFCD829DDE}"/>
              </a:ext>
            </a:extLst>
          </p:cNvPr>
          <p:cNvSpPr/>
          <p:nvPr/>
        </p:nvSpPr>
        <p:spPr>
          <a:xfrm>
            <a:off x="7504386" y="1820917"/>
            <a:ext cx="1552903" cy="16711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E1B05CD-DC85-496B-81A5-1972082D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474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4E6D-D252-447C-9355-F0763183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Power Attack with Timing:</a:t>
            </a:r>
            <a:br>
              <a:rPr lang="en-US" dirty="0"/>
            </a:br>
            <a:r>
              <a:rPr lang="en-US" dirty="0"/>
              <a:t>	Wrong Digit Immediately </a:t>
            </a:r>
            <a:r>
              <a:rPr lang="en-US" dirty="0" err="1"/>
              <a:t>Noticable</a:t>
            </a:r>
            <a:endParaRPr lang="en-CA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98947B6-5941-4E7F-AB92-4DC3AE494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71397"/>
            <a:ext cx="9877776" cy="3948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149D69-B620-433D-A111-3596EB688591}"/>
              </a:ext>
            </a:extLst>
          </p:cNvPr>
          <p:cNvSpPr txBox="1"/>
          <p:nvPr/>
        </p:nvSpPr>
        <p:spPr>
          <a:xfrm>
            <a:off x="1447800" y="6055361"/>
            <a:ext cx="894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Sending incorrect password (</a:t>
            </a:r>
            <a:r>
              <a:rPr lang="en-US" b="1" dirty="0">
                <a:solidFill>
                  <a:srgbClr val="FF0000"/>
                </a:solidFill>
              </a:rPr>
              <a:t>0x30 </a:t>
            </a:r>
            <a:r>
              <a:rPr lang="en-US" b="1" dirty="0" err="1">
                <a:solidFill>
                  <a:srgbClr val="FF0000"/>
                </a:solidFill>
              </a:rPr>
              <a:t>0x30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0x30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0x30</a:t>
            </a:r>
            <a:r>
              <a:rPr lang="en-US" b="1" dirty="0">
                <a:solidFill>
                  <a:srgbClr val="FF0000"/>
                </a:solidFill>
              </a:rPr>
              <a:t> 0x30</a:t>
            </a:r>
            <a:r>
              <a:rPr lang="en-US" dirty="0"/>
              <a:t>)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8CE85F-9B28-4A0B-8B17-349832287E71}"/>
              </a:ext>
            </a:extLst>
          </p:cNvPr>
          <p:cNvSpPr/>
          <p:nvPr/>
        </p:nvSpPr>
        <p:spPr>
          <a:xfrm>
            <a:off x="1245476" y="2002220"/>
            <a:ext cx="1466193" cy="16711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B8BCB-466F-41D0-B32B-F4355D1D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6118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0133F-B230-4B48-9602-4EA518CA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Leak </a:t>
            </a:r>
            <a:r>
              <a:rPr lang="en-US" dirty="0">
                <a:sym typeface="Wingdings" panose="05000000000000000000" pitchFamily="2" charset="2"/>
              </a:rPr>
              <a:t> Data Leak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F9D8D-02BE-485E-B459-59D734B2C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6D719-4E4A-4C73-989D-546EE6945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700213"/>
            <a:ext cx="7459408" cy="4629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EB09F4-E04D-4B70-9416-406772AD9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720" y="1690688"/>
            <a:ext cx="4051219" cy="467677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1BC52-3366-4343-AD37-9DC6CBFA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D3387-1298-47EB-9092-346229614F58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3082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69D49-DF4F-40D3-B4D7-7E1DC83FB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7AF26-6F27-4E08-9BF8-5635E72EB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Side channels are “unintended” emissions of information.</a:t>
            </a:r>
          </a:p>
          <a:p>
            <a:endParaRPr lang="en-US" dirty="0"/>
          </a:p>
          <a:p>
            <a:r>
              <a:rPr lang="en-US" dirty="0"/>
              <a:t>We can observe this side channels to recover secret information from the device.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00612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1764</TotalTime>
  <Words>708</Words>
  <Application>Microsoft Office PowerPoint</Application>
  <PresentationFormat>Widescreen</PresentationFormat>
  <Paragraphs>103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Georgia</vt:lpstr>
      <vt:lpstr>Wingdings</vt:lpstr>
      <vt:lpstr>Office Theme</vt:lpstr>
      <vt:lpstr>0x500 –Side Channel Attacks</vt:lpstr>
      <vt:lpstr>What is a side channel attack?</vt:lpstr>
      <vt:lpstr>Classic Examples of Side Channels</vt:lpstr>
      <vt:lpstr>Side Channels in Embedded Systems</vt:lpstr>
      <vt:lpstr>Timing Side Channel</vt:lpstr>
      <vt:lpstr>How to find timing side channels?</vt:lpstr>
      <vt:lpstr>Timing Attack Demo – Part 1</vt:lpstr>
      <vt:lpstr>Timing Attack Demo – Part 2</vt:lpstr>
      <vt:lpstr>Real-Life Example</vt:lpstr>
      <vt:lpstr>Early RF/EM Side Channels TEMPEST</vt:lpstr>
      <vt:lpstr>Power Side Channel</vt:lpstr>
      <vt:lpstr>More Reference on This - HHH</vt:lpstr>
      <vt:lpstr>Resistive Shunt &amp; Positive or Negative</vt:lpstr>
      <vt:lpstr>A Power Attack with Timing:  Wrong Digit Immediately Noticable</vt:lpstr>
      <vt:lpstr>A Power Attack with Timing:  Wrong Digit Immediately Noticable</vt:lpstr>
      <vt:lpstr>A Power Attack with Timing:  Wrong Digit Immediately Noticable</vt:lpstr>
      <vt:lpstr>A Power Attack with Timing:  Wrong Digit Immediately Noticable</vt:lpstr>
      <vt:lpstr>A Power Attack with Timing:  Wrong Digit Immediately Noticable</vt:lpstr>
      <vt:lpstr>A Power Attack with Timing:  Wrong Digit Immediately Noticable</vt:lpstr>
      <vt:lpstr>A Power Attack with Timing:  Wrong Digit Immediately Noticable</vt:lpstr>
      <vt:lpstr>A Power Attack with Timing:  Wrong Digit Immediately Noticable</vt:lpstr>
      <vt:lpstr>Instruction Leak  Data Leak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0x101 – Security in History Basic Ciphers</dc:title>
  <dc:creator>Colin O'Flynn</dc:creator>
  <cp:lastModifiedBy>Colin O'Flynn</cp:lastModifiedBy>
  <cp:revision>70</cp:revision>
  <dcterms:created xsi:type="dcterms:W3CDTF">2020-09-07T18:26:19Z</dcterms:created>
  <dcterms:modified xsi:type="dcterms:W3CDTF">2026-03-17T13:04:56Z</dcterms:modified>
</cp:coreProperties>
</file>