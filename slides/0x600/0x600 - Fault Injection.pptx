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58" r:id="rId4"/>
    <p:sldId id="260" r:id="rId5"/>
    <p:sldId id="261" r:id="rId6"/>
    <p:sldId id="281" r:id="rId7"/>
    <p:sldId id="290" r:id="rId8"/>
    <p:sldId id="276" r:id="rId9"/>
    <p:sldId id="284" r:id="rId10"/>
    <p:sldId id="285" r:id="rId11"/>
    <p:sldId id="259" r:id="rId12"/>
    <p:sldId id="274" r:id="rId13"/>
    <p:sldId id="262" r:id="rId14"/>
    <p:sldId id="272" r:id="rId15"/>
    <p:sldId id="273" r:id="rId16"/>
    <p:sldId id="263" r:id="rId17"/>
    <p:sldId id="264" r:id="rId18"/>
    <p:sldId id="275" r:id="rId19"/>
    <p:sldId id="265" r:id="rId20"/>
    <p:sldId id="277" r:id="rId21"/>
    <p:sldId id="278" r:id="rId22"/>
    <p:sldId id="279" r:id="rId23"/>
    <p:sldId id="267" r:id="rId24"/>
    <p:sldId id="266" r:id="rId25"/>
    <p:sldId id="268" r:id="rId26"/>
    <p:sldId id="286" r:id="rId27"/>
    <p:sldId id="271" r:id="rId28"/>
    <p:sldId id="269" r:id="rId29"/>
    <p:sldId id="287" r:id="rId30"/>
    <p:sldId id="288" r:id="rId31"/>
    <p:sldId id="270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05B5A1D-F780-4F08-92FA-30000D838AA0}">
          <p14:sldIdLst>
            <p14:sldId id="256"/>
            <p14:sldId id="283"/>
            <p14:sldId id="258"/>
            <p14:sldId id="260"/>
            <p14:sldId id="261"/>
            <p14:sldId id="281"/>
            <p14:sldId id="290"/>
            <p14:sldId id="276"/>
            <p14:sldId id="284"/>
            <p14:sldId id="285"/>
            <p14:sldId id="259"/>
            <p14:sldId id="274"/>
            <p14:sldId id="262"/>
            <p14:sldId id="272"/>
            <p14:sldId id="273"/>
            <p14:sldId id="263"/>
            <p14:sldId id="264"/>
            <p14:sldId id="275"/>
            <p14:sldId id="265"/>
            <p14:sldId id="277"/>
            <p14:sldId id="278"/>
            <p14:sldId id="279"/>
            <p14:sldId id="267"/>
            <p14:sldId id="266"/>
            <p14:sldId id="268"/>
            <p14:sldId id="286"/>
            <p14:sldId id="271"/>
            <p14:sldId id="269"/>
            <p14:sldId id="287"/>
            <p14:sldId id="288"/>
            <p14:sldId id="270"/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94660"/>
  </p:normalViewPr>
  <p:slideViewPr>
    <p:cSldViewPr snapToGrid="0">
      <p:cViewPr>
        <p:scale>
          <a:sx n="100" d="100"/>
          <a:sy n="100" d="100"/>
        </p:scale>
        <p:origin x="48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2D81-A3BE-E46A-C283-4B641AA99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FA42A-E34A-D9EB-0FD0-2F3ED917F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A9384-C733-A503-B06A-E4F74EF6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B4D6C-95E3-8A0F-D259-A8B7AB8B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8BBF8-3116-C493-4E45-CD815D91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409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5139-D5D0-3ED6-9834-C68A546A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3242-EB6F-FAD5-35F3-BC72C2B20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077BF-2E72-1745-AF20-CA52C840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F402D-9E5C-D367-C128-9872F5225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AF0A6-BC5D-F51A-07BB-A4C2CDD5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05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1B72-7D44-39F0-70FA-3801A6A9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7B8D2-3281-BB00-C7B5-162A87EF8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15373-F2B8-53D4-E181-BCCEA239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1A493-8FC5-1431-C186-0C0EAC0B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146CB-9E0D-F600-1E98-8D62B68B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720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2B05-753F-43C2-4377-AEA93E64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C778-4CBA-1910-DBF5-433A28BD8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CA5F7-22E5-80B2-1201-90903D952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050A9-4283-4CA7-528C-81289405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733A2-E5E7-E81A-81E6-6922D60A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DE26F-62A7-886A-093D-AD3A1FFE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22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6250-27F4-BDC3-9258-1B374AF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E41F1-3D68-14E2-B59D-C5F339A1B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8A7F5-6A1C-0B64-DF1C-675308B35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DAC15-7E2A-0D94-FB23-9F367039F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4D5E7-E438-64BF-F582-26F621EBF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02B20-BB3A-44F5-EF73-D9138580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2A39D-F975-08FD-A3E5-7329F135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C9329C-4FB4-8827-884B-BAD09FEB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4854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B3EE-1692-5993-9B22-6075D2E5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03D9A-3FC0-AC61-3ABE-5ADCF36E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985D9-97EE-9FD5-7727-F9B54C04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FC2AF-4F12-1146-1EBA-2D046954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900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7C6441-9F31-B692-493C-28EB1DD6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54175-9853-ACA0-693D-9A527DF6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86C0B-82E2-A82F-2F5E-B3296F74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96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EBC9-2FCB-8692-0A0A-907C8009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FE252-C043-DE98-14E1-7EF38F8AF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5E146-0E30-3E7D-9C7E-0A376377B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548B8-17D1-1771-30D8-AE4B8ED5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7ED29-846C-B6B0-86BE-7DBF89C6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DD67E-28BA-0E23-CF71-61A685D7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992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FAE28-03E6-F462-158E-2929CFCB1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C81B00-8EB9-D16B-0F47-3B878690C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373B9-BA3E-86EF-6382-6CBED3D94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07F18-EE3F-A9AD-1233-46239C3D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D76A5-A273-8A5B-4943-D8F3D527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7BC55-992F-1994-E43B-5131D51F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89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4222-70AD-1B16-5416-FBE9195E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23FE1-009D-BBCF-7A57-DBB50F892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A3D5A-94EA-D9AD-6F8A-164CCDFC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402E2-3EAC-1724-11E6-9E7AB4E9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4CB27-4B56-503B-48DE-B989D6F0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865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7BF06E-D653-C14C-B216-633547DFD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B7CCF-13D6-7AFA-55F9-3738F7F7A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06233-51A1-56D6-5C5F-B971E391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0A803-DA38-A6E4-350E-DC5C3710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58F81-13C1-84ED-D479-556EEF26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2336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83D80-B670-F7E6-70C2-114C47F3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B3201-7CAF-25DA-10A4-F6AD17D5D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979A3-6C36-4B80-36BF-E9F620AB1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DDD8D-F3DC-435E-90BA-C18A0966E229}" type="datetimeFigureOut">
              <a:rPr lang="en-CA" smtClean="0"/>
              <a:t>2023-11-30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C519-5DBA-E3D1-1D10-AEFEBA446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EB1AE-32F2-2799-9FE2-11BCF2E23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5BCE7-3E1C-47D2-B3E8-2851C6478B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41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odbolt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64D8-3040-954F-605E-B1C19CA62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0x600 – Fault Attack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192F-A06E-4538-23D2-54F2243AB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  <a:p>
            <a:r>
              <a:rPr lang="en-CA" dirty="0"/>
              <a:t>ECED4406</a:t>
            </a:r>
          </a:p>
        </p:txBody>
      </p:sp>
    </p:spTree>
    <p:extLst>
      <p:ext uri="{BB962C8B-B14F-4D97-AF65-F5344CB8AC3E}">
        <p14:creationId xmlns:p14="http://schemas.microsoft.com/office/powerpoint/2010/main" val="144226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F8EF-5D31-59F8-985C-CA7DBD1F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are “Faults”?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ED786-6EFA-9C8A-7C4B-802573B84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“Faults” or “Glitches” are unintended operation, such as:</a:t>
            </a:r>
          </a:p>
          <a:p>
            <a:pPr lvl="1"/>
            <a:r>
              <a:rPr lang="en-CA" dirty="0"/>
              <a:t>Wrong instructions executed.</a:t>
            </a:r>
          </a:p>
          <a:p>
            <a:pPr lvl="1"/>
            <a:r>
              <a:rPr lang="en-CA" dirty="0"/>
              <a:t>Instructions not executed.</a:t>
            </a:r>
          </a:p>
          <a:p>
            <a:pPr lvl="1"/>
            <a:r>
              <a:rPr lang="en-CA" dirty="0"/>
              <a:t>Data not written back.</a:t>
            </a:r>
          </a:p>
          <a:p>
            <a:pPr lvl="1"/>
            <a:r>
              <a:rPr lang="en-CA" dirty="0"/>
              <a:t>Data corrupted in place.</a:t>
            </a:r>
          </a:p>
          <a:p>
            <a:pPr lvl="1"/>
            <a:endParaRPr lang="en-CA" dirty="0"/>
          </a:p>
          <a:p>
            <a:r>
              <a:rPr lang="en-CA" dirty="0"/>
              <a:t>Purposely generating these &amp; </a:t>
            </a:r>
            <a:r>
              <a:rPr lang="en-CA" b="1" u="sng" dirty="0"/>
              <a:t>using them to exploit a system </a:t>
            </a:r>
            <a:r>
              <a:rPr lang="en-CA" dirty="0"/>
              <a:t>will be called “glitch attacks” or “fault attacks”</a:t>
            </a:r>
          </a:p>
        </p:txBody>
      </p:sp>
    </p:spTree>
    <p:extLst>
      <p:ext uri="{BB962C8B-B14F-4D97-AF65-F5344CB8AC3E}">
        <p14:creationId xmlns:p14="http://schemas.microsoft.com/office/powerpoint/2010/main" val="281827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8037-8827-02DE-7477-E2C0F06F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Glitch Attacks – Code Flow Example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73F987-324B-2587-01FC-CF2BC9428D30}"/>
              </a:ext>
            </a:extLst>
          </p:cNvPr>
          <p:cNvSpPr txBox="1">
            <a:spLocks/>
          </p:cNvSpPr>
          <p:nvPr/>
        </p:nvSpPr>
        <p:spPr>
          <a:xfrm>
            <a:off x="1320901" y="2304188"/>
            <a:ext cx="2394637" cy="411442"/>
          </a:xfrm>
          <a:prstGeom prst="rect">
            <a:avLst/>
          </a:prstGeom>
        </p:spPr>
        <p:txBody>
          <a:bodyPr/>
          <a:lstStyle>
            <a:lvl1pPr marL="457167" indent="-457167" algn="l" defTabSz="121911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26" indent="-380972" algn="l" defTabSz="121911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887" indent="-304776" algn="l" defTabSz="121911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440" indent="-304776" algn="l" defTabSz="121911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2994" indent="-304776" algn="l" defTabSz="121911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548" indent="-304776" algn="l" defTabSz="121911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121911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121911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121911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800" dirty="0"/>
              <a:t>linux-util-2.24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15DB3-F265-1D58-8240-EE0209EDA62F}"/>
              </a:ext>
            </a:extLst>
          </p:cNvPr>
          <p:cNvSpPr txBox="1"/>
          <p:nvPr/>
        </p:nvSpPr>
        <p:spPr>
          <a:xfrm>
            <a:off x="3962092" y="1690688"/>
            <a:ext cx="815741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/*</a:t>
            </a:r>
          </a:p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 *   </a:t>
            </a:r>
            <a:r>
              <a:rPr lang="en-CA" sz="700" dirty="0" err="1">
                <a:solidFill>
                  <a:srgbClr val="007F00"/>
                </a:solidFill>
                <a:latin typeface="Consolas"/>
              </a:rPr>
              <a:t>auth.c</a:t>
            </a:r>
            <a:r>
              <a:rPr lang="en-CA" sz="700" dirty="0">
                <a:solidFill>
                  <a:srgbClr val="007F00"/>
                </a:solidFill>
                <a:latin typeface="Consolas"/>
              </a:rPr>
              <a:t> -- PAM authorization code, common between </a:t>
            </a:r>
            <a:r>
              <a:rPr lang="en-CA" sz="700" dirty="0" err="1">
                <a:solidFill>
                  <a:srgbClr val="007F00"/>
                </a:solidFill>
                <a:latin typeface="Consolas"/>
              </a:rPr>
              <a:t>chsh</a:t>
            </a:r>
            <a:r>
              <a:rPr lang="en-CA" sz="700" dirty="0">
                <a:solidFill>
                  <a:srgbClr val="007F00"/>
                </a:solidFill>
                <a:latin typeface="Consolas"/>
              </a:rPr>
              <a:t> and </a:t>
            </a:r>
            <a:r>
              <a:rPr lang="en-CA" sz="700" dirty="0" err="1">
                <a:solidFill>
                  <a:srgbClr val="007F00"/>
                </a:solidFill>
                <a:latin typeface="Consolas"/>
              </a:rPr>
              <a:t>chfn</a:t>
            </a:r>
            <a:endParaRPr lang="en-CA" sz="700" dirty="0">
              <a:solidFill>
                <a:srgbClr val="007F00"/>
              </a:solidFill>
              <a:latin typeface="Consolas"/>
            </a:endParaRPr>
          </a:p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 *   (c) 2012 by Cody Maloney &lt;cmaloney@theoreticalchaos.com&gt;</a:t>
            </a:r>
          </a:p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 *</a:t>
            </a:r>
          </a:p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 *   this program is free software.  you can redistribute it and</a:t>
            </a:r>
          </a:p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 *   modify it under the terms of the gnu general public license.</a:t>
            </a:r>
          </a:p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 *   there is no warranty.</a:t>
            </a:r>
          </a:p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 *</a:t>
            </a:r>
          </a:p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 */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7F7F00"/>
                </a:solidFill>
                <a:latin typeface="Consolas"/>
              </a:rPr>
              <a:t>#include "</a:t>
            </a:r>
            <a:r>
              <a:rPr lang="en-CA" sz="700" dirty="0" err="1">
                <a:solidFill>
                  <a:srgbClr val="7F7F00"/>
                </a:solidFill>
                <a:latin typeface="Consolas"/>
              </a:rPr>
              <a:t>auth.h</a:t>
            </a:r>
            <a:r>
              <a:rPr lang="en-CA" sz="700" dirty="0">
                <a:solidFill>
                  <a:srgbClr val="7F7F00"/>
                </a:solidFill>
                <a:latin typeface="Consolas"/>
              </a:rPr>
              <a:t>"</a:t>
            </a:r>
          </a:p>
          <a:p>
            <a:r>
              <a:rPr lang="en-CA" sz="700" dirty="0">
                <a:solidFill>
                  <a:srgbClr val="7F7F00"/>
                </a:solidFill>
                <a:latin typeface="Consolas"/>
              </a:rPr>
              <a:t>#include "</a:t>
            </a:r>
            <a:r>
              <a:rPr lang="en-CA" sz="700" dirty="0" err="1">
                <a:solidFill>
                  <a:srgbClr val="7F7F00"/>
                </a:solidFill>
                <a:latin typeface="Consolas"/>
              </a:rPr>
              <a:t>pamfail.h</a:t>
            </a:r>
            <a:r>
              <a:rPr lang="en-CA" sz="700" dirty="0">
                <a:solidFill>
                  <a:srgbClr val="7F7F00"/>
                </a:solidFill>
                <a:latin typeface="Consolas"/>
              </a:rPr>
              <a:t>"</a:t>
            </a:r>
          </a:p>
          <a:p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 err="1">
                <a:solidFill>
                  <a:srgbClr val="0000EF"/>
                </a:solidFill>
                <a:latin typeface="Consolas"/>
              </a:rPr>
              <a:t>int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auth_pam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EF"/>
                </a:solidFill>
                <a:latin typeface="Consolas"/>
              </a:rPr>
              <a:t>const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char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*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service_name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uid_t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uid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EF"/>
                </a:solidFill>
                <a:latin typeface="Consolas"/>
              </a:rPr>
              <a:t>const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char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*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username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b="1" dirty="0">
                <a:solidFill>
                  <a:srgbClr val="000000"/>
                </a:solidFill>
                <a:latin typeface="Consolas"/>
              </a:rPr>
              <a:t>{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if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uid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!=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7F7F"/>
                </a:solidFill>
                <a:latin typeface="Consolas"/>
              </a:rPr>
              <a:t>0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{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pam_handle_t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*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NULL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 err="1">
                <a:solidFill>
                  <a:srgbClr val="0000EF"/>
                </a:solidFill>
                <a:latin typeface="Consolas"/>
              </a:rPr>
              <a:t>struct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pam_conv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conv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misc_conv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NULL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};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 err="1">
                <a:solidFill>
                  <a:srgbClr val="0000EF"/>
                </a:solidFill>
                <a:latin typeface="Consolas"/>
              </a:rPr>
              <a:t>int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pam_start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service_name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username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&amp;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conv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&amp;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if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pam_fail_check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))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return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FALSE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pam_authenticate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7F7F"/>
                </a:solidFill>
                <a:latin typeface="Consolas"/>
              </a:rPr>
              <a:t>0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if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pam_fail_check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))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return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FALSE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pam_acct_mgmt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7F7F"/>
                </a:solidFill>
                <a:latin typeface="Consolas"/>
              </a:rPr>
              <a:t>0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if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==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PAM_NEW_AUTHTOK_REQD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	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=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	   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pam_chauthtok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PAM_CHANGE_EXPIRED_AUTHTOK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if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pam_fail_check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))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return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FALSE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pam_setcred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7F7F"/>
                </a:solidFill>
                <a:latin typeface="Consolas"/>
              </a:rPr>
              <a:t>0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if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pam_fail_check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retcode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))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return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FALSE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pam_end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700" dirty="0" err="1">
                <a:solidFill>
                  <a:srgbClr val="000000"/>
                </a:solidFill>
                <a:latin typeface="Consolas"/>
              </a:rPr>
              <a:t>pamh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7F7F"/>
                </a:solidFill>
                <a:latin typeface="Consolas"/>
              </a:rPr>
              <a:t>0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);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	</a:t>
            </a:r>
            <a:r>
              <a:rPr lang="en-CA" sz="700" dirty="0">
                <a:solidFill>
                  <a:srgbClr val="007F00"/>
                </a:solidFill>
                <a:latin typeface="Consolas"/>
              </a:rPr>
              <a:t>/* no need to establish a session; this isn't a</a:t>
            </a:r>
          </a:p>
          <a:p>
            <a:r>
              <a:rPr lang="en-CA" sz="700" dirty="0">
                <a:solidFill>
                  <a:srgbClr val="007F00"/>
                </a:solidFill>
                <a:latin typeface="Consolas"/>
              </a:rPr>
              <a:t>		 * session-oriented activity...  */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}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dirty="0">
                <a:solidFill>
                  <a:srgbClr val="A8C5FF"/>
                </a:solidFill>
                <a:latin typeface="Consolas"/>
              </a:rPr>
              <a:t>	</a:t>
            </a:r>
            <a:r>
              <a:rPr lang="en-CA" sz="700" dirty="0">
                <a:solidFill>
                  <a:srgbClr val="0000EF"/>
                </a:solidFill>
                <a:latin typeface="Consolas"/>
              </a:rPr>
              <a:t>return</a:t>
            </a:r>
            <a:r>
              <a:rPr lang="en-CA" sz="7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700" dirty="0">
                <a:solidFill>
                  <a:srgbClr val="000000"/>
                </a:solidFill>
                <a:latin typeface="Consolas"/>
              </a:rPr>
              <a:t>TRUE</a:t>
            </a:r>
            <a:r>
              <a:rPr lang="en-CA" sz="700" b="1" dirty="0">
                <a:solidFill>
                  <a:srgbClr val="000000"/>
                </a:solidFill>
                <a:latin typeface="Consolas"/>
              </a:rPr>
              <a:t>;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r>
              <a:rPr lang="en-CA" sz="700" b="1" dirty="0">
                <a:solidFill>
                  <a:srgbClr val="000000"/>
                </a:solidFill>
                <a:latin typeface="Consolas"/>
              </a:rPr>
              <a:t>}</a:t>
            </a:r>
            <a:endParaRPr lang="en-CA" sz="700" dirty="0">
              <a:solidFill>
                <a:srgbClr val="A8C5FF"/>
              </a:solidFill>
              <a:latin typeface="Consolas"/>
            </a:endParaRPr>
          </a:p>
          <a:p>
            <a:endParaRPr lang="en-CA" sz="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AE8A0F-9EE6-C263-D96B-BBB233D50D1F}"/>
              </a:ext>
            </a:extLst>
          </p:cNvPr>
          <p:cNvSpPr/>
          <p:nvPr/>
        </p:nvSpPr>
        <p:spPr>
          <a:xfrm>
            <a:off x="1104876" y="4214456"/>
            <a:ext cx="38884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 err="1">
                <a:solidFill>
                  <a:srgbClr val="0000EF"/>
                </a:solidFill>
                <a:latin typeface="Consolas"/>
              </a:rPr>
              <a:t>int</a:t>
            </a:r>
            <a:r>
              <a:rPr lang="en-CA" sz="12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1200" dirty="0" err="1">
                <a:solidFill>
                  <a:srgbClr val="000000"/>
                </a:solidFill>
                <a:latin typeface="Consolas"/>
              </a:rPr>
              <a:t>auth_pam</a:t>
            </a:r>
            <a:r>
              <a:rPr lang="en-CA" sz="1200" b="1" dirty="0">
                <a:solidFill>
                  <a:srgbClr val="000000"/>
                </a:solidFill>
                <a:latin typeface="Consolas"/>
              </a:rPr>
              <a:t>(..., </a:t>
            </a:r>
            <a:r>
              <a:rPr lang="en-CA" sz="1200" dirty="0" err="1">
                <a:solidFill>
                  <a:srgbClr val="000000"/>
                </a:solidFill>
                <a:latin typeface="Consolas"/>
              </a:rPr>
              <a:t>uid_t</a:t>
            </a:r>
            <a:r>
              <a:rPr lang="en-CA" sz="12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1200" dirty="0" err="1">
                <a:solidFill>
                  <a:srgbClr val="000000"/>
                </a:solidFill>
                <a:latin typeface="Consolas"/>
              </a:rPr>
              <a:t>uid</a:t>
            </a:r>
            <a:r>
              <a:rPr lang="en-CA" sz="12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CA" sz="1200" dirty="0">
                <a:latin typeface="Consolas"/>
              </a:rPr>
              <a:t> ...</a:t>
            </a:r>
            <a:r>
              <a:rPr lang="en-CA" sz="1200" b="1" dirty="0">
                <a:latin typeface="Consolas"/>
              </a:rPr>
              <a:t>){</a:t>
            </a:r>
            <a:endParaRPr lang="en-CA" sz="1200" dirty="0">
              <a:solidFill>
                <a:srgbClr val="0000EF"/>
              </a:solidFill>
              <a:latin typeface="Consolas"/>
            </a:endParaRPr>
          </a:p>
          <a:p>
            <a:r>
              <a:rPr lang="en-CA" sz="1200" dirty="0">
                <a:solidFill>
                  <a:srgbClr val="0000EF"/>
                </a:solidFill>
                <a:latin typeface="Consolas"/>
              </a:rPr>
              <a:t>    if</a:t>
            </a:r>
            <a:r>
              <a:rPr lang="en-CA" sz="12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12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CA" sz="1200" dirty="0" err="1">
                <a:solidFill>
                  <a:srgbClr val="000000"/>
                </a:solidFill>
                <a:latin typeface="Consolas"/>
              </a:rPr>
              <a:t>uid</a:t>
            </a:r>
            <a:r>
              <a:rPr lang="en-CA" sz="12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1200" b="1" dirty="0">
                <a:solidFill>
                  <a:srgbClr val="000000"/>
                </a:solidFill>
                <a:latin typeface="Consolas"/>
              </a:rPr>
              <a:t>!=</a:t>
            </a:r>
            <a:r>
              <a:rPr lang="en-CA" sz="12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1200" dirty="0">
                <a:solidFill>
                  <a:srgbClr val="007F7F"/>
                </a:solidFill>
                <a:latin typeface="Consolas"/>
              </a:rPr>
              <a:t>0</a:t>
            </a:r>
            <a:r>
              <a:rPr lang="en-CA" sz="12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CA" sz="12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1200" b="1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CA" sz="1200" dirty="0">
                <a:solidFill>
                  <a:srgbClr val="A8C5FF"/>
                </a:solidFill>
                <a:latin typeface="Consolas"/>
              </a:rPr>
              <a:t>	</a:t>
            </a:r>
          </a:p>
          <a:p>
            <a:r>
              <a:rPr lang="en-CA" sz="1200" dirty="0">
                <a:solidFill>
                  <a:schemeClr val="accent2">
                    <a:lumMod val="75000"/>
                  </a:schemeClr>
                </a:solidFill>
                <a:latin typeface="Consolas"/>
              </a:rPr>
              <a:t>        ...</a:t>
            </a:r>
          </a:p>
          <a:p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Consolas"/>
              </a:rPr>
              <a:t>        bunch of checks using</a:t>
            </a:r>
          </a:p>
          <a:p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Consolas"/>
              </a:rPr>
              <a:t>        different modules,</a:t>
            </a:r>
          </a:p>
          <a:p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Consolas"/>
              </a:rPr>
              <a:t>        return FALSE if failed</a:t>
            </a:r>
          </a:p>
          <a:p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Consolas"/>
              </a:rPr>
              <a:t>        ...</a:t>
            </a:r>
          </a:p>
          <a:p>
            <a:r>
              <a:rPr lang="en-CA" sz="1200" b="1" dirty="0">
                <a:solidFill>
                  <a:srgbClr val="A8C5FF"/>
                </a:solidFill>
                <a:latin typeface="Consolas"/>
              </a:rPr>
              <a:t>    </a:t>
            </a:r>
            <a:r>
              <a:rPr lang="en-CA" sz="1200" b="1" dirty="0">
                <a:solidFill>
                  <a:srgbClr val="000000"/>
                </a:solidFill>
                <a:latin typeface="Consolas"/>
              </a:rPr>
              <a:t>}</a:t>
            </a:r>
            <a:endParaRPr lang="en-CA" sz="1200" dirty="0">
              <a:solidFill>
                <a:srgbClr val="A8C5FF"/>
              </a:solidFill>
              <a:latin typeface="Consolas"/>
            </a:endParaRPr>
          </a:p>
          <a:p>
            <a:r>
              <a:rPr lang="en-CA" sz="1200" dirty="0">
                <a:solidFill>
                  <a:srgbClr val="A8C5FF"/>
                </a:solidFill>
                <a:latin typeface="Consolas"/>
              </a:rPr>
              <a:t>    </a:t>
            </a:r>
            <a:r>
              <a:rPr lang="en-CA" sz="1200" dirty="0">
                <a:solidFill>
                  <a:srgbClr val="0000EF"/>
                </a:solidFill>
                <a:latin typeface="Consolas"/>
              </a:rPr>
              <a:t>return</a:t>
            </a:r>
            <a:r>
              <a:rPr lang="en-CA" sz="1200" dirty="0">
                <a:solidFill>
                  <a:srgbClr val="A8C5FF"/>
                </a:solidFill>
                <a:latin typeface="Consolas"/>
              </a:rPr>
              <a:t> </a:t>
            </a:r>
            <a:r>
              <a:rPr lang="en-CA" sz="1200" dirty="0">
                <a:solidFill>
                  <a:srgbClr val="000000"/>
                </a:solidFill>
                <a:latin typeface="Consolas"/>
              </a:rPr>
              <a:t>TRUE</a:t>
            </a:r>
            <a:r>
              <a:rPr lang="en-CA" sz="1200" b="1" dirty="0">
                <a:solidFill>
                  <a:srgbClr val="000000"/>
                </a:solidFill>
                <a:latin typeface="Consolas"/>
              </a:rPr>
              <a:t>;</a:t>
            </a:r>
            <a:endParaRPr lang="en-CA" sz="1200" dirty="0">
              <a:solidFill>
                <a:srgbClr val="A8C5FF"/>
              </a:solidFill>
              <a:latin typeface="Consolas"/>
            </a:endParaRPr>
          </a:p>
          <a:p>
            <a:r>
              <a:rPr lang="en-CA" sz="1200" b="1" dirty="0">
                <a:solidFill>
                  <a:srgbClr val="000000"/>
                </a:solidFill>
                <a:latin typeface="Consolas"/>
              </a:rPr>
              <a:t>}</a:t>
            </a:r>
            <a:endParaRPr lang="en-CA" sz="1200" dirty="0">
              <a:solidFill>
                <a:srgbClr val="A8C5FF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57433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1A9D-2C5C-90DF-601B-95838454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Glitch Attacks – Crypto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1435D-65E0-6080-F4AF-63B23E70C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" y="1690688"/>
            <a:ext cx="5014014" cy="4968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B8AE49-8F03-BFF7-B22C-AF0466388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450" y="1627188"/>
            <a:ext cx="5014014" cy="496849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C128FF25-2941-6F08-51E9-B829FC787F33}"/>
              </a:ext>
            </a:extLst>
          </p:cNvPr>
          <p:cNvSpPr/>
          <p:nvPr/>
        </p:nvSpPr>
        <p:spPr>
          <a:xfrm>
            <a:off x="4616450" y="3702050"/>
            <a:ext cx="2012950" cy="1670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Glitch on ‘round’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7F1552-F339-5401-A5DF-8828D1DED39A}"/>
              </a:ext>
            </a:extLst>
          </p:cNvPr>
          <p:cNvCxnSpPr/>
          <p:nvPr/>
        </p:nvCxnSpPr>
        <p:spPr>
          <a:xfrm>
            <a:off x="7169150" y="3835400"/>
            <a:ext cx="3778250" cy="120015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8B0934-4EF9-A2BA-0977-D9053B3E342C}"/>
              </a:ext>
            </a:extLst>
          </p:cNvPr>
          <p:cNvCxnSpPr>
            <a:cxnSpLocks/>
          </p:cNvCxnSpPr>
          <p:nvPr/>
        </p:nvCxnSpPr>
        <p:spPr>
          <a:xfrm flipV="1">
            <a:off x="7169150" y="3835400"/>
            <a:ext cx="3511550" cy="120015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10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0AB2-EC30-82E9-76C7-9D1D4D9E1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Glitch Attacks – Crypto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392597-2355-49B1-5F62-637894C77353}"/>
              </a:ext>
            </a:extLst>
          </p:cNvPr>
          <p:cNvSpPr txBox="1">
            <a:spLocks/>
          </p:cNvSpPr>
          <p:nvPr/>
        </p:nvSpPr>
        <p:spPr>
          <a:xfrm>
            <a:off x="1482777" y="14808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Chinese Remainder Theorem (CRT) version of RSA, RSA-CRT causes a </a:t>
            </a:r>
            <a:r>
              <a:rPr lang="en-US" b="1" u="sng" dirty="0"/>
              <a:t>substantial</a:t>
            </a:r>
            <a:r>
              <a:rPr lang="en-US" dirty="0"/>
              <a:t> speed-up.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s = m</a:t>
            </a:r>
            <a:r>
              <a:rPr lang="en-US" altLang="en-US" baseline="30000" dirty="0">
                <a:cs typeface="Times New Roman" panose="02020603050405020304" pitchFamily="18" charset="0"/>
              </a:rPr>
              <a:t>d</a:t>
            </a:r>
            <a:r>
              <a:rPr lang="en-US" altLang="en-US" dirty="0">
                <a:cs typeface="Times New Roman" panose="02020603050405020304" pitchFamily="18" charset="0"/>
              </a:rPr>
              <a:t> mod (N)  </a:t>
            </a:r>
            <a:r>
              <a:rPr lang="en-US" alt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 Remember that N=</a:t>
            </a:r>
            <a:r>
              <a:rPr lang="en-US" altLang="en-US" dirty="0" err="1">
                <a:cs typeface="Times New Roman" panose="02020603050405020304" pitchFamily="18" charset="0"/>
                <a:sym typeface="Wingdings" panose="05000000000000000000" pitchFamily="2" charset="2"/>
              </a:rPr>
              <a:t>pq</a:t>
            </a:r>
            <a:r>
              <a:rPr lang="en-US" alt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, thus: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s = m</a:t>
            </a:r>
            <a:r>
              <a:rPr lang="en-US" altLang="en-US" baseline="30000" dirty="0">
                <a:cs typeface="Times New Roman" panose="02020603050405020304" pitchFamily="18" charset="0"/>
              </a:rPr>
              <a:t>d</a:t>
            </a:r>
            <a:r>
              <a:rPr lang="en-US" altLang="en-US" dirty="0">
                <a:cs typeface="Times New Roman" panose="02020603050405020304" pitchFamily="18" charset="0"/>
              </a:rPr>
              <a:t> mod (</a:t>
            </a:r>
            <a:r>
              <a:rPr lang="en-US" altLang="en-US" dirty="0" err="1">
                <a:cs typeface="Times New Roman" panose="02020603050405020304" pitchFamily="18" charset="0"/>
              </a:rPr>
              <a:t>pq</a:t>
            </a:r>
            <a:r>
              <a:rPr lang="en-US" altLang="en-US" dirty="0"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D496F-FFE6-783F-68A4-8611ED320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50" y="3820016"/>
            <a:ext cx="6279424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9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1419-A05F-C0DF-7BF1-C098C85AA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Glitch Attacks – Crypto 2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CDC5A-41C5-B080-66DA-9805A656E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i="1" dirty="0"/>
              <a:t>(NOTE: I’m not going to be asking you to work that out on the exam – included only as a reference).</a:t>
            </a:r>
          </a:p>
          <a:p>
            <a:r>
              <a:rPr lang="en-CA" dirty="0"/>
              <a:t>There is a problem with RSA-CRT: if </a:t>
            </a:r>
            <a:r>
              <a:rPr lang="en-CA" i="1" dirty="0"/>
              <a:t>one</a:t>
            </a:r>
            <a:r>
              <a:rPr lang="en-CA" dirty="0"/>
              <a:t> of the calculations is done incorrectly, the returned signature has a </a:t>
            </a:r>
            <a:r>
              <a:rPr lang="en-CA" i="1" dirty="0"/>
              <a:t>different</a:t>
            </a:r>
            <a:r>
              <a:rPr lang="en-CA" dirty="0"/>
              <a:t> factor than just </a:t>
            </a:r>
            <a:r>
              <a:rPr lang="en-CA" dirty="0" err="1"/>
              <a:t>p&amp;q</a:t>
            </a:r>
            <a:r>
              <a:rPr lang="en-CA" dirty="0"/>
              <a:t>.</a:t>
            </a:r>
          </a:p>
          <a:p>
            <a:r>
              <a:rPr lang="en-CA" dirty="0"/>
              <a:t>An attacker can use two signatures – one faulty (that has </a:t>
            </a:r>
            <a:r>
              <a:rPr lang="en-CA" b="1" i="1" dirty="0"/>
              <a:t>p</a:t>
            </a:r>
            <a:r>
              <a:rPr lang="en-CA" dirty="0"/>
              <a:t> &amp; “</a:t>
            </a:r>
            <a:r>
              <a:rPr lang="en-CA" b="1" i="1" dirty="0"/>
              <a:t>something else</a:t>
            </a:r>
            <a:r>
              <a:rPr lang="en-CA" dirty="0"/>
              <a:t>”) and one not faulty (that only has </a:t>
            </a:r>
            <a:r>
              <a:rPr lang="en-CA" b="1" i="1" dirty="0" err="1"/>
              <a:t>p</a:t>
            </a:r>
            <a:r>
              <a:rPr lang="en-CA" dirty="0" err="1"/>
              <a:t>&amp;</a:t>
            </a:r>
            <a:r>
              <a:rPr lang="en-CA" b="1" i="1" dirty="0" err="1"/>
              <a:t>q</a:t>
            </a:r>
            <a:r>
              <a:rPr lang="en-CA" dirty="0"/>
              <a:t>).</a:t>
            </a:r>
          </a:p>
          <a:p>
            <a:pPr lvl="1"/>
            <a:r>
              <a:rPr lang="en-CA" b="1" i="1" dirty="0"/>
              <a:t>p </a:t>
            </a:r>
            <a:r>
              <a:rPr lang="en-CA" dirty="0"/>
              <a:t>is a common factor of both results, thus an attacker can determine p. Once you have p can find q.</a:t>
            </a:r>
          </a:p>
          <a:p>
            <a:pPr lvl="1"/>
            <a:r>
              <a:rPr lang="en-CA" dirty="0"/>
              <a:t>Once you have </a:t>
            </a:r>
            <a:r>
              <a:rPr lang="en-CA" dirty="0" err="1"/>
              <a:t>p&amp;q</a:t>
            </a:r>
            <a:r>
              <a:rPr lang="en-CA" dirty="0"/>
              <a:t> all is lost.</a:t>
            </a:r>
          </a:p>
        </p:txBody>
      </p:sp>
    </p:spTree>
    <p:extLst>
      <p:ext uri="{BB962C8B-B14F-4D97-AF65-F5344CB8AC3E}">
        <p14:creationId xmlns:p14="http://schemas.microsoft.com/office/powerpoint/2010/main" val="325856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D71E-C115-E5BD-6B48-82BCA9268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Differential Fault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4E9A7-2ED2-C3E2-0F5E-56E64ACD4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These types of attacks are most commonly called </a:t>
            </a:r>
            <a:r>
              <a:rPr lang="en-CA" i="1" dirty="0"/>
              <a:t>Differential Fault Analysis (DFA)</a:t>
            </a:r>
            <a:r>
              <a:rPr lang="en-CA" dirty="0"/>
              <a:t>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DFA attacks use the difference between encryption with &amp; without fault, or sometimes multiple encryptions where a fault is inserted.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They “look” similar to power analysis attacks, in that we observe many encryption operations &amp; eventually recover the key.</a:t>
            </a:r>
          </a:p>
        </p:txBody>
      </p:sp>
    </p:spTree>
    <p:extLst>
      <p:ext uri="{BB962C8B-B14F-4D97-AF65-F5344CB8AC3E}">
        <p14:creationId xmlns:p14="http://schemas.microsoft.com/office/powerpoint/2010/main" val="525304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B433-6FAB-7616-FFB0-7A576A84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Glitch Attacks – Reading Past Buffer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055E4-EB5D-ECE4-1EB9-E20EEAB7F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4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putch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c);</a:t>
            </a:r>
          </a:p>
          <a:p>
            <a:pPr marL="0" indent="0">
              <a:buNone/>
            </a:pP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tx_buffer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[];</a:t>
            </a:r>
          </a:p>
          <a:p>
            <a:pPr marL="0" indent="0">
              <a:buNone/>
            </a:pPr>
            <a:b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CA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putch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tx_buffer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CA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b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CA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B7B80-AE03-0530-31CF-D68D09706BA4}"/>
              </a:ext>
            </a:extLst>
          </p:cNvPr>
          <p:cNvSpPr txBox="1"/>
          <p:nvPr/>
        </p:nvSpPr>
        <p:spPr>
          <a:xfrm>
            <a:off x="838200" y="5788680"/>
            <a:ext cx="94932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/>
              <a:t>Drop this into </a:t>
            </a:r>
            <a:r>
              <a:rPr lang="en-CA" sz="2800" dirty="0">
                <a:hlinkClick r:id="rId2"/>
              </a:rPr>
              <a:t>https://godbolt.org</a:t>
            </a:r>
            <a:r>
              <a:rPr lang="en-CA" sz="2800" dirty="0"/>
              <a:t> , set compiler as ARM </a:t>
            </a:r>
            <a:r>
              <a:rPr lang="en-CA" sz="2800" dirty="0" err="1"/>
              <a:t>gcc</a:t>
            </a:r>
            <a:r>
              <a:rPr lang="en-CA" sz="2800" dirty="0"/>
              <a:t> (none), set options to -O3 and see what the assembly does…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7706C-73A0-DAEB-1D23-CA0CD1E89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0" y="3856588"/>
            <a:ext cx="5467537" cy="179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5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B433-6FAB-7616-FFB0-7A576A84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Glitch Attacks – Reading Past Buffer End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4F71E1-872D-87B3-A105-6B02C2885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158" y="1543739"/>
            <a:ext cx="7470942" cy="4659297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74D89A-9634-CD44-353C-3C8BD8CF04A2}"/>
              </a:ext>
            </a:extLst>
          </p:cNvPr>
          <p:cNvSpPr/>
          <p:nvPr/>
        </p:nvSpPr>
        <p:spPr>
          <a:xfrm>
            <a:off x="1758950" y="4000500"/>
            <a:ext cx="3962400" cy="431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BF0FD3-B949-7383-6D2D-9296B2863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777" y="2004173"/>
            <a:ext cx="1574823" cy="103847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D82743-08E7-577E-5454-ABD1C080736D}"/>
              </a:ext>
            </a:extLst>
          </p:cNvPr>
          <p:cNvCxnSpPr/>
          <p:nvPr/>
        </p:nvCxnSpPr>
        <p:spPr>
          <a:xfrm flipH="1">
            <a:off x="5797550" y="2413000"/>
            <a:ext cx="3962400" cy="1638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AF51B7-1A1D-87CA-89D3-711F790DAC9B}"/>
              </a:ext>
            </a:extLst>
          </p:cNvPr>
          <p:cNvSpPr txBox="1"/>
          <p:nvPr/>
        </p:nvSpPr>
        <p:spPr>
          <a:xfrm>
            <a:off x="8826500" y="3327400"/>
            <a:ext cx="3162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YIKES!! The assembly code has “branch if not equal”. </a:t>
            </a:r>
          </a:p>
          <a:p>
            <a:endParaRPr lang="en-CA" dirty="0"/>
          </a:p>
          <a:p>
            <a:r>
              <a:rPr lang="en-CA" dirty="0"/>
              <a:t>If you skip the compare/jump ONCE, and </a:t>
            </a:r>
            <a:r>
              <a:rPr lang="en-CA" i="1" dirty="0" err="1"/>
              <a:t>i</a:t>
            </a:r>
            <a:r>
              <a:rPr lang="en-CA" dirty="0"/>
              <a:t> becomes 6, the test fails! It will iterate much longer!</a:t>
            </a:r>
          </a:p>
        </p:txBody>
      </p:sp>
    </p:spTree>
    <p:extLst>
      <p:ext uri="{BB962C8B-B14F-4D97-AF65-F5344CB8AC3E}">
        <p14:creationId xmlns:p14="http://schemas.microsoft.com/office/powerpoint/2010/main" val="323914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C550-6346-092F-E3AC-89443567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of Buffer Glitch Attack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84EDEC-2178-5291-E9DD-0A19CE4FD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6997" y="1825625"/>
            <a:ext cx="5878005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420215-8B2C-ECA2-EAED-C446C0E18E70}"/>
              </a:ext>
            </a:extLst>
          </p:cNvPr>
          <p:cNvSpPr txBox="1"/>
          <p:nvPr/>
        </p:nvSpPr>
        <p:spPr>
          <a:xfrm>
            <a:off x="3397250" y="6247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https://www.youtube.com/watch?v=TeCQatNcF20</a:t>
            </a:r>
          </a:p>
        </p:txBody>
      </p:sp>
    </p:spTree>
    <p:extLst>
      <p:ext uri="{BB962C8B-B14F-4D97-AF65-F5344CB8AC3E}">
        <p14:creationId xmlns:p14="http://schemas.microsoft.com/office/powerpoint/2010/main" val="318886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44AB-AEF9-EC3A-6E08-3CE3462C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Fundamental Causes of Glitches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98AADAD-164B-3BE4-0A3E-EEEF5B4B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402" y="1456656"/>
            <a:ext cx="7856213" cy="510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80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08FF3-8183-246B-3200-C6B725BF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Processor Pipeline / FFs &amp; Comb Logic</a:t>
            </a:r>
          </a:p>
        </p:txBody>
      </p:sp>
      <p:pic>
        <p:nvPicPr>
          <p:cNvPr id="4" name="Picture 2" descr="neorv32 cpu">
            <a:extLst>
              <a:ext uri="{FF2B5EF4-FFF2-40B4-BE49-F238E27FC236}">
                <a16:creationId xmlns:a16="http://schemas.microsoft.com/office/drawing/2014/main" id="{BA877154-94AA-F1B8-6505-CA17C1A216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03" y="1520825"/>
            <a:ext cx="10109097" cy="477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205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D55F-014F-E238-971E-CD3D3152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Metastability on Flip Flops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4FE16F-50FD-CCC7-8CF9-721B94E7E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972" y="1690688"/>
            <a:ext cx="4650047" cy="203079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42DA9B9-2A81-4399-69FB-15EF95CE7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496" y="4014668"/>
            <a:ext cx="4984903" cy="264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985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5973-A354-B960-ACBD-D7FA0A44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Metastability Experiments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0B5482-6D23-4801-D6BD-514200D7B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39" y="1816359"/>
            <a:ext cx="4650047" cy="20307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530017-13CF-7C2A-1D50-07541557A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687" y="4238837"/>
            <a:ext cx="6808625" cy="196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22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C3030D-EE87-C8DF-8EE1-A5EFFF8E3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45" y="12700"/>
            <a:ext cx="404015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E40761-86CD-42F5-BBEA-A477B38AD002}"/>
              </a:ext>
            </a:extLst>
          </p:cNvPr>
          <p:cNvSpPr txBox="1"/>
          <p:nvPr/>
        </p:nvSpPr>
        <p:spPr>
          <a:xfrm>
            <a:off x="6356350" y="831850"/>
            <a:ext cx="48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Normal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F9FEF-8D8B-6223-1753-F0103CFB6671}"/>
              </a:ext>
            </a:extLst>
          </p:cNvPr>
          <p:cNvSpPr txBox="1"/>
          <p:nvPr/>
        </p:nvSpPr>
        <p:spPr>
          <a:xfrm>
            <a:off x="6470650" y="2951946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Timing Violated (Metastable)</a:t>
            </a:r>
          </a:p>
          <a:p>
            <a:r>
              <a:rPr lang="en-CA" sz="2800" b="1" dirty="0"/>
              <a:t>with lower VCC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F3FA7-70CF-8D84-B9B5-E9F0EA73A87B}"/>
              </a:ext>
            </a:extLst>
          </p:cNvPr>
          <p:cNvSpPr txBox="1"/>
          <p:nvPr/>
        </p:nvSpPr>
        <p:spPr>
          <a:xfrm>
            <a:off x="6470650" y="5346700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Timing Violated (Metastable)</a:t>
            </a:r>
            <a:br>
              <a:rPr lang="en-CA" sz="2800" b="1" dirty="0"/>
            </a:br>
            <a:r>
              <a:rPr lang="en-CA" sz="2800" b="1" dirty="0"/>
              <a:t>with Normal VCC</a:t>
            </a:r>
          </a:p>
        </p:txBody>
      </p:sp>
    </p:spTree>
    <p:extLst>
      <p:ext uri="{BB962C8B-B14F-4D97-AF65-F5344CB8AC3E}">
        <p14:creationId xmlns:p14="http://schemas.microsoft.com/office/powerpoint/2010/main" val="2933928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9020-C6D6-A460-4DDA-D4790865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Inserting Glitches: Clock Glitching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8CD3375-00D6-3934-D034-C50DEB31B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106" y="1394481"/>
            <a:ext cx="7152745" cy="5004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937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DA1-E003-4C10-9AD7-54F9ED31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Inserting Glitches: Voltage Glitching</a:t>
            </a:r>
          </a:p>
        </p:txBody>
      </p:sp>
      <p:pic>
        <p:nvPicPr>
          <p:cNvPr id="2050" name="Picture 2" descr="Propagation delay as a function of supply voltage Vdd. | Download  Scientific Diagram">
            <a:extLst>
              <a:ext uri="{FF2B5EF4-FFF2-40B4-BE49-F238E27FC236}">
                <a16:creationId xmlns:a16="http://schemas.microsoft.com/office/drawing/2014/main" id="{7D045247-F1C6-A0B1-132F-A67B5C82B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49" y="1762125"/>
            <a:ext cx="5185833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75B6FA-1A14-5512-827E-BA4382B3C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146" y="1762125"/>
            <a:ext cx="4997707" cy="37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77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BA9AA-7501-ECFC-9878-5E75833E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Crowbar Voltage Glitching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09BC9-2EBC-3B2F-C3B8-BEE63E3AD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46699"/>
            <a:ext cx="10515600" cy="830263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https://www.youtube.com/watch?v=dVkCNiM0PL8</a:t>
            </a:r>
          </a:p>
        </p:txBody>
      </p:sp>
      <p:pic>
        <p:nvPicPr>
          <p:cNvPr id="4" name="Picture 2" descr="_images/glitch-vccglitcher.png">
            <a:extLst>
              <a:ext uri="{FF2B5EF4-FFF2-40B4-BE49-F238E27FC236}">
                <a16:creationId xmlns:a16="http://schemas.microsoft.com/office/drawing/2014/main" id="{979C5095-F87F-DFC2-9242-663E00DD4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44" y="1791867"/>
            <a:ext cx="3816424" cy="3402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F2B8D1-274A-DCCE-4C66-287ED6000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399" y="1564029"/>
            <a:ext cx="6369181" cy="363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93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A2DB-EA8E-2CFE-6AC9-EEFFDC51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Inserting Glitches: EMFI Glitching</a:t>
            </a:r>
          </a:p>
        </p:txBody>
      </p:sp>
      <p:pic>
        <p:nvPicPr>
          <p:cNvPr id="4" name="Picture 2" descr="Image result for inductor">
            <a:extLst>
              <a:ext uri="{FF2B5EF4-FFF2-40B4-BE49-F238E27FC236}">
                <a16:creationId xmlns:a16="http://schemas.microsoft.com/office/drawing/2014/main" id="{8A7A7B8B-DB3A-8311-CA4B-B8484A5CFD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012" y="2463006"/>
            <a:ext cx="5133975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941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B459-ADA7-8F5A-0B9A-91B79F93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 Results On-Chip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7774E2-1473-E32C-6057-916C0ED90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441" y="1825625"/>
            <a:ext cx="52791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4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843C-65C7-AAC4-FAE0-D7BA16DFB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Pulse Shape Examples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2A4A31-98E4-558C-0B3E-1C61CEAA5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39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420AF-C1CE-78B4-0132-4639B2E3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Low Cost EMFI Examples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DD8F2B0-8069-0004-C4A5-0B7C0A4F70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1412525"/>
            <a:ext cx="5619750" cy="214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39C0F769-CE6B-0F36-A9DB-67580FCB1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723" y="1412525"/>
            <a:ext cx="5111527" cy="48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C1A4E7-EA61-8ED0-AA83-17A49F406352}"/>
              </a:ext>
            </a:extLst>
          </p:cNvPr>
          <p:cNvSpPr txBox="1"/>
          <p:nvPr/>
        </p:nvSpPr>
        <p:spPr>
          <a:xfrm>
            <a:off x="730250" y="4000500"/>
            <a:ext cx="5619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PicoEMP</a:t>
            </a:r>
            <a:r>
              <a:rPr lang="en-CA" dirty="0"/>
              <a:t> project is an example of a low-cost EMFI tool. Need a way to generate a relatively short waveform, here shown attacking a R-Pi (again).</a:t>
            </a:r>
          </a:p>
        </p:txBody>
      </p:sp>
    </p:spTree>
    <p:extLst>
      <p:ext uri="{BB962C8B-B14F-4D97-AF65-F5344CB8AC3E}">
        <p14:creationId xmlns:p14="http://schemas.microsoft.com/office/powerpoint/2010/main" val="4103675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4D19A-0B7E-C68A-B2C4-D100E8DE7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Countermeasure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7BF50-24AD-4987-6E2F-80EBBA107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Countermeasures are typically either doing one of:</a:t>
            </a:r>
          </a:p>
          <a:p>
            <a:endParaRPr lang="en-CA" dirty="0"/>
          </a:p>
          <a:p>
            <a:pPr lvl="1"/>
            <a:r>
              <a:rPr lang="en-CA" dirty="0"/>
              <a:t>Detecting the attack &amp; taking action.</a:t>
            </a:r>
          </a:p>
          <a:p>
            <a:pPr lvl="1"/>
            <a:r>
              <a:rPr lang="en-CA" dirty="0"/>
              <a:t>Preventing the attack.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19916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39ED-A9F9-6DEC-8FE8-51199ED9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Glitch Detection in Hardware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7A86E-8D91-212C-E60E-5C3AACE27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33900" cy="4351338"/>
          </a:xfrm>
        </p:spPr>
        <p:txBody>
          <a:bodyPr>
            <a:normAutofit/>
          </a:bodyPr>
          <a:lstStyle/>
          <a:p>
            <a:r>
              <a:rPr lang="en-CA" dirty="0"/>
              <a:t>Several different methods of detecting glitches.</a:t>
            </a:r>
          </a:p>
          <a:p>
            <a:r>
              <a:rPr lang="en-CA" dirty="0"/>
              <a:t>Remembering why glitches work, fundamental idea is to setup some “extra sensitive” flip flops (FFs).</a:t>
            </a:r>
          </a:p>
          <a:p>
            <a:r>
              <a:rPr lang="en-CA" dirty="0"/>
              <a:t>FFs may just be setup to run in a ring, so easy to detect a sudden invalid sequence.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9E5D2BF-A6E2-C517-D21F-BEC512DF7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113" y="1908175"/>
            <a:ext cx="6219937" cy="404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51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E09B-2455-05A3-1DC0-DC4F476F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Glitch Detection in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792F7-BBB5-8118-8759-E8093ED2F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/>
          <a:lstStyle/>
          <a:p>
            <a:r>
              <a:rPr lang="en-CA" dirty="0"/>
              <a:t>Attackers often have some chance of hitting the code they want.</a:t>
            </a:r>
          </a:p>
          <a:p>
            <a:r>
              <a:rPr lang="en-CA" dirty="0"/>
              <a:t>Possible to add simple “checks” that look for impossible conditions.</a:t>
            </a:r>
          </a:p>
          <a:p>
            <a:pPr lvl="1"/>
            <a:r>
              <a:rPr lang="en-CA" dirty="0"/>
              <a:t>Be sure compiler doesn’t remove your impossible checks!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D2F29-484F-9B26-4B99-ED1F0011D0C9}"/>
              </a:ext>
            </a:extLst>
          </p:cNvPr>
          <p:cNvSpPr/>
          <p:nvPr/>
        </p:nvSpPr>
        <p:spPr>
          <a:xfrm>
            <a:off x="1472251" y="3719664"/>
            <a:ext cx="87416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0000EF"/>
                </a:solidFill>
                <a:latin typeface="Consolas" panose="020B0609020204030204" pitchFamily="49" charset="0"/>
              </a:rPr>
              <a:t>volatile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uint32_t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_</a:t>
            </a:r>
            <a:r>
              <a:rPr lang="en-CA" dirty="0" err="1">
                <a:solidFill>
                  <a:srgbClr val="000000"/>
                </a:solidFill>
                <a:latin typeface="Consolas" panose="020B0609020204030204" pitchFamily="49" charset="0"/>
              </a:rPr>
              <a:t>checkvar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dirty="0">
                <a:solidFill>
                  <a:srgbClr val="007F7F"/>
                </a:solidFill>
                <a:latin typeface="Consolas" panose="020B0609020204030204" pitchFamily="49" charset="0"/>
              </a:rPr>
              <a:t>0xDEADBEEF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7F7F00"/>
                </a:solidFill>
                <a:latin typeface="Consolas" panose="020B0609020204030204" pitchFamily="49" charset="0"/>
              </a:rPr>
              <a:t>#define </a:t>
            </a:r>
            <a:r>
              <a:rPr lang="en-CA" dirty="0" err="1">
                <a:solidFill>
                  <a:srgbClr val="7F7F00"/>
                </a:solidFill>
                <a:latin typeface="Consolas" panose="020B0609020204030204" pitchFamily="49" charset="0"/>
              </a:rPr>
              <a:t>checkval</a:t>
            </a:r>
            <a:r>
              <a:rPr lang="en-CA" dirty="0">
                <a:solidFill>
                  <a:srgbClr val="7F7F00"/>
                </a:solidFill>
                <a:latin typeface="Consolas" panose="020B0609020204030204" pitchFamily="49" charset="0"/>
              </a:rPr>
              <a:t>()    if (_</a:t>
            </a:r>
            <a:r>
              <a:rPr lang="en-CA" dirty="0" err="1">
                <a:solidFill>
                  <a:srgbClr val="7F7F00"/>
                </a:solidFill>
                <a:latin typeface="Consolas" panose="020B0609020204030204" pitchFamily="49" charset="0"/>
              </a:rPr>
              <a:t>checkvar</a:t>
            </a:r>
            <a:r>
              <a:rPr lang="en-CA" dirty="0">
                <a:solidFill>
                  <a:srgbClr val="7F7F00"/>
                </a:solidFill>
                <a:latin typeface="Consolas" panose="020B0609020204030204" pitchFamily="49" charset="0"/>
              </a:rPr>
              <a:t> != 0xDEADBEEF) {</a:t>
            </a:r>
            <a:r>
              <a:rPr lang="en-CA" dirty="0" err="1">
                <a:solidFill>
                  <a:srgbClr val="7F7F00"/>
                </a:solidFill>
                <a:latin typeface="Consolas" panose="020B0609020204030204" pitchFamily="49" charset="0"/>
              </a:rPr>
              <a:t>goto</a:t>
            </a:r>
            <a:r>
              <a:rPr lang="en-CA" dirty="0">
                <a:solidFill>
                  <a:srgbClr val="7F7F00"/>
                </a:solidFill>
                <a:latin typeface="Consolas" panose="020B0609020204030204" pitchFamily="49" charset="0"/>
              </a:rPr>
              <a:t> fail;}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9065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DAC1-7781-B80A-84F4-AC1DDC61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General: Memory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60311-8775-A644-ED70-F6588D848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501775"/>
            <a:ext cx="10515600" cy="4351338"/>
          </a:xfrm>
        </p:spPr>
        <p:txBody>
          <a:bodyPr/>
          <a:lstStyle/>
          <a:p>
            <a:r>
              <a:rPr lang="en-CA" dirty="0"/>
              <a:t>Many glitch attacks mean an attacker is reading memory they shouldn’t have access to.</a:t>
            </a:r>
          </a:p>
          <a:p>
            <a:r>
              <a:rPr lang="en-CA" dirty="0"/>
              <a:t>Enabling the “Memory Protection Unit” is possible on even most small microcontrollers.</a:t>
            </a:r>
          </a:p>
          <a:p>
            <a:pPr lvl="1"/>
            <a:r>
              <a:rPr lang="en-CA" dirty="0"/>
              <a:t>E.g., Cortex-M4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CD849-52A0-F403-7BC9-49D3A50A8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697" y="4237439"/>
            <a:ext cx="4618694" cy="2493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512219-80BA-D5B9-CE15-296F0E9D7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316" y="3339575"/>
            <a:ext cx="2741278" cy="101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6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53E5-81B9-5528-6D3A-737BDC1A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General: Control Flow Integrity (CFI)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0611-77B5-3EF0-8675-CE25DDD1E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Control Flow Integrity (CFI) is methods of ensuring code is not taking “unauthorized” paths.</a:t>
            </a:r>
          </a:p>
          <a:p>
            <a:r>
              <a:rPr lang="en-CA" dirty="0"/>
              <a:t>Can be enforced at hardware or software.</a:t>
            </a:r>
          </a:p>
          <a:p>
            <a:pPr lvl="1"/>
            <a:r>
              <a:rPr lang="en-CA" dirty="0"/>
              <a:t>For example – keeping a hash of allowed program flows, or allowed return addresses.</a:t>
            </a:r>
          </a:p>
          <a:p>
            <a:r>
              <a:rPr lang="en-CA" dirty="0"/>
              <a:t>CFI normally concentrates on projection against attacks beyond glitches, but may also provide some glitch protection</a:t>
            </a:r>
          </a:p>
        </p:txBody>
      </p:sp>
    </p:spTree>
    <p:extLst>
      <p:ext uri="{BB962C8B-B14F-4D97-AF65-F5344CB8AC3E}">
        <p14:creationId xmlns:p14="http://schemas.microsoft.com/office/powerpoint/2010/main" val="1736522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AB68-FE43-ECC3-5939-34528464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 Countermeasure: Multiple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E9DB3-34A6-FB4E-1FD2-B3C40899D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Critical code paths can be checked multiple times.</a:t>
            </a:r>
          </a:p>
          <a:p>
            <a:r>
              <a:rPr lang="en-CA" dirty="0"/>
              <a:t>Best to maintain some </a:t>
            </a:r>
            <a:r>
              <a:rPr lang="en-CA" b="1" dirty="0"/>
              <a:t>state variable, </a:t>
            </a:r>
            <a:r>
              <a:rPr lang="en-CA" dirty="0"/>
              <a:t>this state can be checked by running code to ensure someone has not just e.g., called an </a:t>
            </a:r>
            <a:r>
              <a:rPr lang="en-CA" b="1" dirty="0"/>
              <a:t>unlock() </a:t>
            </a:r>
            <a:r>
              <a:rPr lang="en-CA" dirty="0"/>
              <a:t>function directly without the system being in the “</a:t>
            </a:r>
            <a:r>
              <a:rPr lang="en-CA" b="1" dirty="0"/>
              <a:t>unlocked</a:t>
            </a:r>
            <a:r>
              <a:rPr lang="en-CA" dirty="0"/>
              <a:t>” state.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24637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38ACC-FAC9-E20A-3BB3-72CB0D6D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Calculating State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BCC75-1C46-0813-1056-944A31F0B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dirty="0"/>
              <a:t>Setting the state variable will be a sensitive point</a:t>
            </a:r>
          </a:p>
          <a:p>
            <a:r>
              <a:rPr lang="en-CA" dirty="0"/>
              <a:t>Better if the state variable is set via a </a:t>
            </a:r>
            <a:r>
              <a:rPr lang="en-CA" b="1" dirty="0"/>
              <a:t>calculation</a:t>
            </a:r>
            <a:endParaRPr lang="en-CA" dirty="0"/>
          </a:p>
          <a:p>
            <a:endParaRPr lang="en-CA" dirty="0"/>
          </a:p>
          <a:p>
            <a:r>
              <a:rPr lang="en-CA" dirty="0"/>
              <a:t>Example of bad password check: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unlocked = 0;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(password, “hunter2”))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unlocked = 0xff;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Example of better password check: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unlocked = (password[0] ^ 'h' ^ 0xff) &amp; (password[1] ^ 'u' ^ 0xff) &amp; ... &amp; (password[6] ^ '2' ^ 0xff)</a:t>
            </a:r>
          </a:p>
        </p:txBody>
      </p:sp>
    </p:spTree>
    <p:extLst>
      <p:ext uri="{BB962C8B-B14F-4D97-AF65-F5344CB8AC3E}">
        <p14:creationId xmlns:p14="http://schemas.microsoft.com/office/powerpoint/2010/main" val="3149047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9982-1A9D-CF4A-245E-1D2EAD0D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Complex State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BF5CF-E300-A923-C5A6-49FD3C18D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1393825"/>
            <a:ext cx="11176000" cy="4351338"/>
          </a:xfrm>
        </p:spPr>
        <p:txBody>
          <a:bodyPr/>
          <a:lstStyle/>
          <a:p>
            <a:r>
              <a:rPr lang="en-CA" dirty="0"/>
              <a:t>In previous examples – state variables were still fairly simple (0 or 0xff). Using complex values &amp; covering all states is even better: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C4A4D3-CBEC-E43A-24CE-81ADEF7DED76}"/>
              </a:ext>
            </a:extLst>
          </p:cNvPr>
          <p:cNvSpPr/>
          <p:nvPr/>
        </p:nvSpPr>
        <p:spPr>
          <a:xfrm>
            <a:off x="1115095" y="2828793"/>
            <a:ext cx="33255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dirty="0">
                <a:solidFill>
                  <a:srgbClr val="0000EF"/>
                </a:solidFill>
                <a:latin typeface="Consolas" panose="020B0609020204030204" pitchFamily="49" charset="0"/>
              </a:rPr>
              <a:t>unsigned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00EF"/>
                </a:solidFill>
                <a:latin typeface="Consolas" panose="020B0609020204030204" pitchFamily="49" charset="0"/>
              </a:rPr>
              <a:t>int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sig_ok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7F7F"/>
                </a:solidFill>
                <a:latin typeface="Consolas" panose="020B0609020204030204" pitchFamily="49" charset="0"/>
              </a:rPr>
              <a:t>0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a-DK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 err="1">
                <a:solidFill>
                  <a:srgbClr val="000000"/>
                </a:solidFill>
                <a:latin typeface="Consolas" panose="020B0609020204030204" pitchFamily="49" charset="0"/>
              </a:rPr>
              <a:t>sig_ok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dirty="0" err="1">
                <a:solidFill>
                  <a:srgbClr val="000000"/>
                </a:solidFill>
                <a:latin typeface="Consolas" panose="020B0609020204030204" pitchFamily="49" charset="0"/>
              </a:rPr>
              <a:t>thetest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0000EF"/>
                </a:solidFill>
                <a:latin typeface="Consolas" panose="020B0609020204030204" pitchFamily="49" charset="0"/>
              </a:rPr>
              <a:t>if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000000"/>
                </a:solidFill>
                <a:latin typeface="Consolas" panose="020B0609020204030204" pitchFamily="49" charset="0"/>
              </a:rPr>
              <a:t>sig_ok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007F00"/>
                </a:solidFill>
                <a:latin typeface="Consolas" panose="020B0609020204030204" pitchFamily="49" charset="0"/>
              </a:rPr>
              <a:t>//do the thing</a:t>
            </a:r>
          </a:p>
          <a:p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0000EF"/>
                </a:solidFill>
                <a:latin typeface="Consolas" panose="020B0609020204030204" pitchFamily="49" charset="0"/>
              </a:rPr>
              <a:t>else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007F00"/>
                </a:solidFill>
                <a:latin typeface="Consolas" panose="020B0609020204030204" pitchFamily="49" charset="0"/>
              </a:rPr>
              <a:t>//bad</a:t>
            </a:r>
          </a:p>
          <a:p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3EC01-2212-F73B-296B-0DB4FF9F90AA}"/>
              </a:ext>
            </a:extLst>
          </p:cNvPr>
          <p:cNvSpPr/>
          <p:nvPr/>
        </p:nvSpPr>
        <p:spPr>
          <a:xfrm>
            <a:off x="6221893" y="2432927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>
                <a:solidFill>
                  <a:srgbClr val="7F7F00"/>
                </a:solidFill>
                <a:latin typeface="Consolas" panose="020B0609020204030204" pitchFamily="49" charset="0"/>
              </a:rPr>
              <a:t>#define SIG_OK   0xDEADBEEF</a:t>
            </a:r>
          </a:p>
          <a:p>
            <a:r>
              <a:rPr lang="en-CA" dirty="0">
                <a:solidFill>
                  <a:srgbClr val="7F7F00"/>
                </a:solidFill>
                <a:latin typeface="Consolas" panose="020B0609020204030204" pitchFamily="49" charset="0"/>
              </a:rPr>
              <a:t>#define SIG_BAD  0xCAFEFACE</a:t>
            </a:r>
          </a:p>
          <a:p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da-DK" dirty="0">
                <a:solidFill>
                  <a:srgbClr val="0000EF"/>
                </a:solidFill>
                <a:latin typeface="Consolas" panose="020B0609020204030204" pitchFamily="49" charset="0"/>
              </a:rPr>
              <a:t>unsigned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00EF"/>
                </a:solidFill>
                <a:latin typeface="Consolas" panose="020B0609020204030204" pitchFamily="49" charset="0"/>
              </a:rPr>
              <a:t>int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sig_ok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7F7F"/>
                </a:solidFill>
                <a:latin typeface="Consolas" panose="020B0609020204030204" pitchFamily="49" charset="0"/>
              </a:rPr>
              <a:t>0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da-DK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 err="1">
                <a:solidFill>
                  <a:srgbClr val="000000"/>
                </a:solidFill>
                <a:latin typeface="Consolas" panose="020B0609020204030204" pitchFamily="49" charset="0"/>
              </a:rPr>
              <a:t>sig_ok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dirty="0" err="1">
                <a:solidFill>
                  <a:srgbClr val="000000"/>
                </a:solidFill>
                <a:latin typeface="Consolas" panose="020B0609020204030204" pitchFamily="49" charset="0"/>
              </a:rPr>
              <a:t>thetest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da-DK" dirty="0">
                <a:solidFill>
                  <a:srgbClr val="0000EF"/>
                </a:solidFill>
                <a:latin typeface="Consolas" panose="020B0609020204030204" pitchFamily="49" charset="0"/>
              </a:rPr>
              <a:t>if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sig_ok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SIG_OK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da-DK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 </a:t>
            </a:r>
            <a:r>
              <a:rPr lang="en-CA" dirty="0">
                <a:solidFill>
                  <a:srgbClr val="007F00"/>
                </a:solidFill>
                <a:latin typeface="Consolas" panose="020B0609020204030204" pitchFamily="49" charset="0"/>
              </a:rPr>
              <a:t>//do the thing</a:t>
            </a:r>
          </a:p>
          <a:p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00EF"/>
                </a:solidFill>
                <a:latin typeface="Consolas" panose="020B0609020204030204" pitchFamily="49" charset="0"/>
              </a:rPr>
              <a:t>else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00EF"/>
                </a:solidFill>
                <a:latin typeface="Consolas" panose="020B0609020204030204" pitchFamily="49" charset="0"/>
              </a:rPr>
              <a:t>if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sig_ok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SIG_BAD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da-DK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da-DK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da-DK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 </a:t>
            </a:r>
            <a:r>
              <a:rPr lang="en-CA" dirty="0">
                <a:solidFill>
                  <a:srgbClr val="007F00"/>
                </a:solidFill>
                <a:latin typeface="Consolas" panose="020B0609020204030204" pitchFamily="49" charset="0"/>
              </a:rPr>
              <a:t>//bad</a:t>
            </a:r>
          </a:p>
          <a:p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dirty="0">
                <a:solidFill>
                  <a:srgbClr val="0000EF"/>
                </a:solidFill>
                <a:latin typeface="Consolas" panose="020B0609020204030204" pitchFamily="49" charset="0"/>
              </a:rPr>
              <a:t>else</a:t>
            </a:r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</a:t>
            </a:r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CA" dirty="0">
              <a:solidFill>
                <a:srgbClr val="A8C5FF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A8C5FF"/>
                </a:solidFill>
                <a:latin typeface="Consolas" panose="020B0609020204030204" pitchFamily="49" charset="0"/>
              </a:rPr>
              <a:t>  </a:t>
            </a:r>
            <a:r>
              <a:rPr lang="en-CA" dirty="0">
                <a:solidFill>
                  <a:srgbClr val="007F00"/>
                </a:solidFill>
                <a:latin typeface="Consolas" panose="020B0609020204030204" pitchFamily="49" charset="0"/>
              </a:rPr>
              <a:t>//very bad</a:t>
            </a:r>
          </a:p>
          <a:p>
            <a:r>
              <a:rPr lang="en-C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334C5B-2BD0-33C4-5A4D-D9B931E918EC}"/>
              </a:ext>
            </a:extLst>
          </p:cNvPr>
          <p:cNvSpPr txBox="1"/>
          <p:nvPr/>
        </p:nvSpPr>
        <p:spPr>
          <a:xfrm>
            <a:off x="4929989" y="3767512"/>
            <a:ext cx="104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734604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8812-D13A-7A3F-D0BA-25ACA55C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 Countermeasure: Pointer Mangling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288032-DEE7-F847-F342-80C316757DA9}"/>
              </a:ext>
            </a:extLst>
          </p:cNvPr>
          <p:cNvSpPr/>
          <p:nvPr/>
        </p:nvSpPr>
        <p:spPr>
          <a:xfrm>
            <a:off x="1009476" y="1829735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CA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SIG_OK   </a:t>
            </a:r>
            <a:r>
              <a:rPr lang="en-CA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0xDEADBEEF</a:t>
            </a:r>
          </a:p>
          <a:p>
            <a:r>
              <a:rPr lang="en-CA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CA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SIG_BAD  </a:t>
            </a:r>
            <a:r>
              <a:rPr lang="en-CA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0xCAFEFACE</a:t>
            </a:r>
          </a:p>
          <a:p>
            <a:b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CA" b="0" dirty="0" err="1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dataptr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 = RAM_BOOT_LOCATION ^ SIG_OK;</a:t>
            </a:r>
          </a:p>
          <a:p>
            <a:b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result =</a:t>
            </a:r>
            <a: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result =</a:t>
            </a:r>
            <a: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sig_dotest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dataptr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 ^ SIG_OK);</a:t>
            </a:r>
          </a:p>
          <a:p>
            <a:b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 err="1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dataptr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b="0" dirty="0" err="1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dataptr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 ^ result;</a:t>
            </a:r>
          </a:p>
          <a:p>
            <a:b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CA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(result == SIG_OK) {</a:t>
            </a:r>
          </a:p>
          <a:p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    (*</a:t>
            </a:r>
            <a:r>
              <a:rPr lang="en-CA" b="0" dirty="0" err="1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dataptr</a:t>
            </a:r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)();</a:t>
            </a:r>
          </a:p>
          <a:p>
            <a:r>
              <a:rPr lang="en-CA" b="0" dirty="0">
                <a:solidFill>
                  <a:schemeClr val="bg2">
                    <a:lumMod val="1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5399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F102-6C55-9117-1E5F-64397A2E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Fault Injection (Glitch)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5E583-6ADD-3A57-C2C1-6F4E24C25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These are a very powerful class of attacks, as they break many of the fundamental assumptions.</a:t>
            </a:r>
          </a:p>
          <a:p>
            <a:r>
              <a:rPr lang="en-CA" dirty="0"/>
              <a:t>Can be used for leaking cryptographic keys through Differential Fault Analysis (DFA), OR can simply bypass authentication routines.</a:t>
            </a:r>
          </a:p>
          <a:p>
            <a:r>
              <a:rPr lang="en-CA" dirty="0"/>
              <a:t>Glitches come from the introduction of timing errors.</a:t>
            </a:r>
          </a:p>
          <a:p>
            <a:r>
              <a:rPr lang="en-CA" dirty="0"/>
              <a:t>Glitches can be inserted in many ways, here we covered clock, voltage, and electromagnetic fault (EMFI).</a:t>
            </a:r>
          </a:p>
          <a:p>
            <a:r>
              <a:rPr lang="en-CA" dirty="0"/>
              <a:t>Various methods of detecting &amp; countermeasures covered.</a:t>
            </a:r>
          </a:p>
          <a:p>
            <a:pPr lvl="1"/>
            <a:r>
              <a:rPr lang="en-CA" b="1" dirty="0"/>
              <a:t>Most important – turn on Memory Protection Unit!!</a:t>
            </a:r>
          </a:p>
        </p:txBody>
      </p:sp>
    </p:spTree>
    <p:extLst>
      <p:ext uri="{BB962C8B-B14F-4D97-AF65-F5344CB8AC3E}">
        <p14:creationId xmlns:p14="http://schemas.microsoft.com/office/powerpoint/2010/main" val="3889836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1669</Words>
  <Application>Microsoft Office PowerPoint</Application>
  <PresentationFormat>Widescreen</PresentationFormat>
  <Paragraphs>205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Courier New</vt:lpstr>
      <vt:lpstr>Office Theme</vt:lpstr>
      <vt:lpstr>0x600 – Fault Attack Introduction</vt:lpstr>
      <vt:lpstr>What are “Faults”?</vt:lpstr>
      <vt:lpstr>Glitch Attacks – Code Flow Example</vt:lpstr>
      <vt:lpstr>Glitch Attacks – Crypto 1</vt:lpstr>
      <vt:lpstr>Glitch Attacks – Crypto 2</vt:lpstr>
      <vt:lpstr>Glitch Attacks – Crypto 2 (cont’d)</vt:lpstr>
      <vt:lpstr>Differential Fault Analysis</vt:lpstr>
      <vt:lpstr>Glitch Attacks – Reading Past Buffer End</vt:lpstr>
      <vt:lpstr>Glitch Attacks – Reading Past Buffer End</vt:lpstr>
      <vt:lpstr>Example of Buffer Glitch Attack</vt:lpstr>
      <vt:lpstr>Fundamental Causes of Glitches</vt:lpstr>
      <vt:lpstr>E.g., Processor Pipeline / FFs &amp; Comb Logic</vt:lpstr>
      <vt:lpstr>Metastability on Flip Flops</vt:lpstr>
      <vt:lpstr>Metastability Experiments</vt:lpstr>
      <vt:lpstr>PowerPoint Presentation</vt:lpstr>
      <vt:lpstr>Inserting Glitches: Clock Glitching</vt:lpstr>
      <vt:lpstr>Inserting Glitches: Voltage Glitching</vt:lpstr>
      <vt:lpstr>Example: Crowbar Voltage Glitching</vt:lpstr>
      <vt:lpstr>Inserting Glitches: EMFI Glitching</vt:lpstr>
      <vt:lpstr>EM Results On-Chip</vt:lpstr>
      <vt:lpstr>Pulse Shape Examples</vt:lpstr>
      <vt:lpstr>Low Cost EMFI Examples</vt:lpstr>
      <vt:lpstr>Countermeasure Types</vt:lpstr>
      <vt:lpstr>Glitch Detection in Hardware </vt:lpstr>
      <vt:lpstr>Glitch Detection in Software</vt:lpstr>
      <vt:lpstr>General: Memory Integrity</vt:lpstr>
      <vt:lpstr>General: Control Flow Integrity (CFI)</vt:lpstr>
      <vt:lpstr>Ex Countermeasure: Multiple Checks</vt:lpstr>
      <vt:lpstr>Calculating State Variable</vt:lpstr>
      <vt:lpstr>Complex State Variables</vt:lpstr>
      <vt:lpstr>Ex Countermeasure: Pointer Mangling</vt:lpstr>
      <vt:lpstr>Fault Injection (Glitch) Attacks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O'Flynn</dc:creator>
  <cp:lastModifiedBy>Colin O'Flynn</cp:lastModifiedBy>
  <cp:revision>7</cp:revision>
  <dcterms:created xsi:type="dcterms:W3CDTF">2023-11-30T11:12:43Z</dcterms:created>
  <dcterms:modified xsi:type="dcterms:W3CDTF">2023-11-30T13:11:53Z</dcterms:modified>
</cp:coreProperties>
</file>